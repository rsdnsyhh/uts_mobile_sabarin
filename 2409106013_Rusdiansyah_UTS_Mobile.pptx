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74" r:id="rId7"/>
    <p:sldId id="259" r:id="rId8"/>
    <p:sldId id="260" r:id="rId9"/>
    <p:sldId id="261" r:id="rId10"/>
    <p:sldId id="262" r:id="rId11"/>
    <p:sldId id="263" r:id="rId12"/>
    <p:sldId id="264" r:id="rId13"/>
    <p:sldId id="265" r:id="rId14"/>
    <p:sldId id="266" r:id="rId15"/>
    <p:sldId id="267" r:id="rId16"/>
    <p:sldId id="268" r:id="rId17"/>
    <p:sldId id="269" r:id="rId18"/>
    <p:sldId id="273" r:id="rId19"/>
    <p:sldId id="270" r:id="rId20"/>
    <p:sldId id="271" r:id="rId21"/>
    <p:sldId id="272"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381d968-cc02-f5c1-2cb2-6c8b00962bc0}">
          <p14:sldIdLst>
            <p14:sldId id="256"/>
            <p14:sldId id="257"/>
            <p14:sldId id="258"/>
            <p14:sldId id="274"/>
          </p14:sldIdLst>
        </p14:section>
        <p14:section name="Rancangan" id="{6400eb86-a761-49a4-e6b9-5407d4f59dad}">
          <p14:sldIdLst>
            <p14:sldId id="259"/>
            <p14:sldId id="260"/>
          </p14:sldIdLst>
        </p14:section>
        <p14:section name="Implementasi" id="{2483bed1-056b-db7b-51e1-696bd13872ad}">
          <p14:sldIdLst>
            <p14:sldId id="261"/>
            <p14:sldId id="262"/>
            <p14:sldId id="263"/>
            <p14:sldId id="264"/>
            <p14:sldId id="265"/>
            <p14:sldId id="266"/>
            <p14:sldId id="267"/>
            <p14:sldId id="268"/>
            <p14:sldId id="269"/>
            <p14:sldId id="273"/>
            <p14:sldId id="270"/>
          </p14:sldIdLst>
        </p14:section>
        <p14:section name="Penutup" id="{3475f392-564e-db3c-87d5-571f89e24fe6}">
          <p14:sldIdLst>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diri, lalu sebutkan nama aplikasi. Sabarin berasal dari kata "sabar": aplikasi untuk membantu pembeli dan penjual menjalani antrian dengan tenang.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masalah nyata yang dihadapi UMKM, lalu hubungkan dengan fitur utama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memetakan setiap syarat dari soal ke bagian kode yang memenuhinya.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dipisah per tanggung jawab agar tiap berkas pendek dan mudah dicari. Folder core berisi konfigurasi dan tema, cubit berisi state dan logika, widgets berisi komponen yang dipakai bersama, dan halaman berisi satu berkas untuk setiap halaman. Aturan importnya satu arah: core tidak bergantung ke folder lain, cubit hanya ke core, widgets ke keduanya, dan halaman memakai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 dari modul: Functions In, States Out. Widget hanya memanggil method; Cubit yang memancarkan state baru, lalu BlocBuilder menggambar ulang bagian yang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Pohon widget dibaca dari atas ke bawah. Letak BlocProvider di atas MaterialApp membuat state tema dan antrian bisa diakses dari halaman mana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Cubit tidak tahu apa pun tentang tampilan. Pengecekan isClosed dan batas indeks mencegah error saat Cubit sudah ditutup atau indeks tidak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method memeriksa kondisi lebih dulu. Hasilnya dikirim sebagai state baru beserta pesan untuk pengguna, sehingga UI cukup menampilkan.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theme di sini berarti warna aplikasi dapat diganti saat runtime. Cukup satu seed color, Material 3 membuat seluruh palet. Pilihan tema langsung berlaku tanpa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Drawer berisi identitas aplikasi, dua menu halaman, dan pengaturan tema. Pada layar lebar, isi yang sama dipasang permanen sehingga tidak perlu membuka drawer.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pertama berfungsi sebagai ringkasan. Semua angka berubah otomatis ketika ada aksi di halaman Hitung Antrian.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ini adalah inti aplikasi. Penjual cukup menekan tiga tombol. Reset ada di AppBar dan meminta konfirmasi lebih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halaman memakai kerangka yang sama dengan dua halaman utama, sehingga drawer, tema, dan notifikasi otomatis tersedia. Layar Pelanggan sengaja berdiri sendiri tanpa AppBar dan Drawer agar pembeli tidak dapat membuka menu penjual; penjual kembali dengan sekali ketuk tombol panah kembali di pojok kanan atas. Menambah halaman cukup membuat satu berkas di folder halaman, menambah satu baris pada daftarMenu, serta satu import dan satu case pada bangunHalaman di app.dart.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waktu disimpan di AntrianState. Halaman Riwayat dan Statistik hanya membaca state yang sama, sehingga tidak ada logika ganda.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dan latar dibuat murni dari kode sehingga tidak bergantung pada aset gambar dan tidak perlu mengatur folder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Gaya desainnya Soft Neo-Brutalism: outline tinta tebal, hard shadow tanpa blur, warna flat, dan bentuk pill. Warna utama tetap mengikuti pilihan tema dinamis. Semua gaya dipusatkan pada helper tinta(), teksDi(), dekorasiNeo(), dan TombolNeo sehingga mudah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dirancang berlapis: pencegahan lewat validasi, penanganan di Cubit, dan jaring pengaman global bila ada galat yang lolos.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dapat dijalankan di Chrome, emulator Android, atau HP Android sesuai modul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ringkasan tiga poin, lalu buka sesi tanya jawab atau demo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4754880"/>
            <a:ext cx="5486400" cy="228600"/>
          </a:xfrm>
          <a:prstGeom prst="rect">
            <a:avLst/>
          </a:prstGeom>
          <a:noFill/>
        </p:spPr>
        <p:txBody>
          <a:bodyPr wrap="square" lIns="0" tIns="0" rIns="0" bIns="0" rtlCol="0" anchor="ctr"/>
          <a:lstStyle/>
          <a:p>
            <a:pPr marL="0" indent="0">
              <a:buNone/>
            </a:pPr>
            <a:r>
              <a:rPr lang="en-US" sz="1000" dirty="0">
                <a:solidFill>
                  <a:srgbClr val="5E7F7B"/>
                </a:solidFill>
              </a:rPr>
              <a:t>Sabarin  |  UTS Pemrograman Piranti Bergerak</a:t>
            </a:r>
            <a:endParaRPr lang="en-US" sz="10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JUDUL">
    <p:bg>
      <p:bgPr>
        <a:solidFill>
          <a:srgbClr val="0B4F4A"/>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1417320"/>
            <a:ext cx="5120640" cy="1097280"/>
          </a:xfrm>
          <a:prstGeom prst="rect">
            <a:avLst/>
          </a:prstGeom>
          <a:noFill/>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ENUTUP">
    <p:bg>
      <p:bgPr>
        <a:solidFill>
          <a:srgbClr val="0B4F4A"/>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7863840" cy="731520"/>
          </a:xfrm>
          <a:prstGeom prst="rect">
            <a:avLst/>
          </a:prstGeom>
          <a:noFill/>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4.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1417320"/>
            <a:ext cx="5120640" cy="1097280"/>
          </a:xfrm>
          <a:prstGeom prst="rect">
            <a:avLst/>
          </a:prstGeom>
          <a:noFill/>
        </p:spPr>
        <p:txBody>
          <a:bodyPr wrap="square" lIns="0" tIns="0" rIns="0" bIns="0" rtlCol="0" anchor="ctr"/>
          <a:lstStyle/>
          <a:p>
            <a:pPr marL="0" indent="0" algn="l">
              <a:buNone/>
            </a:pPr>
            <a:r>
              <a:rPr lang="en-US" sz="6000" b="1" dirty="0">
                <a:solidFill>
                  <a:schemeClr val="bg1"/>
                </a:solidFill>
              </a:rPr>
              <a:t>Sabarin</a:t>
            </a:r>
            <a:endParaRPr lang="en-US" sz="6000" dirty="0"/>
          </a:p>
        </p:txBody>
      </p:sp>
      <p:sp>
        <p:nvSpPr>
          <p:cNvPr id="3" name="Label mata kuliah"/>
          <p:cNvSpPr txBox="1"/>
          <p:nvPr/>
        </p:nvSpPr>
        <p:spPr>
          <a:xfrm>
            <a:off x="640080" y="914400"/>
            <a:ext cx="5943600" cy="274320"/>
          </a:xfrm>
          <a:prstGeom prst="rect">
            <a:avLst/>
          </a:prstGeom>
          <a:noFill/>
        </p:spPr>
        <p:txBody>
          <a:bodyPr wrap="square" lIns="0" tIns="0" rIns="0" bIns="0" rtlCol="0" anchor="t"/>
          <a:lstStyle/>
          <a:p>
            <a:pPr marL="0" indent="0">
              <a:buNone/>
            </a:pPr>
            <a:r>
              <a:rPr lang="en-US" sz="1200" b="1" kern="0" spc="200" dirty="0">
                <a:solidFill>
                  <a:schemeClr val="accent2"/>
                </a:solidFill>
              </a:rPr>
              <a:t>UJIAN TENGAH SEMESTER  |  PEMROGRAMAN PIRANTI BERGERAK</a:t>
            </a:r>
            <a:endParaRPr lang="en-US" sz="1200" dirty="0"/>
          </a:p>
        </p:txBody>
      </p:sp>
      <p:sp>
        <p:nvSpPr>
          <p:cNvPr id="4" name="Subjudul"/>
          <p:cNvSpPr txBox="1"/>
          <p:nvPr/>
        </p:nvSpPr>
        <p:spPr>
          <a:xfrm>
            <a:off x="640080" y="2606040"/>
            <a:ext cx="5303520" cy="411480"/>
          </a:xfrm>
          <a:prstGeom prst="rect">
            <a:avLst/>
          </a:prstGeom>
          <a:noFill/>
        </p:spPr>
        <p:txBody>
          <a:bodyPr wrap="square" lIns="0" tIns="0" rIns="0" bIns="0" rtlCol="0" anchor="t"/>
          <a:lstStyle/>
          <a:p>
            <a:pPr marL="0" indent="0">
              <a:buNone/>
            </a:pPr>
            <a:r>
              <a:rPr lang="en-US" sz="2200" dirty="0">
                <a:solidFill>
                  <a:schemeClr val="bg1"/>
                </a:solidFill>
              </a:rPr>
              <a:t>Aplikasi Mobile Hitung Antrian Pembeli</a:t>
            </a:r>
            <a:endParaRPr lang="en-US" sz="2200" dirty="0"/>
          </a:p>
        </p:txBody>
      </p:sp>
      <p:sp>
        <p:nvSpPr>
          <p:cNvPr id="5" name="Teknik"/>
          <p:cNvSpPr txBox="1"/>
          <p:nvPr/>
        </p:nvSpPr>
        <p:spPr>
          <a:xfrm>
            <a:off x="640080" y="3108960"/>
            <a:ext cx="5303520" cy="365760"/>
          </a:xfrm>
          <a:prstGeom prst="rect">
            <a:avLst/>
          </a:prstGeom>
          <a:noFill/>
        </p:spPr>
        <p:txBody>
          <a:bodyPr wrap="square" lIns="0" tIns="0" rIns="0" bIns="0" rtlCol="0" anchor="t"/>
          <a:lstStyle/>
          <a:p>
            <a:pPr marL="0" indent="0">
              <a:buNone/>
            </a:pPr>
            <a:r>
              <a:rPr lang="en-US" sz="1400" dirty="0">
                <a:solidFill>
                  <a:schemeClr val="bg2"/>
                </a:solidFill>
              </a:rPr>
              <a:t>Drawer  |  Cubit  |  Mode Gelap  |  Dynamic Theme</a:t>
            </a:r>
            <a:endParaRPr lang="en-US" sz="1400" dirty="0"/>
          </a:p>
        </p:txBody>
      </p:sp>
      <p:sp>
        <p:nvSpPr>
          <p:cNvPr id="6" name="Identitas"/>
          <p:cNvSpPr txBox="1"/>
          <p:nvPr/>
        </p:nvSpPr>
        <p:spPr>
          <a:xfrm>
            <a:off x="640080" y="4023360"/>
            <a:ext cx="5303520" cy="274320"/>
          </a:xfrm>
          <a:prstGeom prst="rect">
            <a:avLst/>
          </a:prstGeom>
          <a:noFill/>
        </p:spPr>
        <p:txBody>
          <a:bodyPr wrap="square" lIns="0" tIns="0" rIns="0" bIns="0" rtlCol="0" anchor="t"/>
          <a:lstStyle/>
          <a:p>
            <a:pPr marL="0" indent="0">
              <a:buNone/>
            </a:pPr>
            <a:r>
              <a:rPr lang="en-US" sz="1400" b="1" dirty="0">
                <a:solidFill>
                  <a:schemeClr val="bg1"/>
                </a:solidFill>
              </a:rPr>
              <a:t>Rusdiansyah  |  2409106013</a:t>
            </a:r>
            <a:endParaRPr lang="en-US" sz="1400" dirty="0"/>
          </a:p>
        </p:txBody>
      </p:sp>
      <p:sp>
        <p:nvSpPr>
          <p:cNvPr id="7" name="Dosen"/>
          <p:cNvSpPr txBox="1"/>
          <p:nvPr/>
        </p:nvSpPr>
        <p:spPr>
          <a:xfrm>
            <a:off x="640080" y="4315968"/>
            <a:ext cx="5669280" cy="274320"/>
          </a:xfrm>
          <a:prstGeom prst="rect">
            <a:avLst/>
          </a:prstGeom>
          <a:noFill/>
        </p:spPr>
        <p:txBody>
          <a:bodyPr wrap="square" lIns="0" tIns="0" rIns="0" bIns="0" rtlCol="0" anchor="t"/>
          <a:lstStyle/>
          <a:p>
            <a:pPr marL="0" indent="0">
              <a:buNone/>
            </a:pPr>
            <a:r>
              <a:rPr lang="en-US" sz="1200" dirty="0">
                <a:solidFill>
                  <a:schemeClr val="bg2"/>
                </a:solidFill>
              </a:rPr>
              <a:t>Dosen pengampu: Ir. Muhammad Fawaz Saputra, S.T., M.Eng.</a:t>
            </a:r>
            <a:endParaRPr lang="en-US" sz="1200" dirty="0"/>
          </a:p>
        </p:txBody>
      </p:sp>
      <p:pic>
        <p:nvPicPr>
          <p:cNvPr id="8" name="Logo Sabarin" descr="Logo Sabarin"/>
          <p:cNvPicPr>
            <a:picLocks noChangeAspect="1"/>
          </p:cNvPicPr>
          <p:nvPr/>
        </p:nvPicPr>
        <p:blipFill>
          <a:blip r:embed="rId1"/>
          <a:stretch>
            <a:fillRect/>
          </a:stretch>
        </p:blipFill>
        <p:spPr>
          <a:xfrm>
            <a:off x="6309360" y="1097280"/>
            <a:ext cx="2194560" cy="2194560"/>
          </a:xfrm>
          <a:prstGeom prst="rect">
            <a:avLst/>
          </a:prstGeom>
        </p:spPr>
      </p:pic>
      <p:sp>
        <p:nvSpPr>
          <p:cNvPr id="9" name="Titik antrian 1"/>
          <p:cNvSpPr/>
          <p:nvPr/>
        </p:nvSpPr>
        <p:spPr>
          <a:xfrm>
            <a:off x="5120640" y="4069080"/>
            <a:ext cx="420624" cy="420624"/>
          </a:xfrm>
          <a:prstGeom prst="ellipse">
            <a:avLst/>
          </a:prstGeom>
          <a:solidFill>
            <a:schemeClr val="accent1">
              <a:alpha val="65000"/>
            </a:schemeClr>
          </a:solidFill>
          <a:ln w="3175">
            <a:solidFill>
              <a:schemeClr val="accent1">
                <a:alpha val="0"/>
              </a:schemeClr>
            </a:solidFill>
            <a:prstDash val="solid"/>
          </a:ln>
        </p:spPr>
      </p:sp>
      <p:sp>
        <p:nvSpPr>
          <p:cNvPr id="10" name="Titik antrian 2"/>
          <p:cNvSpPr/>
          <p:nvPr/>
        </p:nvSpPr>
        <p:spPr>
          <a:xfrm>
            <a:off x="5623560" y="4089654"/>
            <a:ext cx="379476" cy="379476"/>
          </a:xfrm>
          <a:prstGeom prst="ellipse">
            <a:avLst/>
          </a:prstGeom>
          <a:solidFill>
            <a:schemeClr val="accent1">
              <a:alpha val="61000"/>
            </a:schemeClr>
          </a:solidFill>
          <a:ln w="3175">
            <a:solidFill>
              <a:schemeClr val="accent1">
                <a:alpha val="0"/>
              </a:schemeClr>
            </a:solidFill>
            <a:prstDash val="solid"/>
          </a:ln>
        </p:spPr>
      </p:sp>
      <p:sp>
        <p:nvSpPr>
          <p:cNvPr id="11" name="Titik antrian 3"/>
          <p:cNvSpPr/>
          <p:nvPr/>
        </p:nvSpPr>
        <p:spPr>
          <a:xfrm>
            <a:off x="6126480" y="4110228"/>
            <a:ext cx="338328" cy="338328"/>
          </a:xfrm>
          <a:prstGeom prst="ellipse">
            <a:avLst/>
          </a:prstGeom>
          <a:solidFill>
            <a:schemeClr val="accent1">
              <a:alpha val="57000"/>
            </a:schemeClr>
          </a:solidFill>
          <a:ln w="3175">
            <a:solidFill>
              <a:schemeClr val="accent1">
                <a:alpha val="0"/>
              </a:schemeClr>
            </a:solidFill>
            <a:prstDash val="solid"/>
          </a:ln>
        </p:spPr>
      </p:sp>
      <p:sp>
        <p:nvSpPr>
          <p:cNvPr id="12" name="Titik antrian 4"/>
          <p:cNvSpPr/>
          <p:nvPr/>
        </p:nvSpPr>
        <p:spPr>
          <a:xfrm>
            <a:off x="6629400" y="4130802"/>
            <a:ext cx="297180" cy="297180"/>
          </a:xfrm>
          <a:prstGeom prst="ellipse">
            <a:avLst/>
          </a:prstGeom>
          <a:solidFill>
            <a:schemeClr val="accent1">
              <a:alpha val="53000"/>
            </a:schemeClr>
          </a:solidFill>
          <a:ln w="3175">
            <a:solidFill>
              <a:schemeClr val="accent1">
                <a:alpha val="0"/>
              </a:schemeClr>
            </a:solidFill>
            <a:prstDash val="solid"/>
          </a:ln>
        </p:spPr>
      </p:sp>
      <p:sp>
        <p:nvSpPr>
          <p:cNvPr id="13" name="Titik antrian 5"/>
          <p:cNvSpPr/>
          <p:nvPr/>
        </p:nvSpPr>
        <p:spPr>
          <a:xfrm>
            <a:off x="7132320" y="4151376"/>
            <a:ext cx="256032" cy="256032"/>
          </a:xfrm>
          <a:prstGeom prst="ellipse">
            <a:avLst/>
          </a:prstGeom>
          <a:solidFill>
            <a:schemeClr val="accent1">
              <a:alpha val="49000"/>
            </a:schemeClr>
          </a:solidFill>
          <a:ln w="3175">
            <a:solidFill>
              <a:schemeClr val="accent1">
                <a:alpha val="0"/>
              </a:schemeClr>
            </a:solidFill>
            <a:prstDash val="solid"/>
          </a:ln>
        </p:spPr>
      </p:sp>
      <p:sp>
        <p:nvSpPr>
          <p:cNvPr id="14" name="Titik antrian 6"/>
          <p:cNvSpPr/>
          <p:nvPr/>
        </p:nvSpPr>
        <p:spPr>
          <a:xfrm>
            <a:off x="7635240" y="4171950"/>
            <a:ext cx="214884" cy="214884"/>
          </a:xfrm>
          <a:prstGeom prst="ellipse">
            <a:avLst/>
          </a:prstGeom>
          <a:solidFill>
            <a:schemeClr val="accent1">
              <a:alpha val="45000"/>
            </a:schemeClr>
          </a:solidFill>
          <a:ln w="3175">
            <a:solidFill>
              <a:schemeClr val="accent1">
                <a:alpha val="0"/>
              </a:schemeClr>
            </a:solidFill>
            <a:prstDash val="solid"/>
          </a:ln>
        </p:spPr>
      </p:sp>
      <p:sp>
        <p:nvSpPr>
          <p:cNvPr id="15" name="Titik antrian 7"/>
          <p:cNvSpPr/>
          <p:nvPr/>
        </p:nvSpPr>
        <p:spPr>
          <a:xfrm>
            <a:off x="8138160" y="4192524"/>
            <a:ext cx="173736" cy="173736"/>
          </a:xfrm>
          <a:prstGeom prst="ellipse">
            <a:avLst/>
          </a:prstGeom>
          <a:solidFill>
            <a:schemeClr val="accent1">
              <a:alpha val="41000"/>
            </a:schemeClr>
          </a:solidFill>
          <a:ln w="3175">
            <a:solidFill>
              <a:schemeClr val="accent1">
                <a:alpha val="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Latar Belakang Masalah</a:t>
            </a:r>
            <a:endParaRPr lang="en-US" sz="3400" dirty="0"/>
          </a:p>
        </p:txBody>
      </p:sp>
      <p:sp>
        <p:nvSpPr>
          <p:cNvPr id="3" name="Kartu pernyataan"/>
          <p:cNvSpPr/>
          <p:nvPr/>
        </p:nvSpPr>
        <p:spPr>
          <a:xfrm>
            <a:off x="548640" y="1280160"/>
            <a:ext cx="3566160" cy="3246120"/>
          </a:xfrm>
          <a:prstGeom prst="roundRect">
            <a:avLst>
              <a:gd name="adj" fmla="val 3380"/>
            </a:avLst>
          </a:prstGeom>
          <a:solidFill>
            <a:schemeClr val="bg2"/>
          </a:solidFill>
          <a:ln w="9525">
            <a:solidFill>
              <a:schemeClr val="bg2"/>
            </a:solidFill>
            <a:prstDash val="solid"/>
          </a:ln>
        </p:spPr>
      </p:sp>
      <p:sp>
        <p:nvSpPr>
          <p:cNvPr id="4" name="Pernyataan utama"/>
          <p:cNvSpPr txBox="1"/>
          <p:nvPr/>
        </p:nvSpPr>
        <p:spPr>
          <a:xfrm>
            <a:off x="822960" y="1554480"/>
            <a:ext cx="3017520" cy="1097280"/>
          </a:xfrm>
          <a:prstGeom prst="rect">
            <a:avLst/>
          </a:prstGeom>
          <a:noFill/>
        </p:spPr>
        <p:txBody>
          <a:bodyPr wrap="square" lIns="0" tIns="0" rIns="0" bIns="0" rtlCol="0" anchor="t"/>
          <a:lstStyle/>
          <a:p>
            <a:pPr marL="0" indent="0">
              <a:buNone/>
            </a:pPr>
            <a:r>
              <a:rPr lang="en-US" sz="2000" b="1" dirty="0">
                <a:solidFill>
                  <a:schemeClr val="tx2"/>
                </a:solidFill>
                <a:latin typeface="Cambria" panose="02040503050406030204" pitchFamily="34" charset="0"/>
                <a:ea typeface="Cambria" panose="02040503050406030204" pitchFamily="34" charset="-122"/>
                <a:cs typeface="Cambria" panose="02040503050406030204" pitchFamily="34" charset="-120"/>
              </a:rPr>
              <a:t>UMKM sering mencatat antrian secara manual di kertas.</a:t>
            </a:r>
            <a:endParaRPr lang="en-US" sz="2000" dirty="0"/>
          </a:p>
        </p:txBody>
      </p:sp>
      <p:sp>
        <p:nvSpPr>
          <p:cNvPr id="5" name="Penjelasan"/>
          <p:cNvSpPr txBox="1"/>
          <p:nvPr/>
        </p:nvSpPr>
        <p:spPr>
          <a:xfrm>
            <a:off x="822960" y="2743200"/>
            <a:ext cx="3017520" cy="1645920"/>
          </a:xfrm>
          <a:prstGeom prst="rect">
            <a:avLst/>
          </a:prstGeom>
          <a:noFill/>
        </p:spPr>
        <p:txBody>
          <a:bodyPr wrap="square" lIns="0" tIns="0" rIns="0" bIns="0" rtlCol="0" anchor="t"/>
          <a:lstStyle/>
          <a:p>
            <a:pPr marL="0" indent="0">
              <a:buNone/>
            </a:pPr>
            <a:r>
              <a:rPr lang="en-US" sz="1400" dirty="0">
                <a:solidFill>
                  <a:schemeClr val="tx1"/>
                </a:solidFill>
              </a:rPr>
              <a:t>Urutan mudah tertukar, dan pembeli tidak tahu kapan gilirannya tiba. Sabarin hadir sebagai pencatat antrian yang sederhana dan mudah dipakai.</a:t>
            </a:r>
            <a:endParaRPr lang="en-US" sz="1400" dirty="0"/>
          </a:p>
        </p:txBody>
      </p:sp>
      <p:sp>
        <p:nvSpPr>
          <p:cNvPr id="6" name="Ikon antrian (latar)"/>
          <p:cNvSpPr/>
          <p:nvPr/>
        </p:nvSpPr>
        <p:spPr>
          <a:xfrm>
            <a:off x="4480560" y="1325880"/>
            <a:ext cx="530352" cy="530352"/>
          </a:xfrm>
          <a:prstGeom prst="ellipse">
            <a:avLst/>
          </a:prstGeom>
          <a:solidFill>
            <a:schemeClr val="accent1"/>
          </a:solidFill>
          <a:ln w="6350">
            <a:solidFill>
              <a:schemeClr val="accent1"/>
            </a:solidFill>
            <a:prstDash val="solid"/>
          </a:ln>
        </p:spPr>
      </p:sp>
      <p:pic>
        <p:nvPicPr>
          <p:cNvPr id="7" name="Ikon antrian" descr="Ikon antrian"/>
          <p:cNvPicPr>
            <a:picLocks noChangeAspect="1"/>
          </p:cNvPicPr>
          <p:nvPr/>
        </p:nvPicPr>
        <p:blipFill>
          <a:blip r:embed="rId1"/>
          <a:stretch>
            <a:fillRect/>
          </a:stretch>
        </p:blipFill>
        <p:spPr>
          <a:xfrm>
            <a:off x="4613148" y="1458468"/>
            <a:ext cx="265176" cy="265176"/>
          </a:xfrm>
          <a:prstGeom prst="rect">
            <a:avLst/>
          </a:prstGeom>
        </p:spPr>
      </p:pic>
      <p:sp>
        <p:nvSpPr>
          <p:cNvPr id="8" name="Judul Ikon antrian"/>
          <p:cNvSpPr txBox="1"/>
          <p:nvPr/>
        </p:nvSpPr>
        <p:spPr>
          <a:xfrm>
            <a:off x="5193792" y="1280160"/>
            <a:ext cx="3383280" cy="274320"/>
          </a:xfrm>
          <a:prstGeom prst="rect">
            <a:avLst/>
          </a:prstGeom>
          <a:noFill/>
        </p:spPr>
        <p:txBody>
          <a:bodyPr wrap="square" lIns="0" tIns="0" rIns="0" bIns="0" rtlCol="0" anchor="t"/>
          <a:lstStyle/>
          <a:p>
            <a:pPr marL="0" indent="0">
              <a:buNone/>
            </a:pPr>
            <a:r>
              <a:rPr lang="en-US" sz="1600" b="1" dirty="0">
                <a:solidFill>
                  <a:schemeClr val="tx2"/>
                </a:solidFill>
              </a:rPr>
              <a:t>Antrian rawan salah</a:t>
            </a:r>
            <a:endParaRPr lang="en-US" sz="1600" dirty="0"/>
          </a:p>
        </p:txBody>
      </p:sp>
      <p:sp>
        <p:nvSpPr>
          <p:cNvPr id="9" name="Isi Ikon antrian"/>
          <p:cNvSpPr txBox="1"/>
          <p:nvPr/>
        </p:nvSpPr>
        <p:spPr>
          <a:xfrm>
            <a:off x="5193792" y="1572768"/>
            <a:ext cx="3383280" cy="576072"/>
          </a:xfrm>
          <a:prstGeom prst="rect">
            <a:avLst/>
          </a:prstGeom>
          <a:noFill/>
        </p:spPr>
        <p:txBody>
          <a:bodyPr wrap="square" lIns="0" tIns="0" rIns="0" bIns="0" rtlCol="0" anchor="t"/>
          <a:lstStyle/>
          <a:p>
            <a:pPr marL="0" indent="0">
              <a:buNone/>
            </a:pPr>
            <a:r>
              <a:rPr lang="en-US" sz="1400" dirty="0">
                <a:solidFill>
                  <a:schemeClr val="tx1"/>
                </a:solidFill>
              </a:rPr>
              <a:t>Nomor manual bisa terlewat atau ganda.</a:t>
            </a:r>
            <a:endParaRPr lang="en-US" sz="1400" dirty="0"/>
          </a:p>
        </p:txBody>
      </p:sp>
      <p:sp>
        <p:nvSpPr>
          <p:cNvPr id="10" name="Ikon waktu (latar)"/>
          <p:cNvSpPr/>
          <p:nvPr/>
        </p:nvSpPr>
        <p:spPr>
          <a:xfrm>
            <a:off x="4480560" y="2377440"/>
            <a:ext cx="530352" cy="530352"/>
          </a:xfrm>
          <a:prstGeom prst="ellipse">
            <a:avLst/>
          </a:prstGeom>
          <a:solidFill>
            <a:schemeClr val="accent3"/>
          </a:solidFill>
          <a:ln w="6350">
            <a:solidFill>
              <a:schemeClr val="accent3"/>
            </a:solidFill>
            <a:prstDash val="solid"/>
          </a:ln>
        </p:spPr>
      </p:sp>
      <p:pic>
        <p:nvPicPr>
          <p:cNvPr id="11" name="Ikon waktu" descr="Ikon waktu"/>
          <p:cNvPicPr>
            <a:picLocks noChangeAspect="1"/>
          </p:cNvPicPr>
          <p:nvPr/>
        </p:nvPicPr>
        <p:blipFill>
          <a:blip r:embed="rId2"/>
          <a:stretch>
            <a:fillRect/>
          </a:stretch>
        </p:blipFill>
        <p:spPr>
          <a:xfrm>
            <a:off x="4613148" y="2510028"/>
            <a:ext cx="265176" cy="265176"/>
          </a:xfrm>
          <a:prstGeom prst="rect">
            <a:avLst/>
          </a:prstGeom>
        </p:spPr>
      </p:pic>
      <p:sp>
        <p:nvSpPr>
          <p:cNvPr id="12" name="Judul Ikon waktu"/>
          <p:cNvSpPr txBox="1"/>
          <p:nvPr/>
        </p:nvSpPr>
        <p:spPr>
          <a:xfrm>
            <a:off x="5193792" y="2331720"/>
            <a:ext cx="3383280" cy="274320"/>
          </a:xfrm>
          <a:prstGeom prst="rect">
            <a:avLst/>
          </a:prstGeom>
          <a:noFill/>
        </p:spPr>
        <p:txBody>
          <a:bodyPr wrap="square" lIns="0" tIns="0" rIns="0" bIns="0" rtlCol="0" anchor="t"/>
          <a:lstStyle/>
          <a:p>
            <a:pPr marL="0" indent="0">
              <a:buNone/>
            </a:pPr>
            <a:r>
              <a:rPr lang="en-US" sz="1600" b="1" dirty="0">
                <a:solidFill>
                  <a:schemeClr val="tx2"/>
                </a:solidFill>
              </a:rPr>
              <a:t>Pembeli tidak pasti</a:t>
            </a:r>
            <a:endParaRPr lang="en-US" sz="1600" dirty="0"/>
          </a:p>
        </p:txBody>
      </p:sp>
      <p:sp>
        <p:nvSpPr>
          <p:cNvPr id="13" name="Isi Ikon waktu"/>
          <p:cNvSpPr txBox="1"/>
          <p:nvPr/>
        </p:nvSpPr>
        <p:spPr>
          <a:xfrm>
            <a:off x="5193792" y="2624328"/>
            <a:ext cx="3383280" cy="576072"/>
          </a:xfrm>
          <a:prstGeom prst="rect">
            <a:avLst/>
          </a:prstGeom>
          <a:noFill/>
        </p:spPr>
        <p:txBody>
          <a:bodyPr wrap="square" lIns="0" tIns="0" rIns="0" bIns="0" rtlCol="0" anchor="t"/>
          <a:lstStyle/>
          <a:p>
            <a:pPr marL="0" indent="0">
              <a:buNone/>
            </a:pPr>
            <a:r>
              <a:rPr lang="en-US" sz="1400" dirty="0">
                <a:solidFill>
                  <a:schemeClr val="tx1"/>
                </a:solidFill>
              </a:rPr>
              <a:t>Tidak ada gambaran berapa lama harus menunggu.</a:t>
            </a:r>
            <a:endParaRPr lang="en-US" sz="1400" dirty="0"/>
          </a:p>
        </p:txBody>
      </p:sp>
      <p:sp>
        <p:nvSpPr>
          <p:cNvPr id="14" name="Ikon toko (latar)"/>
          <p:cNvSpPr/>
          <p:nvPr/>
        </p:nvSpPr>
        <p:spPr>
          <a:xfrm>
            <a:off x="4480560" y="3429000"/>
            <a:ext cx="530352" cy="530352"/>
          </a:xfrm>
          <a:prstGeom prst="ellipse">
            <a:avLst/>
          </a:prstGeom>
          <a:solidFill>
            <a:schemeClr val="accent6"/>
          </a:solidFill>
          <a:ln w="6350">
            <a:solidFill>
              <a:schemeClr val="accent6"/>
            </a:solidFill>
            <a:prstDash val="solid"/>
          </a:ln>
        </p:spPr>
      </p:sp>
      <p:pic>
        <p:nvPicPr>
          <p:cNvPr id="15" name="Ikon toko" descr="Ikon toko"/>
          <p:cNvPicPr>
            <a:picLocks noChangeAspect="1"/>
          </p:cNvPicPr>
          <p:nvPr/>
        </p:nvPicPr>
        <p:blipFill>
          <a:blip r:embed="rId3"/>
          <a:stretch>
            <a:fillRect/>
          </a:stretch>
        </p:blipFill>
        <p:spPr>
          <a:xfrm>
            <a:off x="4613148" y="3561588"/>
            <a:ext cx="265176" cy="265176"/>
          </a:xfrm>
          <a:prstGeom prst="rect">
            <a:avLst/>
          </a:prstGeom>
        </p:spPr>
      </p:pic>
      <p:sp>
        <p:nvSpPr>
          <p:cNvPr id="16" name="Judul Ikon toko"/>
          <p:cNvSpPr txBox="1"/>
          <p:nvPr/>
        </p:nvSpPr>
        <p:spPr>
          <a:xfrm>
            <a:off x="5193792" y="3383280"/>
            <a:ext cx="3383280" cy="274320"/>
          </a:xfrm>
          <a:prstGeom prst="rect">
            <a:avLst/>
          </a:prstGeom>
          <a:noFill/>
        </p:spPr>
        <p:txBody>
          <a:bodyPr wrap="square" lIns="0" tIns="0" rIns="0" bIns="0" rtlCol="0" anchor="t"/>
          <a:lstStyle/>
          <a:p>
            <a:pPr marL="0" indent="0">
              <a:buNone/>
            </a:pPr>
            <a:r>
              <a:rPr lang="en-US" sz="1600" b="1" dirty="0">
                <a:solidFill>
                  <a:schemeClr val="tx2"/>
                </a:solidFill>
              </a:rPr>
              <a:t>Butuh alat sederhana</a:t>
            </a:r>
            <a:endParaRPr lang="en-US" sz="1600" dirty="0"/>
          </a:p>
        </p:txBody>
      </p:sp>
      <p:sp>
        <p:nvSpPr>
          <p:cNvPr id="17" name="Isi Ikon toko"/>
          <p:cNvSpPr txBox="1"/>
          <p:nvPr/>
        </p:nvSpPr>
        <p:spPr>
          <a:xfrm>
            <a:off x="5193792" y="3675888"/>
            <a:ext cx="3383280" cy="576072"/>
          </a:xfrm>
          <a:prstGeom prst="rect">
            <a:avLst/>
          </a:prstGeom>
          <a:noFill/>
        </p:spPr>
        <p:txBody>
          <a:bodyPr wrap="square" lIns="0" tIns="0" rIns="0" bIns="0" rtlCol="0" anchor="t"/>
          <a:lstStyle/>
          <a:p>
            <a:pPr marL="0" indent="0">
              <a:buNone/>
            </a:pPr>
            <a:r>
              <a:rPr lang="en-US" sz="1400" dirty="0">
                <a:solidFill>
                  <a:schemeClr val="tx1"/>
                </a:solidFill>
              </a:rPr>
              <a:t>Penjual hanya perlu beberapa tombol, tanpa pelatihan.</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Kriteria Soal dan Solusi</a:t>
            </a:r>
            <a:endParaRPr lang="en-US" sz="3400" dirty="0"/>
          </a:p>
        </p:txBody>
      </p:sp>
      <p:graphicFrame>
        <p:nvGraphicFramePr>
          <p:cNvPr id="4" name="Tabel kriteria"/>
          <p:cNvGraphicFramePr>
            <a:graphicFrameLocks noGrp="1"/>
          </p:cNvGraphicFramePr>
          <p:nvPr/>
        </p:nvGraphicFramePr>
        <p:xfrm>
          <a:off x="548640" y="1234440"/>
          <a:ext cx="8046720" cy="3218688"/>
        </p:xfrm>
        <a:graphic>
          <a:graphicData uri="http://schemas.openxmlformats.org/drawingml/2006/table">
            <a:tbl>
              <a:tblPr/>
              <a:tblGrid>
                <a:gridCol w="2743200"/>
                <a:gridCol w="5303520"/>
              </a:tblGrid>
              <a:tr h="402336">
                <a:tc>
                  <a:txBody>
                    <a:bodyPr/>
                    <a:lstStyle/>
                    <a:p>
                      <a:pPr marL="0" indent="0">
                        <a:buNone/>
                      </a:pPr>
                      <a:r>
                        <a:rPr lang="en-US" sz="1400" b="1" dirty="0">
                          <a:solidFill>
                            <a:schemeClr val="bg1"/>
                          </a:solidFill>
                        </a:rPr>
                        <a:t>Syarat dari soal</a:t>
                      </a:r>
                      <a:endParaRPr lang="en-US" sz="14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Implementasi pada Sabarin</a:t>
                      </a:r>
                      <a:endParaRPr lang="en-US" sz="14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tx2"/>
                    </a:solidFill>
                  </a:tcPr>
                </a:tc>
              </a:tr>
              <a:tr h="402336">
                <a:tc>
                  <a:txBody>
                    <a:bodyPr/>
                    <a:lstStyle/>
                    <a:p>
                      <a:pPr marL="0" indent="0">
                        <a:buNone/>
                      </a:pPr>
                      <a:r>
                        <a:rPr lang="en-US" sz="1300" b="1" dirty="0">
                          <a:solidFill>
                            <a:schemeClr val="tx1"/>
                          </a:solidFill>
                        </a:rPr>
                        <a:t>Nama aplikasi unik</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Sabarin (dapat diubah di kelas Konfigurasi)</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r>
              <a:tr h="402336">
                <a:tc>
                  <a:txBody>
                    <a:bodyPr/>
                    <a:lstStyle/>
                    <a:p>
                      <a:pPr marL="0" indent="0">
                        <a:buNone/>
                      </a:pPr>
                      <a:r>
                        <a:rPr lang="en-US" sz="1300" b="1" dirty="0">
                          <a:solidFill>
                            <a:schemeClr val="tx1"/>
                          </a:solidFill>
                        </a:rPr>
                        <a:t>Logo, nama, dan latar</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LogoSabarin dan LatarHias dibuat dengan CustomPainter</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r>
              <a:tr h="402336">
                <a:tc>
                  <a:txBody>
                    <a:bodyPr/>
                    <a:lstStyle/>
                    <a:p>
                      <a:pPr marL="0" indent="0">
                        <a:buNone/>
                      </a:pPr>
                      <a:r>
                        <a:rPr lang="en-US" sz="1300" b="1" dirty="0">
                          <a:solidFill>
                            <a:schemeClr val="tx1"/>
                          </a:solidFill>
                        </a:rPr>
                        <a:t>Minimal 2 halaman</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6 halaman: Beranda, Antrian, Layar, Riwayat, Statistik, Tentang</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r>
              <a:tr h="402336">
                <a:tc>
                  <a:txBody>
                    <a:bodyPr/>
                    <a:lstStyle/>
                    <a:p>
                      <a:pPr marL="0" indent="0">
                        <a:buNone/>
                      </a:pPr>
                      <a:r>
                        <a:rPr lang="en-US" sz="1300" b="1" dirty="0">
                          <a:solidFill>
                            <a:schemeClr val="tx1"/>
                          </a:solidFill>
                        </a:rPr>
                        <a:t>Material App Drawer</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Drawer berisi PanelSamping; permanen di layar lebar</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r>
              <a:tr h="402336">
                <a:tc>
                  <a:txBody>
                    <a:bodyPr/>
                    <a:lstStyle/>
                    <a:p>
                      <a:pPr marL="0" indent="0">
                        <a:buNone/>
                      </a:pPr>
                      <a:r>
                        <a:rPr lang="en-US" sz="1300" b="1" dirty="0">
                          <a:solidFill>
                            <a:schemeClr val="tx1"/>
                          </a:solidFill>
                        </a:rPr>
                        <a:t>State management reaktif</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TemaCubit dan AntrianCubit (flutter_bloc)</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r>
              <a:tr h="402336">
                <a:tc>
                  <a:txBody>
                    <a:bodyPr/>
                    <a:lstStyle/>
                    <a:p>
                      <a:pPr marL="0" indent="0">
                        <a:buNone/>
                      </a:pPr>
                      <a:r>
                        <a:rPr lang="en-US" sz="1300" b="1" dirty="0">
                          <a:solidFill>
                            <a:schemeClr val="tx1"/>
                          </a:solidFill>
                        </a:rPr>
                        <a:t>Mode gelap dan dynamic theme</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ThemeMode terang, gelap, sistem + warna seed</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1"/>
                    </a:solidFill>
                  </a:tcPr>
                </a:tc>
              </a:tr>
              <a:tr h="402336">
                <a:tc>
                  <a:txBody>
                    <a:bodyPr/>
                    <a:lstStyle/>
                    <a:p>
                      <a:pPr marL="0" indent="0">
                        <a:buNone/>
                      </a:pPr>
                      <a:r>
                        <a:rPr lang="en-US" sz="1300" b="1" dirty="0">
                          <a:solidFill>
                            <a:schemeClr val="tx1"/>
                          </a:solidFill>
                        </a:rPr>
                        <a:t>Minimal 5 warna tema</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8 warna: biru, hijau, merah, ungu, jingga, tosca, ...</a:t>
                      </a:r>
                      <a:endParaRPr lang="en-US" sz="1300" dirty="0"/>
                    </a:p>
                  </a:txBody>
                  <a:tcPr marL="109728" marR="109728" marT="36576" marB="36576" anchor="ctr">
                    <a:lnL w="6350" cap="flat" cmpd="sng" algn="ctr">
                      <a:solidFill>
                        <a:srgbClr val="CFE5E1"/>
                      </a:solidFill>
                      <a:prstDash val="solid"/>
                      <a:round/>
                      <a:headEnd type="none" w="med" len="med"/>
                      <a:tailEnd type="none" w="med" len="med"/>
                    </a:lnL>
                    <a:lnR w="6350" cap="flat" cmpd="sng" algn="ctr">
                      <a:solidFill>
                        <a:srgbClr val="CFE5E1"/>
                      </a:solidFill>
                      <a:prstDash val="solid"/>
                      <a:round/>
                      <a:headEnd type="none" w="med" len="med"/>
                      <a:tailEnd type="none" w="med" len="med"/>
                    </a:lnR>
                    <a:lnT w="6350" cap="flat" cmpd="sng" algn="ctr">
                      <a:solidFill>
                        <a:srgbClr val="CFE5E1"/>
                      </a:solidFill>
                      <a:prstDash val="solid"/>
                      <a:round/>
                      <a:headEnd type="none" w="med" len="med"/>
                      <a:tailEnd type="none" w="med" len="med"/>
                    </a:lnT>
                    <a:lnB w="6350" cap="flat" cmpd="sng" algn="ctr">
                      <a:solidFill>
                        <a:srgbClr val="CFE5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Struktur Folder Proyek</a:t>
            </a:r>
            <a:endParaRPr lang="en-US" sz="3400" dirty="0"/>
          </a:p>
        </p:txBody>
      </p:sp>
      <p:sp>
        <p:nvSpPr>
          <p:cNvPr id="3" name="Kode CatatanLayanan (latar)"/>
          <p:cNvSpPr/>
          <p:nvPr/>
        </p:nvSpPr>
        <p:spPr>
          <a:xfrm>
            <a:off x="548640" y="1280160"/>
            <a:ext cx="4937760" cy="3291840"/>
          </a:xfrm>
          <a:prstGeom prst="roundRect">
            <a:avLst>
              <a:gd name="adj" fmla="val 2778"/>
            </a:avLst>
          </a:prstGeom>
          <a:solidFill>
            <a:schemeClr val="tx2"/>
          </a:solidFill>
          <a:ln w="6350">
            <a:solidFill>
              <a:schemeClr val="tx2"/>
            </a:solidFill>
            <a:prstDash val="solid"/>
          </a:ln>
        </p:spPr>
      </p:sp>
      <p:sp>
        <p:nvSpPr>
          <p:cNvPr id="4" name="Kode CatatanLayanan"/>
          <p:cNvSpPr txBox="1"/>
          <p:nvPr/>
        </p:nvSpPr>
        <p:spPr>
          <a:xfrm>
            <a:off x="713232" y="1408176"/>
            <a:ext cx="4608576" cy="3035808"/>
          </a:xfrm>
          <a:prstGeom prst="rect">
            <a:avLst/>
          </a:prstGeom>
          <a:noFill/>
        </p:spPr>
        <p:txBody>
          <a:bodyPr wrap="square" lIns="0" tIns="0" rIns="0" bIns="0" rtlCol="0" anchor="t"/>
          <a:lstStyle/>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lib/</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main.dart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app.dart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core/</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konfigurasi.dart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tema.dart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cubit/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tema_cubit.dart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antrian_cubit.dart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widgets/</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komponen.dart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kerangka_halaman.dart</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halaman/</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a:p>
            <a:pPr marL="0" indent="0">
              <a:buNone/>
            </a:pPr>
            <a:r>
              <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halaman_*.dart  (6 file)</a:t>
            </a:r>
            <a:endParaRPr lang="en-US" sz="13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Ikon catatan (latar)"/>
          <p:cNvSpPr/>
          <p:nvPr/>
        </p:nvSpPr>
        <p:spPr>
          <a:xfrm>
            <a:off x="5852160" y="1325880"/>
            <a:ext cx="530352" cy="530352"/>
          </a:xfrm>
          <a:prstGeom prst="ellipse">
            <a:avLst/>
          </a:prstGeom>
          <a:solidFill>
            <a:schemeClr val="accent3"/>
          </a:solidFill>
          <a:ln w="6350">
            <a:solidFill>
              <a:schemeClr val="accent3"/>
            </a:solidFill>
            <a:prstDash val="solid"/>
          </a:ln>
        </p:spPr>
      </p:sp>
      <p:pic>
        <p:nvPicPr>
          <p:cNvPr id="6" name="Ikon catatan" descr="Ikon catatan"/>
          <p:cNvPicPr>
            <a:picLocks noChangeAspect="1"/>
          </p:cNvPicPr>
          <p:nvPr/>
        </p:nvPicPr>
        <p:blipFill>
          <a:blip r:embed="rId1"/>
          <a:stretch>
            <a:fillRect/>
          </a:stretch>
        </p:blipFill>
        <p:spPr>
          <a:xfrm>
            <a:off x="5984748" y="1458468"/>
            <a:ext cx="265176" cy="265176"/>
          </a:xfrm>
          <a:prstGeom prst="rect">
            <a:avLst/>
          </a:prstGeom>
        </p:spPr>
      </p:pic>
      <p:sp>
        <p:nvSpPr>
          <p:cNvPr id="7" name="Judul Ikon catatan"/>
          <p:cNvSpPr txBox="1"/>
          <p:nvPr/>
        </p:nvSpPr>
        <p:spPr>
          <a:xfrm>
            <a:off x="6565392" y="1280160"/>
            <a:ext cx="1920240" cy="274320"/>
          </a:xfrm>
          <a:prstGeom prst="rect">
            <a:avLst/>
          </a:prstGeom>
          <a:noFill/>
        </p:spPr>
        <p:txBody>
          <a:bodyPr wrap="square" lIns="0" tIns="0" rIns="0" bIns="0" rtlCol="0" anchor="t"/>
          <a:lstStyle/>
          <a:p>
            <a:pPr marL="0" indent="0">
              <a:buNone/>
            </a:pPr>
            <a:r>
              <a:rPr lang="en-US" sz="1600" b="1" dirty="0">
                <a:solidFill>
                  <a:schemeClr val="tx2"/>
                </a:solidFill>
              </a:rPr>
              <a:t>core</a:t>
            </a:r>
            <a:endParaRPr lang="en-US" sz="1600" dirty="0"/>
          </a:p>
        </p:txBody>
      </p:sp>
      <p:sp>
        <p:nvSpPr>
          <p:cNvPr id="8" name="Isi Ikon catatan"/>
          <p:cNvSpPr txBox="1"/>
          <p:nvPr/>
        </p:nvSpPr>
        <p:spPr>
          <a:xfrm>
            <a:off x="6565392" y="1572768"/>
            <a:ext cx="1920240" cy="758952"/>
          </a:xfrm>
          <a:prstGeom prst="rect">
            <a:avLst/>
          </a:prstGeom>
          <a:noFill/>
        </p:spPr>
        <p:txBody>
          <a:bodyPr wrap="square" lIns="0" tIns="0" rIns="0" bIns="0" rtlCol="0" anchor="t"/>
          <a:lstStyle/>
          <a:p>
            <a:pPr marL="0" indent="0">
              <a:buNone/>
            </a:pPr>
            <a:r>
              <a:rPr lang="en-US" sz="1400" dirty="0">
                <a:solidFill>
                  <a:schemeClr val="tx1"/>
                </a:solidFill>
              </a:rPr>
              <a:t>Konfigurasi, format, menu, dan tema.</a:t>
            </a:r>
            <a:endParaRPr lang="en-US" sz="1400" dirty="0"/>
          </a:p>
        </p:txBody>
      </p:sp>
      <p:sp>
        <p:nvSpPr>
          <p:cNvPr id="9" name="Ikon jam selesai (latar)"/>
          <p:cNvSpPr/>
          <p:nvPr/>
        </p:nvSpPr>
        <p:spPr>
          <a:xfrm>
            <a:off x="5852160" y="2423160"/>
            <a:ext cx="530352" cy="530352"/>
          </a:xfrm>
          <a:prstGeom prst="ellipse">
            <a:avLst/>
          </a:prstGeom>
          <a:solidFill>
            <a:schemeClr val="accent1"/>
          </a:solidFill>
          <a:ln w="6350">
            <a:solidFill>
              <a:schemeClr val="accent1"/>
            </a:solidFill>
            <a:prstDash val="solid"/>
          </a:ln>
        </p:spPr>
      </p:sp>
      <p:pic>
        <p:nvPicPr>
          <p:cNvPr id="10" name="Ikon jam selesai" descr="Ikon jam selesai"/>
          <p:cNvPicPr>
            <a:picLocks noChangeAspect="1"/>
          </p:cNvPicPr>
          <p:nvPr/>
        </p:nvPicPr>
        <p:blipFill>
          <a:blip r:embed="rId2"/>
          <a:stretch>
            <a:fillRect/>
          </a:stretch>
        </p:blipFill>
        <p:spPr>
          <a:xfrm>
            <a:off x="5984748" y="2555748"/>
            <a:ext cx="265176" cy="265176"/>
          </a:xfrm>
          <a:prstGeom prst="rect">
            <a:avLst/>
          </a:prstGeom>
        </p:spPr>
      </p:pic>
      <p:sp>
        <p:nvSpPr>
          <p:cNvPr id="11" name="Judul Ikon jam selesai"/>
          <p:cNvSpPr txBox="1"/>
          <p:nvPr/>
        </p:nvSpPr>
        <p:spPr>
          <a:xfrm>
            <a:off x="6565392" y="2377440"/>
            <a:ext cx="1920240" cy="274320"/>
          </a:xfrm>
          <a:prstGeom prst="rect">
            <a:avLst/>
          </a:prstGeom>
          <a:noFill/>
        </p:spPr>
        <p:txBody>
          <a:bodyPr wrap="square" lIns="0" tIns="0" rIns="0" bIns="0" rtlCol="0" anchor="t"/>
          <a:lstStyle/>
          <a:p>
            <a:pPr marL="0" indent="0">
              <a:buNone/>
            </a:pPr>
            <a:r>
              <a:rPr lang="en-US" sz="1600" b="1" dirty="0">
                <a:solidFill>
                  <a:schemeClr val="tx2"/>
                </a:solidFill>
              </a:rPr>
              <a:t>cubit</a:t>
            </a:r>
            <a:endParaRPr lang="en-US" sz="1600" dirty="0"/>
          </a:p>
        </p:txBody>
      </p:sp>
      <p:sp>
        <p:nvSpPr>
          <p:cNvPr id="12" name="Isi Ikon jam selesai"/>
          <p:cNvSpPr txBox="1"/>
          <p:nvPr/>
        </p:nvSpPr>
        <p:spPr>
          <a:xfrm>
            <a:off x="6565392" y="2670048"/>
            <a:ext cx="1920240" cy="758952"/>
          </a:xfrm>
          <a:prstGeom prst="rect">
            <a:avLst/>
          </a:prstGeom>
          <a:noFill/>
        </p:spPr>
        <p:txBody>
          <a:bodyPr wrap="square" lIns="0" tIns="0" rIns="0" bIns="0" rtlCol="0" anchor="t"/>
          <a:lstStyle/>
          <a:p>
            <a:pPr marL="0" indent="0">
              <a:buNone/>
            </a:pPr>
            <a:r>
              <a:rPr lang="en-US" sz="1400" dirty="0">
                <a:solidFill>
                  <a:schemeClr val="tx1"/>
                </a:solidFill>
              </a:rPr>
              <a:t>State dan logika tema serta antrian.</a:t>
            </a:r>
            <a:endParaRPr lang="en-US" sz="1400" dirty="0"/>
          </a:p>
        </p:txBody>
      </p:sp>
      <p:sp>
        <p:nvSpPr>
          <p:cNvPr id="13" name="Ikon dipakai (latar)"/>
          <p:cNvSpPr/>
          <p:nvPr/>
        </p:nvSpPr>
        <p:spPr>
          <a:xfrm>
            <a:off x="5852160" y="3520440"/>
            <a:ext cx="530352" cy="530352"/>
          </a:xfrm>
          <a:prstGeom prst="ellipse">
            <a:avLst/>
          </a:prstGeom>
          <a:solidFill>
            <a:schemeClr val="accent4"/>
          </a:solidFill>
          <a:ln w="6350">
            <a:solidFill>
              <a:schemeClr val="accent4"/>
            </a:solidFill>
            <a:prstDash val="solid"/>
          </a:ln>
        </p:spPr>
      </p:sp>
      <p:pic>
        <p:nvPicPr>
          <p:cNvPr id="14" name="Ikon dipakai" descr="Ikon dipakai"/>
          <p:cNvPicPr>
            <a:picLocks noChangeAspect="1"/>
          </p:cNvPicPr>
          <p:nvPr/>
        </p:nvPicPr>
        <p:blipFill>
          <a:blip r:embed="rId3"/>
          <a:stretch>
            <a:fillRect/>
          </a:stretch>
        </p:blipFill>
        <p:spPr>
          <a:xfrm>
            <a:off x="5984748" y="3653028"/>
            <a:ext cx="265176" cy="265176"/>
          </a:xfrm>
          <a:prstGeom prst="rect">
            <a:avLst/>
          </a:prstGeom>
        </p:spPr>
      </p:pic>
      <p:sp>
        <p:nvSpPr>
          <p:cNvPr id="15" name="Judul Ikon dipakai"/>
          <p:cNvSpPr txBox="1"/>
          <p:nvPr/>
        </p:nvSpPr>
        <p:spPr>
          <a:xfrm>
            <a:off x="6565392" y="3474720"/>
            <a:ext cx="1920240" cy="274320"/>
          </a:xfrm>
          <a:prstGeom prst="rect">
            <a:avLst/>
          </a:prstGeom>
          <a:noFill/>
        </p:spPr>
        <p:txBody>
          <a:bodyPr wrap="square" lIns="0" tIns="0" rIns="0" bIns="0" rtlCol="0" anchor="t"/>
          <a:lstStyle/>
          <a:p>
            <a:pPr marL="0" indent="0">
              <a:buNone/>
            </a:pPr>
            <a:r>
              <a:rPr lang="en-US" sz="1600" b="1" dirty="0">
                <a:solidFill>
                  <a:schemeClr val="tx2"/>
                </a:solidFill>
              </a:rPr>
              <a:t>widgets, halaman</a:t>
            </a:r>
            <a:endParaRPr lang="en-US" sz="1600" dirty="0"/>
          </a:p>
        </p:txBody>
      </p:sp>
      <p:sp>
        <p:nvSpPr>
          <p:cNvPr id="16" name="Isi Ikon dipakai"/>
          <p:cNvSpPr txBox="1"/>
          <p:nvPr/>
        </p:nvSpPr>
        <p:spPr>
          <a:xfrm>
            <a:off x="6565392" y="3767328"/>
            <a:ext cx="1920240" cy="758952"/>
          </a:xfrm>
          <a:prstGeom prst="rect">
            <a:avLst/>
          </a:prstGeom>
          <a:noFill/>
        </p:spPr>
        <p:txBody>
          <a:bodyPr wrap="square" lIns="0" tIns="0" rIns="0" bIns="0" rtlCol="0" anchor="t"/>
          <a:lstStyle/>
          <a:p>
            <a:pPr marL="0" indent="0">
              <a:buNone/>
            </a:pPr>
            <a:r>
              <a:rPr lang="en-US" sz="1400" dirty="0">
                <a:solidFill>
                  <a:schemeClr val="tx1"/>
                </a:solidFill>
              </a:rPr>
              <a:t>Komponen bersama dan enam halaman.</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Alur Kerja State Cubit</a:t>
            </a:r>
            <a:endParaRPr lang="en-US" sz="3400" dirty="0"/>
          </a:p>
        </p:txBody>
      </p:sp>
      <p:sp>
        <p:nvSpPr>
          <p:cNvPr id="3" name="Kotak Widget (UI)"/>
          <p:cNvSpPr/>
          <p:nvPr/>
        </p:nvSpPr>
        <p:spPr>
          <a:xfrm>
            <a:off x="594360" y="1417320"/>
            <a:ext cx="1645920" cy="1005840"/>
          </a:xfrm>
          <a:prstGeom prst="roundRect">
            <a:avLst>
              <a:gd name="adj" fmla="val 12727"/>
            </a:avLst>
          </a:prstGeom>
          <a:solidFill>
            <a:schemeClr val="accent3"/>
          </a:solidFill>
          <a:ln w="6350">
            <a:solidFill>
              <a:schemeClr val="accent3"/>
            </a:solidFill>
            <a:prstDash val="solid"/>
          </a:ln>
        </p:spPr>
      </p:sp>
      <p:sp>
        <p:nvSpPr>
          <p:cNvPr id="4" name="Teks Widget (UI)"/>
          <p:cNvSpPr txBox="1"/>
          <p:nvPr/>
        </p:nvSpPr>
        <p:spPr>
          <a:xfrm>
            <a:off x="594360" y="1417320"/>
            <a:ext cx="1645920" cy="1005840"/>
          </a:xfrm>
          <a:prstGeom prst="rect">
            <a:avLst/>
          </a:prstGeom>
          <a:noFill/>
        </p:spPr>
        <p:txBody>
          <a:bodyPr wrap="square" lIns="635" tIns="635" rIns="635" bIns="635" rtlCol="0" anchor="ctr"/>
          <a:lstStyle/>
          <a:p>
            <a:pPr marL="0" indent="0" algn="ctr">
              <a:buNone/>
            </a:pPr>
            <a:r>
              <a:rPr lang="en-US" sz="1600" b="1" dirty="0">
                <a:solidFill>
                  <a:schemeClr val="bg1"/>
                </a:solidFill>
              </a:rPr>
              <a:t>Widget (UI)</a:t>
            </a:r>
            <a:endParaRPr lang="en-US" sz="1600" dirty="0"/>
          </a:p>
          <a:p>
            <a:pPr marL="0" indent="0" algn="ctr">
              <a:buNone/>
            </a:pPr>
            <a:r>
              <a:rPr lang="en-US" sz="1200" dirty="0">
                <a:solidFill>
                  <a:schemeClr val="bg1"/>
                </a:solidFill>
              </a:rPr>
              <a:t>Tombol ditekan</a:t>
            </a:r>
            <a:endParaRPr lang="en-US" sz="1600" dirty="0"/>
          </a:p>
        </p:txBody>
      </p:sp>
      <p:sp>
        <p:nvSpPr>
          <p:cNvPr id="5" name="Panah 1"/>
          <p:cNvSpPr/>
          <p:nvPr/>
        </p:nvSpPr>
        <p:spPr>
          <a:xfrm>
            <a:off x="2313432" y="1783080"/>
            <a:ext cx="310896" cy="256032"/>
          </a:xfrm>
          <a:prstGeom prst="rightArrow">
            <a:avLst/>
          </a:prstGeom>
          <a:solidFill>
            <a:schemeClr val="accent2"/>
          </a:solidFill>
          <a:ln w="6350">
            <a:solidFill>
              <a:schemeClr val="accent2"/>
            </a:solidFill>
            <a:prstDash val="solid"/>
          </a:ln>
        </p:spPr>
      </p:sp>
      <p:sp>
        <p:nvSpPr>
          <p:cNvPr id="6" name="Label panah 1"/>
          <p:cNvSpPr txBox="1"/>
          <p:nvPr/>
        </p:nvSpPr>
        <p:spPr>
          <a:xfrm>
            <a:off x="1783080" y="2487168"/>
            <a:ext cx="1280160" cy="228600"/>
          </a:xfrm>
          <a:prstGeom prst="rect">
            <a:avLst/>
          </a:prstGeom>
          <a:noFill/>
        </p:spPr>
        <p:txBody>
          <a:bodyPr wrap="square" lIns="0" tIns="0" rIns="0" bIns="0" rtlCol="0" anchor="t"/>
          <a:lstStyle/>
          <a:p>
            <a:pPr marL="0" indent="0" algn="ctr">
              <a:buNone/>
            </a:pPr>
            <a:r>
              <a:rPr lang="en-US" sz="1100" dirty="0">
                <a:solidFill>
                  <a:srgbClr val="5E7F7B"/>
                </a:solidFill>
              </a:rPr>
              <a:t>panggil method</a:t>
            </a:r>
            <a:endParaRPr lang="en-US" sz="1100" dirty="0"/>
          </a:p>
        </p:txBody>
      </p:sp>
      <p:sp>
        <p:nvSpPr>
          <p:cNvPr id="7" name="Kotak Cubit"/>
          <p:cNvSpPr/>
          <p:nvPr/>
        </p:nvSpPr>
        <p:spPr>
          <a:xfrm>
            <a:off x="2697480" y="1417320"/>
            <a:ext cx="1645920" cy="1005840"/>
          </a:xfrm>
          <a:prstGeom prst="roundRect">
            <a:avLst>
              <a:gd name="adj" fmla="val 12727"/>
            </a:avLst>
          </a:prstGeom>
          <a:solidFill>
            <a:schemeClr val="accent1"/>
          </a:solidFill>
          <a:ln w="6350">
            <a:solidFill>
              <a:schemeClr val="accent1"/>
            </a:solidFill>
            <a:prstDash val="solid"/>
          </a:ln>
        </p:spPr>
      </p:sp>
      <p:sp>
        <p:nvSpPr>
          <p:cNvPr id="8" name="Teks Cubit"/>
          <p:cNvSpPr txBox="1"/>
          <p:nvPr/>
        </p:nvSpPr>
        <p:spPr>
          <a:xfrm>
            <a:off x="2697480" y="1417320"/>
            <a:ext cx="1645920" cy="1005840"/>
          </a:xfrm>
          <a:prstGeom prst="rect">
            <a:avLst/>
          </a:prstGeom>
          <a:noFill/>
        </p:spPr>
        <p:txBody>
          <a:bodyPr wrap="square" lIns="635" tIns="635" rIns="635" bIns="635" rtlCol="0" anchor="ctr"/>
          <a:lstStyle/>
          <a:p>
            <a:pPr marL="0" indent="0" algn="ctr">
              <a:buNone/>
            </a:pPr>
            <a:r>
              <a:rPr lang="en-US" sz="1600" b="1" dirty="0">
                <a:solidFill>
                  <a:schemeClr val="bg1"/>
                </a:solidFill>
              </a:rPr>
              <a:t>Cubit</a:t>
            </a:r>
            <a:endParaRPr lang="en-US" sz="1600" dirty="0"/>
          </a:p>
          <a:p>
            <a:pPr marL="0" indent="0" algn="ctr">
              <a:buNone/>
            </a:pPr>
            <a:r>
              <a:rPr lang="en-US" sz="1200" dirty="0">
                <a:solidFill>
                  <a:schemeClr val="bg1"/>
                </a:solidFill>
              </a:rPr>
              <a:t>Logika + emit()</a:t>
            </a:r>
            <a:endParaRPr lang="en-US" sz="1600" dirty="0"/>
          </a:p>
        </p:txBody>
      </p:sp>
      <p:sp>
        <p:nvSpPr>
          <p:cNvPr id="9" name="Panah 2"/>
          <p:cNvSpPr/>
          <p:nvPr/>
        </p:nvSpPr>
        <p:spPr>
          <a:xfrm>
            <a:off x="4416552" y="1783080"/>
            <a:ext cx="310896" cy="256032"/>
          </a:xfrm>
          <a:prstGeom prst="rightArrow">
            <a:avLst/>
          </a:prstGeom>
          <a:solidFill>
            <a:schemeClr val="accent2"/>
          </a:solidFill>
          <a:ln w="6350">
            <a:solidFill>
              <a:schemeClr val="accent2"/>
            </a:solidFill>
            <a:prstDash val="solid"/>
          </a:ln>
        </p:spPr>
      </p:sp>
      <p:sp>
        <p:nvSpPr>
          <p:cNvPr id="10" name="Label panah 2"/>
          <p:cNvSpPr txBox="1"/>
          <p:nvPr/>
        </p:nvSpPr>
        <p:spPr>
          <a:xfrm>
            <a:off x="3886200" y="2487168"/>
            <a:ext cx="1280160" cy="228600"/>
          </a:xfrm>
          <a:prstGeom prst="rect">
            <a:avLst/>
          </a:prstGeom>
          <a:noFill/>
        </p:spPr>
        <p:txBody>
          <a:bodyPr wrap="square" lIns="0" tIns="0" rIns="0" bIns="0" rtlCol="0" anchor="t"/>
          <a:lstStyle/>
          <a:p>
            <a:pPr marL="0" indent="0" algn="ctr">
              <a:buNone/>
            </a:pPr>
            <a:r>
              <a:rPr lang="en-US" sz="1100" dirty="0">
                <a:solidFill>
                  <a:srgbClr val="5E7F7B"/>
                </a:solidFill>
              </a:rPr>
              <a:t>emit(state)</a:t>
            </a:r>
            <a:endParaRPr lang="en-US" sz="1100" dirty="0"/>
          </a:p>
        </p:txBody>
      </p:sp>
      <p:sp>
        <p:nvSpPr>
          <p:cNvPr id="11" name="Kotak State"/>
          <p:cNvSpPr/>
          <p:nvPr/>
        </p:nvSpPr>
        <p:spPr>
          <a:xfrm>
            <a:off x="4800600" y="1417320"/>
            <a:ext cx="1645920" cy="1005840"/>
          </a:xfrm>
          <a:prstGeom prst="roundRect">
            <a:avLst>
              <a:gd name="adj" fmla="val 12727"/>
            </a:avLst>
          </a:prstGeom>
          <a:solidFill>
            <a:schemeClr val="accent4"/>
          </a:solidFill>
          <a:ln w="6350">
            <a:solidFill>
              <a:schemeClr val="accent4"/>
            </a:solidFill>
            <a:prstDash val="solid"/>
          </a:ln>
        </p:spPr>
      </p:sp>
      <p:sp>
        <p:nvSpPr>
          <p:cNvPr id="12" name="Teks State"/>
          <p:cNvSpPr txBox="1"/>
          <p:nvPr/>
        </p:nvSpPr>
        <p:spPr>
          <a:xfrm>
            <a:off x="4800600" y="1417320"/>
            <a:ext cx="1645920" cy="1005840"/>
          </a:xfrm>
          <a:prstGeom prst="rect">
            <a:avLst/>
          </a:prstGeom>
          <a:noFill/>
        </p:spPr>
        <p:txBody>
          <a:bodyPr wrap="square" lIns="635" tIns="635" rIns="635" bIns="635" rtlCol="0" anchor="ctr"/>
          <a:lstStyle/>
          <a:p>
            <a:pPr marL="0" indent="0" algn="ctr">
              <a:buNone/>
            </a:pPr>
            <a:r>
              <a:rPr lang="en-US" sz="1600" b="1" dirty="0">
                <a:solidFill>
                  <a:schemeClr val="bg1"/>
                </a:solidFill>
              </a:rPr>
              <a:t>State</a:t>
            </a:r>
            <a:endParaRPr lang="en-US" sz="1600" dirty="0"/>
          </a:p>
          <a:p>
            <a:pPr marL="0" indent="0" algn="ctr">
              <a:buNone/>
            </a:pPr>
            <a:r>
              <a:rPr lang="en-US" sz="1200" dirty="0">
                <a:solidFill>
                  <a:schemeClr val="bg1"/>
                </a:solidFill>
              </a:rPr>
              <a:t>Data terbaru</a:t>
            </a:r>
            <a:endParaRPr lang="en-US" sz="1600" dirty="0"/>
          </a:p>
        </p:txBody>
      </p:sp>
      <p:sp>
        <p:nvSpPr>
          <p:cNvPr id="13" name="Panah 3"/>
          <p:cNvSpPr/>
          <p:nvPr/>
        </p:nvSpPr>
        <p:spPr>
          <a:xfrm>
            <a:off x="6519672" y="1783080"/>
            <a:ext cx="310896" cy="256032"/>
          </a:xfrm>
          <a:prstGeom prst="rightArrow">
            <a:avLst/>
          </a:prstGeom>
          <a:solidFill>
            <a:schemeClr val="accent2"/>
          </a:solidFill>
          <a:ln w="6350">
            <a:solidFill>
              <a:schemeClr val="accent2"/>
            </a:solidFill>
            <a:prstDash val="solid"/>
          </a:ln>
        </p:spPr>
      </p:sp>
      <p:sp>
        <p:nvSpPr>
          <p:cNvPr id="14" name="Label panah 3"/>
          <p:cNvSpPr txBox="1"/>
          <p:nvPr/>
        </p:nvSpPr>
        <p:spPr>
          <a:xfrm>
            <a:off x="5989320" y="2487168"/>
            <a:ext cx="1280160" cy="228600"/>
          </a:xfrm>
          <a:prstGeom prst="rect">
            <a:avLst/>
          </a:prstGeom>
          <a:noFill/>
        </p:spPr>
        <p:txBody>
          <a:bodyPr wrap="square" lIns="0" tIns="0" rIns="0" bIns="0" rtlCol="0" anchor="t"/>
          <a:lstStyle/>
          <a:p>
            <a:pPr marL="0" indent="0" algn="ctr">
              <a:buNone/>
            </a:pPr>
            <a:r>
              <a:rPr lang="en-US" sz="1100" dirty="0">
                <a:solidFill>
                  <a:srgbClr val="5E7F7B"/>
                </a:solidFill>
              </a:rPr>
              <a:t>stream</a:t>
            </a:r>
            <a:endParaRPr lang="en-US" sz="1100" dirty="0"/>
          </a:p>
        </p:txBody>
      </p:sp>
      <p:sp>
        <p:nvSpPr>
          <p:cNvPr id="15" name="Kotak BlocBuilder"/>
          <p:cNvSpPr/>
          <p:nvPr/>
        </p:nvSpPr>
        <p:spPr>
          <a:xfrm>
            <a:off x="6903720" y="1417320"/>
            <a:ext cx="1645920" cy="1005840"/>
          </a:xfrm>
          <a:prstGeom prst="roundRect">
            <a:avLst>
              <a:gd name="adj" fmla="val 12727"/>
            </a:avLst>
          </a:prstGeom>
          <a:solidFill>
            <a:schemeClr val="accent6"/>
          </a:solidFill>
          <a:ln w="6350">
            <a:solidFill>
              <a:schemeClr val="accent6"/>
            </a:solidFill>
            <a:prstDash val="solid"/>
          </a:ln>
        </p:spPr>
      </p:sp>
      <p:sp>
        <p:nvSpPr>
          <p:cNvPr id="16" name="Teks BlocBuilder"/>
          <p:cNvSpPr txBox="1"/>
          <p:nvPr/>
        </p:nvSpPr>
        <p:spPr>
          <a:xfrm>
            <a:off x="6903720" y="1417320"/>
            <a:ext cx="1645920" cy="1005840"/>
          </a:xfrm>
          <a:prstGeom prst="rect">
            <a:avLst/>
          </a:prstGeom>
          <a:noFill/>
        </p:spPr>
        <p:txBody>
          <a:bodyPr wrap="square" lIns="635" tIns="635" rIns="635" bIns="635" rtlCol="0" anchor="ctr"/>
          <a:lstStyle/>
          <a:p>
            <a:pPr marL="0" indent="0" algn="ctr">
              <a:buNone/>
            </a:pPr>
            <a:r>
              <a:rPr lang="en-US" sz="1600" b="1" dirty="0">
                <a:solidFill>
                  <a:schemeClr val="bg1"/>
                </a:solidFill>
              </a:rPr>
              <a:t>BlocBuilder</a:t>
            </a:r>
            <a:endParaRPr lang="en-US" sz="1600" dirty="0"/>
          </a:p>
          <a:p>
            <a:pPr marL="0" indent="0" algn="ctr">
              <a:buNone/>
            </a:pPr>
            <a:r>
              <a:rPr lang="en-US" sz="1200" dirty="0">
                <a:solidFill>
                  <a:schemeClr val="bg1"/>
                </a:solidFill>
              </a:rPr>
              <a:t>Rebuild tampilan</a:t>
            </a:r>
            <a:endParaRPr lang="en-US" sz="1600" dirty="0"/>
          </a:p>
        </p:txBody>
      </p:sp>
      <p:sp>
        <p:nvSpPr>
          <p:cNvPr id="17" name="Kartu TemaCubit"/>
          <p:cNvSpPr/>
          <p:nvPr/>
        </p:nvSpPr>
        <p:spPr>
          <a:xfrm>
            <a:off x="548640" y="2880360"/>
            <a:ext cx="3840480" cy="1691640"/>
          </a:xfrm>
          <a:prstGeom prst="roundRect">
            <a:avLst>
              <a:gd name="adj" fmla="val 6486"/>
            </a:avLst>
          </a:prstGeom>
          <a:solidFill>
            <a:schemeClr val="bg2"/>
          </a:solidFill>
          <a:ln w="9525">
            <a:solidFill>
              <a:schemeClr val="bg2"/>
            </a:solidFill>
            <a:prstDash val="solid"/>
          </a:ln>
        </p:spPr>
      </p:sp>
      <p:sp>
        <p:nvSpPr>
          <p:cNvPr id="18" name="Text 16"/>
          <p:cNvSpPr txBox="1"/>
          <p:nvPr/>
        </p:nvSpPr>
        <p:spPr>
          <a:xfrm>
            <a:off x="731520" y="2999232"/>
            <a:ext cx="3474720" cy="274320"/>
          </a:xfrm>
          <a:prstGeom prst="rect">
            <a:avLst/>
          </a:prstGeom>
          <a:noFill/>
        </p:spPr>
        <p:txBody>
          <a:bodyPr wrap="square" lIns="0" tIns="0" rIns="0" bIns="0" rtlCol="0" anchor="t"/>
          <a:lstStyle/>
          <a:p>
            <a:pPr marL="0" indent="0">
              <a:buNone/>
            </a:pPr>
            <a:r>
              <a:rPr lang="en-US" sz="1600" b="1" dirty="0">
                <a:solidFill>
                  <a:schemeClr val="tx2"/>
                </a:solidFill>
              </a:rPr>
              <a:t>TemaCubit</a:t>
            </a:r>
            <a:endParaRPr lang="en-US" sz="1600" dirty="0"/>
          </a:p>
        </p:txBody>
      </p:sp>
      <p:sp>
        <p:nvSpPr>
          <p:cNvPr id="19" name="Text 17"/>
          <p:cNvSpPr txBox="1"/>
          <p:nvPr/>
        </p:nvSpPr>
        <p:spPr>
          <a:xfrm>
            <a:off x="731520" y="3310128"/>
            <a:ext cx="3474720" cy="1097280"/>
          </a:xfrm>
          <a:prstGeom prst="rect">
            <a:avLst/>
          </a:prstGeom>
          <a:noFill/>
        </p:spPr>
        <p:txBody>
          <a:bodyPr wrap="square" lIns="0" tIns="0" rIns="0" bIns="0" rtlCol="0" anchor="t"/>
          <a:lstStyle/>
          <a:p>
            <a:pPr marL="0" indent="0">
              <a:buNone/>
            </a:pPr>
            <a:r>
              <a:rPr lang="en-US" sz="1400" dirty="0">
                <a:solidFill>
                  <a:schemeClr val="tx1"/>
                </a:solidFill>
              </a:rPr>
              <a:t>State: ThemeMode dan indeks warna.</a:t>
            </a:r>
            <a:endParaRPr lang="en-US" sz="1400" dirty="0"/>
          </a:p>
          <a:p>
            <a:pPr marL="0" indent="0">
              <a:buNone/>
            </a:pPr>
            <a:r>
              <a:rPr lang="en-US" sz="1400" dirty="0">
                <a:solidFill>
                  <a:schemeClr val="tx1"/>
                </a:solidFill>
              </a:rPr>
              <a:t>Method: ubahMode(), ubahWarna().</a:t>
            </a:r>
            <a:endParaRPr lang="en-US" sz="1400" dirty="0"/>
          </a:p>
        </p:txBody>
      </p:sp>
      <p:sp>
        <p:nvSpPr>
          <p:cNvPr id="20" name="Kartu AntrianCubit"/>
          <p:cNvSpPr/>
          <p:nvPr/>
        </p:nvSpPr>
        <p:spPr>
          <a:xfrm>
            <a:off x="4754880" y="2880360"/>
            <a:ext cx="3840480" cy="1691640"/>
          </a:xfrm>
          <a:prstGeom prst="roundRect">
            <a:avLst>
              <a:gd name="adj" fmla="val 6486"/>
            </a:avLst>
          </a:prstGeom>
          <a:solidFill>
            <a:schemeClr val="bg2"/>
          </a:solidFill>
          <a:ln w="9525">
            <a:solidFill>
              <a:schemeClr val="bg2"/>
            </a:solidFill>
            <a:prstDash val="solid"/>
          </a:ln>
        </p:spPr>
      </p:sp>
      <p:sp>
        <p:nvSpPr>
          <p:cNvPr id="21" name="Text 19"/>
          <p:cNvSpPr txBox="1"/>
          <p:nvPr/>
        </p:nvSpPr>
        <p:spPr>
          <a:xfrm>
            <a:off x="4937760" y="2999232"/>
            <a:ext cx="3474720" cy="274320"/>
          </a:xfrm>
          <a:prstGeom prst="rect">
            <a:avLst/>
          </a:prstGeom>
          <a:noFill/>
        </p:spPr>
        <p:txBody>
          <a:bodyPr wrap="square" lIns="0" tIns="0" rIns="0" bIns="0" rtlCol="0" anchor="t"/>
          <a:lstStyle/>
          <a:p>
            <a:pPr marL="0" indent="0">
              <a:buNone/>
            </a:pPr>
            <a:r>
              <a:rPr lang="en-US" sz="1600" b="1" dirty="0">
                <a:solidFill>
                  <a:schemeClr val="tx2"/>
                </a:solidFill>
              </a:rPr>
              <a:t>AntrianCubit</a:t>
            </a:r>
            <a:endParaRPr lang="en-US" sz="1600" dirty="0"/>
          </a:p>
        </p:txBody>
      </p:sp>
      <p:sp>
        <p:nvSpPr>
          <p:cNvPr id="22" name="Text 20"/>
          <p:cNvSpPr txBox="1"/>
          <p:nvPr/>
        </p:nvSpPr>
        <p:spPr>
          <a:xfrm>
            <a:off x="4937760" y="3310128"/>
            <a:ext cx="3474720" cy="1188720"/>
          </a:xfrm>
          <a:prstGeom prst="rect">
            <a:avLst/>
          </a:prstGeom>
          <a:noFill/>
        </p:spPr>
        <p:txBody>
          <a:bodyPr wrap="square" lIns="0" tIns="0" rIns="0" bIns="0" rtlCol="0" anchor="t"/>
          <a:lstStyle/>
          <a:p>
            <a:pPr marL="0" indent="0">
              <a:buNone/>
            </a:pPr>
            <a:r>
              <a:rPr lang="en-US" sz="1400" dirty="0">
                <a:solidFill>
                  <a:schemeClr val="tx1"/>
                </a:solidFill>
              </a:rPr>
              <a:t>State: nomor, daftar menunggu, selesai, riwayat, pesan.</a:t>
            </a:r>
            <a:endParaRPr lang="en-US" sz="1400" dirty="0"/>
          </a:p>
          <a:p>
            <a:pPr marL="0" indent="0">
              <a:buNone/>
            </a:pPr>
            <a:r>
              <a:rPr lang="en-US" sz="1400" dirty="0">
                <a:solidFill>
                  <a:schemeClr val="tx1"/>
                </a:solidFill>
              </a:rPr>
              <a:t>Method: ambilNomor(), panggilBerikutnya(), batalkanTerakhir(), reset().</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Struktur Widget Tree</a:t>
            </a:r>
            <a:endParaRPr lang="en-US" sz="3400" dirty="0"/>
          </a:p>
        </p:txBody>
      </p:sp>
      <p:sp>
        <p:nvSpPr>
          <p:cNvPr id="3" name="Node SabarinApp"/>
          <p:cNvSpPr/>
          <p:nvPr/>
        </p:nvSpPr>
        <p:spPr>
          <a:xfrm>
            <a:off x="548640" y="1280160"/>
            <a:ext cx="3246120" cy="420624"/>
          </a:xfrm>
          <a:prstGeom prst="roundRect">
            <a:avLst>
              <a:gd name="adj" fmla="val 21739"/>
            </a:avLst>
          </a:prstGeom>
          <a:solidFill>
            <a:schemeClr val="tx2"/>
          </a:solidFill>
          <a:ln w="6350">
            <a:solidFill>
              <a:schemeClr val="tx2"/>
            </a:solidFill>
            <a:prstDash val="solid"/>
          </a:ln>
        </p:spPr>
      </p:sp>
      <p:sp>
        <p:nvSpPr>
          <p:cNvPr id="4" name="Teks node SabarinApp"/>
          <p:cNvSpPr txBox="1"/>
          <p:nvPr/>
        </p:nvSpPr>
        <p:spPr>
          <a:xfrm>
            <a:off x="548640" y="1280160"/>
            <a:ext cx="3246120" cy="420624"/>
          </a:xfrm>
          <a:prstGeom prst="rect">
            <a:avLst/>
          </a:prstGeom>
          <a:noFill/>
        </p:spPr>
        <p:txBody>
          <a:bodyPr wrap="square" lIns="0" tIns="0" rIns="0" bIns="0" rtlCol="0" anchor="ctr"/>
          <a:lstStyle/>
          <a:p>
            <a:pPr marL="0" indent="0" algn="ctr">
              <a:buNone/>
            </a:pPr>
            <a:r>
              <a:rPr lang="en-US" sz="1400" b="1" dirty="0">
                <a:solidFill>
                  <a:schemeClr val="bg1"/>
                </a:solidFill>
              </a:rPr>
              <a:t>SabarinApp</a:t>
            </a:r>
            <a:endParaRPr lang="en-US" sz="1400" dirty="0"/>
          </a:p>
        </p:txBody>
      </p:sp>
      <p:sp>
        <p:nvSpPr>
          <p:cNvPr id="5" name="Node MultiBlocProvider"/>
          <p:cNvSpPr/>
          <p:nvPr/>
        </p:nvSpPr>
        <p:spPr>
          <a:xfrm>
            <a:off x="786384" y="1828800"/>
            <a:ext cx="3246120" cy="420624"/>
          </a:xfrm>
          <a:prstGeom prst="roundRect">
            <a:avLst>
              <a:gd name="adj" fmla="val 21739"/>
            </a:avLst>
          </a:prstGeom>
          <a:solidFill>
            <a:schemeClr val="accent3"/>
          </a:solidFill>
          <a:ln w="6350">
            <a:solidFill>
              <a:schemeClr val="accent3"/>
            </a:solidFill>
            <a:prstDash val="solid"/>
          </a:ln>
        </p:spPr>
      </p:sp>
      <p:sp>
        <p:nvSpPr>
          <p:cNvPr id="6" name="Teks node MultiBlocProvider"/>
          <p:cNvSpPr txBox="1"/>
          <p:nvPr/>
        </p:nvSpPr>
        <p:spPr>
          <a:xfrm>
            <a:off x="786384" y="1828800"/>
            <a:ext cx="3246120" cy="420624"/>
          </a:xfrm>
          <a:prstGeom prst="rect">
            <a:avLst/>
          </a:prstGeom>
          <a:noFill/>
        </p:spPr>
        <p:txBody>
          <a:bodyPr wrap="square" lIns="0" tIns="0" rIns="0" bIns="0" rtlCol="0" anchor="ctr"/>
          <a:lstStyle/>
          <a:p>
            <a:pPr marL="0" indent="0" algn="ctr">
              <a:buNone/>
            </a:pPr>
            <a:r>
              <a:rPr lang="en-US" sz="1400" b="1" dirty="0">
                <a:solidFill>
                  <a:schemeClr val="bg1"/>
                </a:solidFill>
              </a:rPr>
              <a:t>MultiBlocProvider</a:t>
            </a:r>
            <a:endParaRPr lang="en-US" sz="1400" dirty="0"/>
          </a:p>
        </p:txBody>
      </p:sp>
      <p:sp>
        <p:nvSpPr>
          <p:cNvPr id="7" name="Node BlocBuilder&lt;TemaCubit&gt;"/>
          <p:cNvSpPr/>
          <p:nvPr/>
        </p:nvSpPr>
        <p:spPr>
          <a:xfrm>
            <a:off x="1024128" y="2377440"/>
            <a:ext cx="3246120" cy="420624"/>
          </a:xfrm>
          <a:prstGeom prst="roundRect">
            <a:avLst>
              <a:gd name="adj" fmla="val 21739"/>
            </a:avLst>
          </a:prstGeom>
          <a:solidFill>
            <a:schemeClr val="accent4"/>
          </a:solidFill>
          <a:ln w="6350">
            <a:solidFill>
              <a:schemeClr val="accent4"/>
            </a:solidFill>
            <a:prstDash val="solid"/>
          </a:ln>
        </p:spPr>
      </p:sp>
      <p:sp>
        <p:nvSpPr>
          <p:cNvPr id="8" name="Teks node BlocBuilder&amp;lt;TemaCubit&amp;gt;"/>
          <p:cNvSpPr txBox="1"/>
          <p:nvPr/>
        </p:nvSpPr>
        <p:spPr>
          <a:xfrm>
            <a:off x="1024128" y="2377440"/>
            <a:ext cx="3246120" cy="420624"/>
          </a:xfrm>
          <a:prstGeom prst="rect">
            <a:avLst/>
          </a:prstGeom>
          <a:noFill/>
        </p:spPr>
        <p:txBody>
          <a:bodyPr wrap="square" lIns="0" tIns="0" rIns="0" bIns="0" rtlCol="0" anchor="ctr"/>
          <a:lstStyle/>
          <a:p>
            <a:pPr marL="0" indent="0" algn="ctr">
              <a:buNone/>
            </a:pPr>
            <a:r>
              <a:rPr lang="en-US" sz="1400" b="1" dirty="0">
                <a:solidFill>
                  <a:schemeClr val="bg1"/>
                </a:solidFill>
              </a:rPr>
              <a:t>BlocBuilder&lt;TemaCubit&gt;</a:t>
            </a:r>
            <a:endParaRPr lang="en-US" sz="1400" dirty="0"/>
          </a:p>
        </p:txBody>
      </p:sp>
      <p:sp>
        <p:nvSpPr>
          <p:cNvPr id="9" name="Node MaterialApp"/>
          <p:cNvSpPr/>
          <p:nvPr/>
        </p:nvSpPr>
        <p:spPr>
          <a:xfrm>
            <a:off x="1261872" y="2926080"/>
            <a:ext cx="3246120" cy="420624"/>
          </a:xfrm>
          <a:prstGeom prst="roundRect">
            <a:avLst>
              <a:gd name="adj" fmla="val 21739"/>
            </a:avLst>
          </a:prstGeom>
          <a:solidFill>
            <a:schemeClr val="accent1"/>
          </a:solidFill>
          <a:ln w="6350">
            <a:solidFill>
              <a:schemeClr val="accent1"/>
            </a:solidFill>
            <a:prstDash val="solid"/>
          </a:ln>
        </p:spPr>
      </p:sp>
      <p:sp>
        <p:nvSpPr>
          <p:cNvPr id="10" name="Teks node MaterialApp"/>
          <p:cNvSpPr txBox="1"/>
          <p:nvPr/>
        </p:nvSpPr>
        <p:spPr>
          <a:xfrm>
            <a:off x="1261872" y="2926080"/>
            <a:ext cx="3246120" cy="420624"/>
          </a:xfrm>
          <a:prstGeom prst="rect">
            <a:avLst/>
          </a:prstGeom>
          <a:noFill/>
        </p:spPr>
        <p:txBody>
          <a:bodyPr wrap="square" lIns="0" tIns="0" rIns="0" bIns="0" rtlCol="0" anchor="ctr"/>
          <a:lstStyle/>
          <a:p>
            <a:pPr marL="0" indent="0" algn="ctr">
              <a:buNone/>
            </a:pPr>
            <a:r>
              <a:rPr lang="en-US" sz="1400" b="1" dirty="0">
                <a:solidFill>
                  <a:schemeClr val="bg1"/>
                </a:solidFill>
              </a:rPr>
              <a:t>MaterialApp</a:t>
            </a:r>
            <a:endParaRPr lang="en-US" sz="1400" dirty="0"/>
          </a:p>
        </p:txBody>
      </p:sp>
      <p:sp>
        <p:nvSpPr>
          <p:cNvPr id="11" name="Node KerangkaHalaman"/>
          <p:cNvSpPr/>
          <p:nvPr/>
        </p:nvSpPr>
        <p:spPr>
          <a:xfrm>
            <a:off x="1499616" y="3474720"/>
            <a:ext cx="3246120" cy="420624"/>
          </a:xfrm>
          <a:prstGeom prst="roundRect">
            <a:avLst>
              <a:gd name="adj" fmla="val 21739"/>
            </a:avLst>
          </a:prstGeom>
          <a:solidFill>
            <a:schemeClr val="accent6"/>
          </a:solidFill>
          <a:ln w="6350">
            <a:solidFill>
              <a:schemeClr val="accent6"/>
            </a:solidFill>
            <a:prstDash val="solid"/>
          </a:ln>
        </p:spPr>
      </p:sp>
      <p:sp>
        <p:nvSpPr>
          <p:cNvPr id="12" name="Teks node KerangkaHalaman"/>
          <p:cNvSpPr txBox="1"/>
          <p:nvPr/>
        </p:nvSpPr>
        <p:spPr>
          <a:xfrm>
            <a:off x="1499616" y="3474720"/>
            <a:ext cx="3246120" cy="420624"/>
          </a:xfrm>
          <a:prstGeom prst="rect">
            <a:avLst/>
          </a:prstGeom>
          <a:noFill/>
        </p:spPr>
        <p:txBody>
          <a:bodyPr wrap="square" lIns="0" tIns="0" rIns="0" bIns="0" rtlCol="0" anchor="ctr"/>
          <a:lstStyle/>
          <a:p>
            <a:pPr marL="0" indent="0" algn="ctr">
              <a:buNone/>
            </a:pPr>
            <a:r>
              <a:rPr lang="en-US" sz="1400" b="1" dirty="0">
                <a:solidFill>
                  <a:schemeClr val="bg1"/>
                </a:solidFill>
              </a:rPr>
              <a:t>KerangkaHalaman</a:t>
            </a:r>
            <a:endParaRPr lang="en-US" sz="1400" dirty="0"/>
          </a:p>
        </p:txBody>
      </p:sp>
      <p:sp>
        <p:nvSpPr>
          <p:cNvPr id="13" name="Node Beranda  |  Hitung Antrian"/>
          <p:cNvSpPr/>
          <p:nvPr/>
        </p:nvSpPr>
        <p:spPr>
          <a:xfrm>
            <a:off x="1737360" y="4023360"/>
            <a:ext cx="3246120" cy="420624"/>
          </a:xfrm>
          <a:prstGeom prst="roundRect">
            <a:avLst>
              <a:gd name="adj" fmla="val 21739"/>
            </a:avLst>
          </a:prstGeom>
          <a:solidFill>
            <a:schemeClr val="accent2"/>
          </a:solidFill>
          <a:ln w="6350">
            <a:solidFill>
              <a:schemeClr val="accent2"/>
            </a:solidFill>
            <a:prstDash val="solid"/>
          </a:ln>
        </p:spPr>
      </p:sp>
      <p:sp>
        <p:nvSpPr>
          <p:cNvPr id="14" name="Teks node Beranda  |  Hitung Antrian"/>
          <p:cNvSpPr txBox="1"/>
          <p:nvPr/>
        </p:nvSpPr>
        <p:spPr>
          <a:xfrm>
            <a:off x="1737360" y="4023360"/>
            <a:ext cx="3246120" cy="420624"/>
          </a:xfrm>
          <a:prstGeom prst="rect">
            <a:avLst/>
          </a:prstGeom>
          <a:noFill/>
        </p:spPr>
        <p:txBody>
          <a:bodyPr wrap="square" lIns="0" tIns="0" rIns="0" bIns="0" rtlCol="0" anchor="ctr"/>
          <a:lstStyle/>
          <a:p>
            <a:pPr marL="0" indent="0" algn="ctr">
              <a:buNone/>
            </a:pPr>
            <a:r>
              <a:rPr lang="en-US" sz="1400" b="1" dirty="0">
                <a:solidFill>
                  <a:schemeClr val="tx1"/>
                </a:solidFill>
              </a:rPr>
              <a:t>Beranda  |  Hitung Antrian</a:t>
            </a:r>
            <a:endParaRPr lang="en-US" sz="1400" dirty="0"/>
          </a:p>
        </p:txBody>
      </p:sp>
      <p:sp>
        <p:nvSpPr>
          <p:cNvPr id="15" name="Ikon provider (latar)"/>
          <p:cNvSpPr/>
          <p:nvPr/>
        </p:nvSpPr>
        <p:spPr>
          <a:xfrm>
            <a:off x="4846320" y="1325880"/>
            <a:ext cx="530352" cy="530352"/>
          </a:xfrm>
          <a:prstGeom prst="ellipse">
            <a:avLst/>
          </a:prstGeom>
          <a:solidFill>
            <a:schemeClr val="accent3"/>
          </a:solidFill>
          <a:ln w="6350">
            <a:solidFill>
              <a:schemeClr val="accent3"/>
            </a:solidFill>
            <a:prstDash val="solid"/>
          </a:ln>
        </p:spPr>
      </p:sp>
      <p:pic>
        <p:nvPicPr>
          <p:cNvPr id="16" name="Ikon provider" descr="Ikon provider"/>
          <p:cNvPicPr>
            <a:picLocks noChangeAspect="1"/>
          </p:cNvPicPr>
          <p:nvPr/>
        </p:nvPicPr>
        <p:blipFill>
          <a:blip r:embed="rId1"/>
          <a:stretch>
            <a:fillRect/>
          </a:stretch>
        </p:blipFill>
        <p:spPr>
          <a:xfrm>
            <a:off x="4978908" y="1458468"/>
            <a:ext cx="265176" cy="265176"/>
          </a:xfrm>
          <a:prstGeom prst="rect">
            <a:avLst/>
          </a:prstGeom>
        </p:spPr>
      </p:pic>
      <p:sp>
        <p:nvSpPr>
          <p:cNvPr id="17" name="Judul Ikon provider"/>
          <p:cNvSpPr txBox="1"/>
          <p:nvPr/>
        </p:nvSpPr>
        <p:spPr>
          <a:xfrm>
            <a:off x="5559552" y="1280160"/>
            <a:ext cx="3017520" cy="274320"/>
          </a:xfrm>
          <a:prstGeom prst="rect">
            <a:avLst/>
          </a:prstGeom>
          <a:noFill/>
        </p:spPr>
        <p:txBody>
          <a:bodyPr wrap="square" lIns="0" tIns="0" rIns="0" bIns="0" rtlCol="0" anchor="t"/>
          <a:lstStyle/>
          <a:p>
            <a:pPr marL="0" indent="0">
              <a:buNone/>
            </a:pPr>
            <a:r>
              <a:rPr lang="en-US" sz="1600" b="1" dirty="0">
                <a:solidFill>
                  <a:schemeClr val="tx2"/>
                </a:solidFill>
              </a:rPr>
              <a:t>Provider di puncak</a:t>
            </a:r>
            <a:endParaRPr lang="en-US" sz="1600" dirty="0"/>
          </a:p>
        </p:txBody>
      </p:sp>
      <p:sp>
        <p:nvSpPr>
          <p:cNvPr id="18" name="Isi Ikon provider"/>
          <p:cNvSpPr txBox="1"/>
          <p:nvPr/>
        </p:nvSpPr>
        <p:spPr>
          <a:xfrm>
            <a:off x="5559552" y="1572768"/>
            <a:ext cx="3017520" cy="667512"/>
          </a:xfrm>
          <a:prstGeom prst="rect">
            <a:avLst/>
          </a:prstGeom>
          <a:noFill/>
        </p:spPr>
        <p:txBody>
          <a:bodyPr wrap="square" lIns="0" tIns="0" rIns="0" bIns="0" rtlCol="0" anchor="t"/>
          <a:lstStyle/>
          <a:p>
            <a:pPr marL="0" indent="0">
              <a:buNone/>
            </a:pPr>
            <a:r>
              <a:rPr lang="en-US" sz="1400" dirty="0">
                <a:solidFill>
                  <a:schemeClr val="tx1"/>
                </a:solidFill>
              </a:rPr>
              <a:t>Kedua Cubit dipakai bersama oleh semua halaman.</a:t>
            </a:r>
            <a:endParaRPr lang="en-US" sz="1400" dirty="0"/>
          </a:p>
        </p:txBody>
      </p:sp>
      <p:sp>
        <p:nvSpPr>
          <p:cNvPr id="19" name="Ikon tema (latar)"/>
          <p:cNvSpPr/>
          <p:nvPr/>
        </p:nvSpPr>
        <p:spPr>
          <a:xfrm>
            <a:off x="4846320" y="2423160"/>
            <a:ext cx="530352" cy="530352"/>
          </a:xfrm>
          <a:prstGeom prst="ellipse">
            <a:avLst/>
          </a:prstGeom>
          <a:solidFill>
            <a:schemeClr val="accent4"/>
          </a:solidFill>
          <a:ln w="6350">
            <a:solidFill>
              <a:schemeClr val="accent4"/>
            </a:solidFill>
            <a:prstDash val="solid"/>
          </a:ln>
        </p:spPr>
      </p:sp>
      <p:pic>
        <p:nvPicPr>
          <p:cNvPr id="20" name="Ikon tema" descr="Ikon tema"/>
          <p:cNvPicPr>
            <a:picLocks noChangeAspect="1"/>
          </p:cNvPicPr>
          <p:nvPr/>
        </p:nvPicPr>
        <p:blipFill>
          <a:blip r:embed="rId2"/>
          <a:stretch>
            <a:fillRect/>
          </a:stretch>
        </p:blipFill>
        <p:spPr>
          <a:xfrm>
            <a:off x="4978908" y="2555748"/>
            <a:ext cx="265176" cy="265176"/>
          </a:xfrm>
          <a:prstGeom prst="rect">
            <a:avLst/>
          </a:prstGeom>
        </p:spPr>
      </p:pic>
      <p:sp>
        <p:nvSpPr>
          <p:cNvPr id="21" name="Judul Ikon tema"/>
          <p:cNvSpPr txBox="1"/>
          <p:nvPr/>
        </p:nvSpPr>
        <p:spPr>
          <a:xfrm>
            <a:off x="5559552" y="2377440"/>
            <a:ext cx="3017520" cy="274320"/>
          </a:xfrm>
          <a:prstGeom prst="rect">
            <a:avLst/>
          </a:prstGeom>
          <a:noFill/>
        </p:spPr>
        <p:txBody>
          <a:bodyPr wrap="square" lIns="0" tIns="0" rIns="0" bIns="0" rtlCol="0" anchor="t"/>
          <a:lstStyle/>
          <a:p>
            <a:pPr marL="0" indent="0">
              <a:buNone/>
            </a:pPr>
            <a:r>
              <a:rPr lang="en-US" sz="1600" b="1" dirty="0">
                <a:solidFill>
                  <a:schemeClr val="tx2"/>
                </a:solidFill>
              </a:rPr>
              <a:t>Tema reaktif</a:t>
            </a:r>
            <a:endParaRPr lang="en-US" sz="1600" dirty="0"/>
          </a:p>
        </p:txBody>
      </p:sp>
      <p:sp>
        <p:nvSpPr>
          <p:cNvPr id="22" name="Isi Ikon tema"/>
          <p:cNvSpPr txBox="1"/>
          <p:nvPr/>
        </p:nvSpPr>
        <p:spPr>
          <a:xfrm>
            <a:off x="5559552" y="2670048"/>
            <a:ext cx="3017520" cy="667512"/>
          </a:xfrm>
          <a:prstGeom prst="rect">
            <a:avLst/>
          </a:prstGeom>
          <a:noFill/>
        </p:spPr>
        <p:txBody>
          <a:bodyPr wrap="square" lIns="0" tIns="0" rIns="0" bIns="0" rtlCol="0" anchor="t"/>
          <a:lstStyle/>
          <a:p>
            <a:pPr marL="0" indent="0">
              <a:buNone/>
            </a:pPr>
            <a:r>
              <a:rPr lang="en-US" sz="1400" dirty="0">
                <a:solidFill>
                  <a:schemeClr val="tx1"/>
                </a:solidFill>
              </a:rPr>
              <a:t>MaterialApp dibangun ulang saat tema berubah.</a:t>
            </a:r>
            <a:endParaRPr lang="en-US" sz="1400" dirty="0"/>
          </a:p>
        </p:txBody>
      </p:sp>
      <p:sp>
        <p:nvSpPr>
          <p:cNvPr id="23" name="Ikon kerangka (latar)"/>
          <p:cNvSpPr/>
          <p:nvPr/>
        </p:nvSpPr>
        <p:spPr>
          <a:xfrm>
            <a:off x="4846320" y="3520440"/>
            <a:ext cx="530352" cy="530352"/>
          </a:xfrm>
          <a:prstGeom prst="ellipse">
            <a:avLst/>
          </a:prstGeom>
          <a:solidFill>
            <a:schemeClr val="accent6"/>
          </a:solidFill>
          <a:ln w="6350">
            <a:solidFill>
              <a:schemeClr val="accent6"/>
            </a:solidFill>
            <a:prstDash val="solid"/>
          </a:ln>
        </p:spPr>
      </p:sp>
      <p:pic>
        <p:nvPicPr>
          <p:cNvPr id="24" name="Ikon kerangka" descr="Ikon kerangka"/>
          <p:cNvPicPr>
            <a:picLocks noChangeAspect="1"/>
          </p:cNvPicPr>
          <p:nvPr/>
        </p:nvPicPr>
        <p:blipFill>
          <a:blip r:embed="rId3"/>
          <a:stretch>
            <a:fillRect/>
          </a:stretch>
        </p:blipFill>
        <p:spPr>
          <a:xfrm>
            <a:off x="4978908" y="3653028"/>
            <a:ext cx="265176" cy="265176"/>
          </a:xfrm>
          <a:prstGeom prst="rect">
            <a:avLst/>
          </a:prstGeom>
        </p:spPr>
      </p:pic>
      <p:sp>
        <p:nvSpPr>
          <p:cNvPr id="25" name="Judul Ikon kerangka"/>
          <p:cNvSpPr txBox="1"/>
          <p:nvPr/>
        </p:nvSpPr>
        <p:spPr>
          <a:xfrm>
            <a:off x="5559552" y="3474720"/>
            <a:ext cx="3017520" cy="274320"/>
          </a:xfrm>
          <a:prstGeom prst="rect">
            <a:avLst/>
          </a:prstGeom>
          <a:noFill/>
        </p:spPr>
        <p:txBody>
          <a:bodyPr wrap="square" lIns="0" tIns="0" rIns="0" bIns="0" rtlCol="0" anchor="t"/>
          <a:lstStyle/>
          <a:p>
            <a:pPr marL="0" indent="0">
              <a:buNone/>
            </a:pPr>
            <a:r>
              <a:rPr lang="en-US" sz="1600" b="1" dirty="0">
                <a:solidFill>
                  <a:schemeClr val="tx2"/>
                </a:solidFill>
              </a:rPr>
              <a:t>Kerangka seragam</a:t>
            </a:r>
            <a:endParaRPr lang="en-US" sz="1600" dirty="0"/>
          </a:p>
        </p:txBody>
      </p:sp>
      <p:sp>
        <p:nvSpPr>
          <p:cNvPr id="26" name="Isi Ikon kerangka"/>
          <p:cNvSpPr txBox="1"/>
          <p:nvPr/>
        </p:nvSpPr>
        <p:spPr>
          <a:xfrm>
            <a:off x="5559552" y="3767328"/>
            <a:ext cx="3017520" cy="667512"/>
          </a:xfrm>
          <a:prstGeom prst="rect">
            <a:avLst/>
          </a:prstGeom>
          <a:noFill/>
        </p:spPr>
        <p:txBody>
          <a:bodyPr wrap="square" lIns="0" tIns="0" rIns="0" bIns="0" rtlCol="0" anchor="t"/>
          <a:lstStyle/>
          <a:p>
            <a:pPr marL="0" indent="0">
              <a:buNone/>
            </a:pPr>
            <a:r>
              <a:rPr lang="en-US" sz="1400" dirty="0">
                <a:solidFill>
                  <a:schemeClr val="tx1"/>
                </a:solidFill>
              </a:rPr>
              <a:t>AppBar, Drawer, dan latar sama di setiap halaman.</a:t>
            </a:r>
            <a:endParaRPr lang="en-US" sz="1400" dirty="0"/>
          </a:p>
        </p:txBody>
      </p:sp>
      <p:sp>
        <p:nvSpPr>
          <p:cNvPr id="27"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Cubit untuk Tema</a:t>
            </a:r>
            <a:endParaRPr lang="en-US" sz="3400" dirty="0"/>
          </a:p>
        </p:txBody>
      </p:sp>
      <p:sp>
        <p:nvSpPr>
          <p:cNvPr id="3" name="Kode TemaCubit (latar)"/>
          <p:cNvSpPr/>
          <p:nvPr/>
        </p:nvSpPr>
        <p:spPr>
          <a:xfrm>
            <a:off x="548640" y="1280160"/>
            <a:ext cx="5120640" cy="3291840"/>
          </a:xfrm>
          <a:prstGeom prst="roundRect">
            <a:avLst>
              <a:gd name="adj" fmla="val 2778"/>
            </a:avLst>
          </a:prstGeom>
          <a:solidFill>
            <a:schemeClr val="tx2"/>
          </a:solidFill>
          <a:ln w="6350">
            <a:solidFill>
              <a:schemeClr val="tx2"/>
            </a:solidFill>
            <a:prstDash val="solid"/>
          </a:ln>
        </p:spPr>
      </p:sp>
      <p:sp>
        <p:nvSpPr>
          <p:cNvPr id="4" name="Kode TemaCubit"/>
          <p:cNvSpPr txBox="1"/>
          <p:nvPr/>
        </p:nvSpPr>
        <p:spPr>
          <a:xfrm>
            <a:off x="713232" y="1408176"/>
            <a:ext cx="4791456" cy="3035808"/>
          </a:xfrm>
          <a:prstGeom prst="rect">
            <a:avLst/>
          </a:prstGeom>
          <a:noFill/>
        </p:spPr>
        <p:txBody>
          <a:bodyPr wrap="square" lIns="0" tIns="0" rIns="0" bIns="0" rtlCol="0" anchor="t"/>
          <a:lstStyle/>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class TemaCubit extends Cubit&lt;TemaState&gt;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TemaCubit() : super(const TemaState());</a:t>
            </a:r>
            <a:endParaRPr lang="en-US" sz="1100" dirty="0"/>
          </a:p>
          <a:p>
            <a:pPr marL="0" indent="0">
              <a:buNone/>
            </a:pP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void ubahMode(ThemeMode mode)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if (isClosed || mode == state.mode) return;</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emit(state.copyWith(mode: mode));</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buNone/>
            </a:pP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void ubahWarna(int indeks)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if (isClosed) return;</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valid = indeks &gt;= 0 &amp;&amp;</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indeks &lt; daftarWarna.length;</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if (!valid) return;</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emit(state.copyWith(indeksWarna: indeks));</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5" name="Ikon mode (latar)"/>
          <p:cNvSpPr/>
          <p:nvPr/>
        </p:nvSpPr>
        <p:spPr>
          <a:xfrm>
            <a:off x="5943600" y="1325880"/>
            <a:ext cx="530352" cy="530352"/>
          </a:xfrm>
          <a:prstGeom prst="ellipse">
            <a:avLst/>
          </a:prstGeom>
          <a:solidFill>
            <a:schemeClr val="accent4"/>
          </a:solidFill>
          <a:ln w="6350">
            <a:solidFill>
              <a:schemeClr val="accent4"/>
            </a:solidFill>
            <a:prstDash val="solid"/>
          </a:ln>
        </p:spPr>
      </p:sp>
      <p:pic>
        <p:nvPicPr>
          <p:cNvPr id="6" name="Ikon mode" descr="Ikon mode"/>
          <p:cNvPicPr>
            <a:picLocks noChangeAspect="1"/>
          </p:cNvPicPr>
          <p:nvPr/>
        </p:nvPicPr>
        <p:blipFill>
          <a:blip r:embed="rId1"/>
          <a:stretch>
            <a:fillRect/>
          </a:stretch>
        </p:blipFill>
        <p:spPr>
          <a:xfrm>
            <a:off x="6076188" y="1458468"/>
            <a:ext cx="265176" cy="265176"/>
          </a:xfrm>
          <a:prstGeom prst="rect">
            <a:avLst/>
          </a:prstGeom>
        </p:spPr>
      </p:pic>
      <p:sp>
        <p:nvSpPr>
          <p:cNvPr id="7" name="Judul Ikon mode"/>
          <p:cNvSpPr txBox="1"/>
          <p:nvPr/>
        </p:nvSpPr>
        <p:spPr>
          <a:xfrm>
            <a:off x="6656832" y="1280160"/>
            <a:ext cx="2011680" cy="274320"/>
          </a:xfrm>
          <a:prstGeom prst="rect">
            <a:avLst/>
          </a:prstGeom>
          <a:noFill/>
        </p:spPr>
        <p:txBody>
          <a:bodyPr wrap="square" lIns="0" tIns="0" rIns="0" bIns="0" rtlCol="0" anchor="t"/>
          <a:lstStyle/>
          <a:p>
            <a:pPr marL="0" indent="0">
              <a:buNone/>
            </a:pPr>
            <a:r>
              <a:rPr lang="en-US" sz="1600" b="1" dirty="0">
                <a:solidFill>
                  <a:schemeClr val="tx2"/>
                </a:solidFill>
              </a:rPr>
              <a:t>Mode tema</a:t>
            </a:r>
            <a:endParaRPr lang="en-US" sz="1600" dirty="0"/>
          </a:p>
        </p:txBody>
      </p:sp>
      <p:sp>
        <p:nvSpPr>
          <p:cNvPr id="8" name="Isi Ikon mode"/>
          <p:cNvSpPr txBox="1"/>
          <p:nvPr/>
        </p:nvSpPr>
        <p:spPr>
          <a:xfrm>
            <a:off x="6656832" y="1572768"/>
            <a:ext cx="2011680" cy="804672"/>
          </a:xfrm>
          <a:prstGeom prst="rect">
            <a:avLst/>
          </a:prstGeom>
          <a:noFill/>
        </p:spPr>
        <p:txBody>
          <a:bodyPr wrap="square" lIns="0" tIns="0" rIns="0" bIns="0" rtlCol="0" anchor="t"/>
          <a:lstStyle/>
          <a:p>
            <a:pPr marL="0" indent="0">
              <a:buNone/>
            </a:pPr>
            <a:r>
              <a:rPr lang="en-US" sz="1400" dirty="0">
                <a:solidFill>
                  <a:schemeClr val="tx1"/>
                </a:solidFill>
              </a:rPr>
              <a:t>Terang, gelap, atau ikut sistem.</a:t>
            </a:r>
            <a:endParaRPr lang="en-US" sz="1400" dirty="0"/>
          </a:p>
        </p:txBody>
      </p:sp>
      <p:sp>
        <p:nvSpPr>
          <p:cNvPr id="9" name="Ikon warna (latar)"/>
          <p:cNvSpPr/>
          <p:nvPr/>
        </p:nvSpPr>
        <p:spPr>
          <a:xfrm>
            <a:off x="5943600" y="2514600"/>
            <a:ext cx="530352" cy="530352"/>
          </a:xfrm>
          <a:prstGeom prst="ellipse">
            <a:avLst/>
          </a:prstGeom>
          <a:solidFill>
            <a:schemeClr val="accent1"/>
          </a:solidFill>
          <a:ln w="6350">
            <a:solidFill>
              <a:schemeClr val="accent1"/>
            </a:solidFill>
            <a:prstDash val="solid"/>
          </a:ln>
        </p:spPr>
      </p:sp>
      <p:pic>
        <p:nvPicPr>
          <p:cNvPr id="10" name="Ikon warna" descr="Ikon warna"/>
          <p:cNvPicPr>
            <a:picLocks noChangeAspect="1"/>
          </p:cNvPicPr>
          <p:nvPr/>
        </p:nvPicPr>
        <p:blipFill>
          <a:blip r:embed="rId2"/>
          <a:stretch>
            <a:fillRect/>
          </a:stretch>
        </p:blipFill>
        <p:spPr>
          <a:xfrm>
            <a:off x="6076188" y="2647188"/>
            <a:ext cx="265176" cy="265176"/>
          </a:xfrm>
          <a:prstGeom prst="rect">
            <a:avLst/>
          </a:prstGeom>
        </p:spPr>
      </p:pic>
      <p:sp>
        <p:nvSpPr>
          <p:cNvPr id="11" name="Judul Ikon warna"/>
          <p:cNvSpPr txBox="1"/>
          <p:nvPr/>
        </p:nvSpPr>
        <p:spPr>
          <a:xfrm>
            <a:off x="6656832" y="2468880"/>
            <a:ext cx="2011680" cy="274320"/>
          </a:xfrm>
          <a:prstGeom prst="rect">
            <a:avLst/>
          </a:prstGeom>
          <a:noFill/>
        </p:spPr>
        <p:txBody>
          <a:bodyPr wrap="square" lIns="0" tIns="0" rIns="0" bIns="0" rtlCol="0" anchor="t"/>
          <a:lstStyle/>
          <a:p>
            <a:pPr marL="0" indent="0">
              <a:buNone/>
            </a:pPr>
            <a:r>
              <a:rPr lang="en-US" sz="1600" b="1" dirty="0">
                <a:solidFill>
                  <a:schemeClr val="tx2"/>
                </a:solidFill>
              </a:rPr>
              <a:t>Warna tema</a:t>
            </a:r>
            <a:endParaRPr lang="en-US" sz="1600" dirty="0"/>
          </a:p>
        </p:txBody>
      </p:sp>
      <p:sp>
        <p:nvSpPr>
          <p:cNvPr id="12" name="Isi Ikon warna"/>
          <p:cNvSpPr txBox="1"/>
          <p:nvPr/>
        </p:nvSpPr>
        <p:spPr>
          <a:xfrm>
            <a:off x="6656832" y="2761488"/>
            <a:ext cx="2011680" cy="804672"/>
          </a:xfrm>
          <a:prstGeom prst="rect">
            <a:avLst/>
          </a:prstGeom>
          <a:noFill/>
        </p:spPr>
        <p:txBody>
          <a:bodyPr wrap="square" lIns="0" tIns="0" rIns="0" bIns="0" rtlCol="0" anchor="t"/>
          <a:lstStyle/>
          <a:p>
            <a:pPr marL="0" indent="0">
              <a:buNone/>
            </a:pPr>
            <a:r>
              <a:rPr lang="en-US" sz="1400" dirty="0">
                <a:solidFill>
                  <a:schemeClr val="tx1"/>
                </a:solidFill>
              </a:rPr>
              <a:t>Indeks di luar daftar diabaikan.</a:t>
            </a:r>
            <a:endParaRPr lang="en-US" sz="1400" dirty="0"/>
          </a:p>
        </p:txBody>
      </p:sp>
      <p:sp>
        <p:nvSpPr>
          <p:cNvPr id="13" name="Catatan kode"/>
          <p:cNvSpPr txBox="1"/>
          <p:nvPr/>
        </p:nvSpPr>
        <p:spPr>
          <a:xfrm>
            <a:off x="5943600" y="4023360"/>
            <a:ext cx="2651760" cy="457200"/>
          </a:xfrm>
          <a:prstGeom prst="rect">
            <a:avLst/>
          </a:prstGeom>
          <a:noFill/>
        </p:spPr>
        <p:txBody>
          <a:bodyPr wrap="square" lIns="0" tIns="0" rIns="0" bIns="0" rtlCol="0" anchor="t"/>
          <a:lstStyle/>
          <a:p>
            <a:pPr marL="0" indent="0">
              <a:buNone/>
            </a:pPr>
            <a:r>
              <a:rPr lang="en-US" sz="1200" i="1" dirty="0">
                <a:solidFill>
                  <a:srgbClr val="5E7F7B"/>
                </a:solidFill>
              </a:rPr>
              <a:t>Kode disederhanakan dari cubit/tema_cubit.dart.</a:t>
            </a:r>
            <a:endParaRPr lang="en-US" sz="12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Cubit untuk Antrian</a:t>
            </a:r>
            <a:endParaRPr lang="en-US" sz="3400" dirty="0"/>
          </a:p>
        </p:txBody>
      </p:sp>
      <p:sp>
        <p:nvSpPr>
          <p:cNvPr id="3" name="Kode AntrianCubit (latar)"/>
          <p:cNvSpPr/>
          <p:nvPr/>
        </p:nvSpPr>
        <p:spPr>
          <a:xfrm>
            <a:off x="548640" y="1280160"/>
            <a:ext cx="5120640" cy="3291840"/>
          </a:xfrm>
          <a:prstGeom prst="roundRect">
            <a:avLst>
              <a:gd name="adj" fmla="val 2778"/>
            </a:avLst>
          </a:prstGeom>
          <a:solidFill>
            <a:schemeClr val="tx2"/>
          </a:solidFill>
          <a:ln w="6350">
            <a:solidFill>
              <a:schemeClr val="tx2"/>
            </a:solidFill>
            <a:prstDash val="solid"/>
          </a:ln>
        </p:spPr>
      </p:sp>
      <p:sp>
        <p:nvSpPr>
          <p:cNvPr id="4" name="Kode AntrianCubit"/>
          <p:cNvSpPr txBox="1"/>
          <p:nvPr/>
        </p:nvSpPr>
        <p:spPr>
          <a:xfrm>
            <a:off x="713232" y="1408176"/>
            <a:ext cx="4791456" cy="3035808"/>
          </a:xfrm>
          <a:prstGeom prst="rect">
            <a:avLst/>
          </a:prstGeom>
          <a:noFill/>
        </p:spPr>
        <p:txBody>
          <a:bodyPr wrap="square" lIns="0" tIns="0" rIns="0" bIns="0" rtlCol="0" anchor="t"/>
          <a:lstStyle/>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void ambilNomor()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if (state.nomorTerakhir &gt;=</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Konfigurasi.nomorMaksimal)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_kirim(state, 'Nomor sudah mencapai batas.',</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JenisPesan.galat);</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return;</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baru = state.nomorTerakhir + 1;</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_kirim(</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state.copyWith(</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nomorTerakhir: baru,</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menunggu: [...state.menunggu, baru]),</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'Nomor ${formatNomor(baru)} berhasil diambil.',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JenisPesan.sukses);</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5" name="Method ambilNomor()"/>
          <p:cNvSpPr txBox="1"/>
          <p:nvPr/>
        </p:nvSpPr>
        <p:spPr>
          <a:xfrm>
            <a:off x="5943600" y="1280160"/>
            <a:ext cx="2651760" cy="274320"/>
          </a:xfrm>
          <a:prstGeom prst="rect">
            <a:avLst/>
          </a:prstGeom>
          <a:noFill/>
        </p:spPr>
        <p:txBody>
          <a:bodyPr wrap="square" lIns="0" tIns="0" rIns="0" bIns="0" rtlCol="0" anchor="t"/>
          <a:lstStyle/>
          <a:p>
            <a:pPr marL="0" indent="0">
              <a:buNone/>
            </a:pPr>
            <a:r>
              <a:rPr lang="en-US" sz="1500" b="1" dirty="0">
                <a:solidFill>
                  <a:schemeClr val="accent1"/>
                </a:solidFill>
                <a:latin typeface="Courier New" panose="02070309020205020404" pitchFamily="34" charset="0"/>
                <a:ea typeface="Courier New" panose="02070309020205020404" pitchFamily="34" charset="-122"/>
                <a:cs typeface="Courier New" panose="02070309020205020404" pitchFamily="34" charset="-120"/>
              </a:rPr>
              <a:t>ambilNomor()</a:t>
            </a:r>
            <a:endParaRPr lang="en-US" sz="1500" dirty="0"/>
          </a:p>
        </p:txBody>
      </p:sp>
      <p:sp>
        <p:nvSpPr>
          <p:cNvPr id="6" name="Fungsi ambilNomor()"/>
          <p:cNvSpPr txBox="1"/>
          <p:nvPr/>
        </p:nvSpPr>
        <p:spPr>
          <a:xfrm>
            <a:off x="5943600" y="1572768"/>
            <a:ext cx="2651760" cy="457200"/>
          </a:xfrm>
          <a:prstGeom prst="rect">
            <a:avLst/>
          </a:prstGeom>
          <a:noFill/>
        </p:spPr>
        <p:txBody>
          <a:bodyPr wrap="square" lIns="0" tIns="0" rIns="0" bIns="0" rtlCol="0" anchor="t"/>
          <a:lstStyle/>
          <a:p>
            <a:pPr marL="0" indent="0">
              <a:buNone/>
            </a:pPr>
            <a:r>
              <a:rPr lang="en-US" sz="1400" dirty="0">
                <a:solidFill>
                  <a:schemeClr val="tx1"/>
                </a:solidFill>
              </a:rPr>
              <a:t>Menambah nomor ke daftar menunggu.</a:t>
            </a:r>
            <a:endParaRPr lang="en-US" sz="1400" dirty="0"/>
          </a:p>
        </p:txBody>
      </p:sp>
      <p:sp>
        <p:nvSpPr>
          <p:cNvPr id="7" name="Method panggilBerikutnya()"/>
          <p:cNvSpPr txBox="1"/>
          <p:nvPr/>
        </p:nvSpPr>
        <p:spPr>
          <a:xfrm>
            <a:off x="5943600" y="2103120"/>
            <a:ext cx="2651760" cy="274320"/>
          </a:xfrm>
          <a:prstGeom prst="rect">
            <a:avLst/>
          </a:prstGeom>
          <a:noFill/>
        </p:spPr>
        <p:txBody>
          <a:bodyPr wrap="square" lIns="0" tIns="0" rIns="0" bIns="0" rtlCol="0" anchor="t"/>
          <a:lstStyle/>
          <a:p>
            <a:pPr marL="0" indent="0">
              <a:buNone/>
            </a:pPr>
            <a:r>
              <a:rPr lang="en-US" sz="1500" b="1" dirty="0">
                <a:solidFill>
                  <a:schemeClr val="accent1"/>
                </a:solidFill>
                <a:latin typeface="Courier New" panose="02070309020205020404" pitchFamily="34" charset="0"/>
                <a:ea typeface="Courier New" panose="02070309020205020404" pitchFamily="34" charset="-122"/>
                <a:cs typeface="Courier New" panose="02070309020205020404" pitchFamily="34" charset="-120"/>
              </a:rPr>
              <a:t>panggilBerikutnya()</a:t>
            </a:r>
            <a:endParaRPr lang="en-US" sz="1500" dirty="0"/>
          </a:p>
        </p:txBody>
      </p:sp>
      <p:sp>
        <p:nvSpPr>
          <p:cNvPr id="8" name="Fungsi panggilBerikutnya()"/>
          <p:cNvSpPr txBox="1"/>
          <p:nvPr/>
        </p:nvSpPr>
        <p:spPr>
          <a:xfrm>
            <a:off x="5943600" y="2395728"/>
            <a:ext cx="2651760" cy="457200"/>
          </a:xfrm>
          <a:prstGeom prst="rect">
            <a:avLst/>
          </a:prstGeom>
          <a:noFill/>
        </p:spPr>
        <p:txBody>
          <a:bodyPr wrap="square" lIns="0" tIns="0" rIns="0" bIns="0" rtlCol="0" anchor="t"/>
          <a:lstStyle/>
          <a:p>
            <a:pPr marL="0" indent="0">
              <a:buNone/>
            </a:pPr>
            <a:r>
              <a:rPr lang="en-US" sz="1400" dirty="0">
                <a:solidFill>
                  <a:schemeClr val="tx1"/>
                </a:solidFill>
              </a:rPr>
              <a:t>Memanggil nomor terdepan.</a:t>
            </a:r>
            <a:endParaRPr lang="en-US" sz="1400" dirty="0"/>
          </a:p>
        </p:txBody>
      </p:sp>
      <p:sp>
        <p:nvSpPr>
          <p:cNvPr id="9" name="Method batalkanTerakhir()"/>
          <p:cNvSpPr txBox="1"/>
          <p:nvPr/>
        </p:nvSpPr>
        <p:spPr>
          <a:xfrm>
            <a:off x="5943600" y="2926080"/>
            <a:ext cx="2651760" cy="274320"/>
          </a:xfrm>
          <a:prstGeom prst="rect">
            <a:avLst/>
          </a:prstGeom>
          <a:noFill/>
        </p:spPr>
        <p:txBody>
          <a:bodyPr wrap="square" lIns="0" tIns="0" rIns="0" bIns="0" rtlCol="0" anchor="t"/>
          <a:lstStyle/>
          <a:p>
            <a:pPr marL="0" indent="0">
              <a:buNone/>
            </a:pPr>
            <a:r>
              <a:rPr lang="en-US" sz="1500" b="1" dirty="0">
                <a:solidFill>
                  <a:schemeClr val="accent1"/>
                </a:solidFill>
                <a:latin typeface="Courier New" panose="02070309020205020404" pitchFamily="34" charset="0"/>
                <a:ea typeface="Courier New" panose="02070309020205020404" pitchFamily="34" charset="-122"/>
                <a:cs typeface="Courier New" panose="02070309020205020404" pitchFamily="34" charset="-120"/>
              </a:rPr>
              <a:t>batalkanTerakhir()</a:t>
            </a:r>
            <a:endParaRPr lang="en-US" sz="1500" dirty="0"/>
          </a:p>
        </p:txBody>
      </p:sp>
      <p:sp>
        <p:nvSpPr>
          <p:cNvPr id="10" name="Fungsi batalkanTerakhir()"/>
          <p:cNvSpPr txBox="1"/>
          <p:nvPr/>
        </p:nvSpPr>
        <p:spPr>
          <a:xfrm>
            <a:off x="5943600" y="3218688"/>
            <a:ext cx="2651760" cy="457200"/>
          </a:xfrm>
          <a:prstGeom prst="rect">
            <a:avLst/>
          </a:prstGeom>
          <a:noFill/>
        </p:spPr>
        <p:txBody>
          <a:bodyPr wrap="square" lIns="0" tIns="0" rIns="0" bIns="0" rtlCol="0" anchor="t"/>
          <a:lstStyle/>
          <a:p>
            <a:pPr marL="0" indent="0">
              <a:buNone/>
            </a:pPr>
            <a:r>
              <a:rPr lang="en-US" sz="1400" dirty="0">
                <a:solidFill>
                  <a:schemeClr val="tx1"/>
                </a:solidFill>
              </a:rPr>
              <a:t>Membatalkan nomor paling akhir.</a:t>
            </a:r>
            <a:endParaRPr lang="en-US" sz="1400" dirty="0"/>
          </a:p>
        </p:txBody>
      </p:sp>
      <p:sp>
        <p:nvSpPr>
          <p:cNvPr id="11" name="Method reset()"/>
          <p:cNvSpPr txBox="1"/>
          <p:nvPr/>
        </p:nvSpPr>
        <p:spPr>
          <a:xfrm>
            <a:off x="5943600" y="3749040"/>
            <a:ext cx="2651760" cy="274320"/>
          </a:xfrm>
          <a:prstGeom prst="rect">
            <a:avLst/>
          </a:prstGeom>
          <a:noFill/>
        </p:spPr>
        <p:txBody>
          <a:bodyPr wrap="square" lIns="0" tIns="0" rIns="0" bIns="0" rtlCol="0" anchor="t"/>
          <a:lstStyle/>
          <a:p>
            <a:pPr marL="0" indent="0">
              <a:buNone/>
            </a:pPr>
            <a:r>
              <a:rPr lang="en-US" sz="1500" b="1" dirty="0">
                <a:solidFill>
                  <a:schemeClr val="accent1"/>
                </a:solidFill>
                <a:latin typeface="Courier New" panose="02070309020205020404" pitchFamily="34" charset="0"/>
                <a:ea typeface="Courier New" panose="02070309020205020404" pitchFamily="34" charset="-122"/>
                <a:cs typeface="Courier New" panose="02070309020205020404" pitchFamily="34" charset="-120"/>
              </a:rPr>
              <a:t>reset()</a:t>
            </a:r>
            <a:endParaRPr lang="en-US" sz="1500" dirty="0"/>
          </a:p>
        </p:txBody>
      </p:sp>
      <p:sp>
        <p:nvSpPr>
          <p:cNvPr id="12" name="Fungsi reset()"/>
          <p:cNvSpPr txBox="1"/>
          <p:nvPr/>
        </p:nvSpPr>
        <p:spPr>
          <a:xfrm>
            <a:off x="5943600" y="4041648"/>
            <a:ext cx="2651760" cy="457200"/>
          </a:xfrm>
          <a:prstGeom prst="rect">
            <a:avLst/>
          </a:prstGeom>
          <a:noFill/>
        </p:spPr>
        <p:txBody>
          <a:bodyPr wrap="square" lIns="0" tIns="0" rIns="0" bIns="0" rtlCol="0" anchor="t"/>
          <a:lstStyle/>
          <a:p>
            <a:pPr marL="0" indent="0">
              <a:buNone/>
            </a:pPr>
            <a:r>
              <a:rPr lang="en-US" sz="1400" dirty="0">
                <a:solidFill>
                  <a:schemeClr val="tx1"/>
                </a:solidFill>
              </a:rPr>
              <a:t>Mengosongkan seluruh antrian.</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Mode Gelap dan Dynamic Theme</a:t>
            </a:r>
            <a:endParaRPr lang="en-US" sz="3400" dirty="0"/>
          </a:p>
        </p:txBody>
      </p:sp>
      <p:sp>
        <p:nvSpPr>
          <p:cNvPr id="3" name="Kode tema (latar)"/>
          <p:cNvSpPr/>
          <p:nvPr/>
        </p:nvSpPr>
        <p:spPr>
          <a:xfrm>
            <a:off x="548640" y="1280160"/>
            <a:ext cx="4663440" cy="3291840"/>
          </a:xfrm>
          <a:prstGeom prst="roundRect">
            <a:avLst>
              <a:gd name="adj" fmla="val 2778"/>
            </a:avLst>
          </a:prstGeom>
          <a:solidFill>
            <a:schemeClr val="tx2"/>
          </a:solidFill>
          <a:ln w="6350">
            <a:solidFill>
              <a:schemeClr val="tx2"/>
            </a:solidFill>
            <a:prstDash val="solid"/>
          </a:ln>
        </p:spPr>
      </p:sp>
      <p:sp>
        <p:nvSpPr>
          <p:cNvPr id="4" name="Kode tema"/>
          <p:cNvSpPr txBox="1"/>
          <p:nvPr/>
        </p:nvSpPr>
        <p:spPr>
          <a:xfrm>
            <a:off x="713232" y="1408176"/>
            <a:ext cx="4334256" cy="3035808"/>
          </a:xfrm>
          <a:prstGeom prst="rect">
            <a:avLst/>
          </a:prstGeom>
          <a:noFill/>
        </p:spPr>
        <p:txBody>
          <a:bodyPr wrap="square" lIns="0" tIns="0" rIns="0" bIns="0" rtlCol="0" anchor="t"/>
          <a:lstStyle/>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MaterialApp(</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theme: bangunTema(</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tema.warnaBenih, Brightness.light),</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darkTheme: bangunTema(</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tema.warnaBenih, Brightness.dark),</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themeMode: tema.mode,</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buNone/>
            </a:pP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ThemeData bangunTema(Color benih,</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Brightness kecerahan)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skema = ColorScheme.fromSeed(</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seedColor: benih, brightness: kecerahan)</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.copyWith(surface: krem, outline: tinta);</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return ThemeData(</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useMaterial3: true, colorScheme: skema);</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5" name="Judul palet"/>
          <p:cNvSpPr txBox="1"/>
          <p:nvPr/>
        </p:nvSpPr>
        <p:spPr>
          <a:xfrm>
            <a:off x="5486400" y="1280160"/>
            <a:ext cx="3108960" cy="274320"/>
          </a:xfrm>
          <a:prstGeom prst="rect">
            <a:avLst/>
          </a:prstGeom>
          <a:noFill/>
        </p:spPr>
        <p:txBody>
          <a:bodyPr wrap="square" lIns="0" tIns="0" rIns="0" bIns="0" rtlCol="0" anchor="t"/>
          <a:lstStyle/>
          <a:p>
            <a:pPr marL="0" indent="0">
              <a:buNone/>
            </a:pPr>
            <a:r>
              <a:rPr lang="en-US" sz="1600" b="1" dirty="0">
                <a:solidFill>
                  <a:schemeClr val="tx2"/>
                </a:solidFill>
              </a:rPr>
              <a:t>8 pilihan warna tema</a:t>
            </a:r>
            <a:endParaRPr lang="en-US" sz="1600" dirty="0"/>
          </a:p>
        </p:txBody>
      </p:sp>
      <p:sp>
        <p:nvSpPr>
          <p:cNvPr id="6" name="Warna Biru Laut"/>
          <p:cNvSpPr/>
          <p:nvPr/>
        </p:nvSpPr>
        <p:spPr>
          <a:xfrm>
            <a:off x="5486400" y="1737360"/>
            <a:ext cx="329184" cy="329184"/>
          </a:xfrm>
          <a:prstGeom prst="ellipse">
            <a:avLst/>
          </a:prstGeom>
          <a:solidFill>
            <a:srgbClr val="1E88E5"/>
          </a:solidFill>
          <a:ln w="6350">
            <a:solidFill>
              <a:srgbClr val="1E88E5"/>
            </a:solidFill>
            <a:prstDash val="solid"/>
          </a:ln>
        </p:spPr>
      </p:sp>
      <p:sp>
        <p:nvSpPr>
          <p:cNvPr id="7" name="Nama Biru Laut"/>
          <p:cNvSpPr txBox="1"/>
          <p:nvPr/>
        </p:nvSpPr>
        <p:spPr>
          <a:xfrm>
            <a:off x="5897880" y="1737360"/>
            <a:ext cx="1143000" cy="329184"/>
          </a:xfrm>
          <a:prstGeom prst="rect">
            <a:avLst/>
          </a:prstGeom>
          <a:noFill/>
        </p:spPr>
        <p:txBody>
          <a:bodyPr wrap="square" lIns="0" tIns="0" rIns="0" bIns="0" rtlCol="0" anchor="ctr"/>
          <a:lstStyle/>
          <a:p>
            <a:pPr marL="0" indent="0">
              <a:buNone/>
            </a:pPr>
            <a:r>
              <a:rPr lang="en-US" sz="1300" dirty="0">
                <a:solidFill>
                  <a:schemeClr val="tx1"/>
                </a:solidFill>
              </a:rPr>
              <a:t>Biru Laut</a:t>
            </a:r>
            <a:endParaRPr lang="en-US" sz="1300" dirty="0"/>
          </a:p>
        </p:txBody>
      </p:sp>
      <p:sp>
        <p:nvSpPr>
          <p:cNvPr id="8" name="Warna Hijau Daun"/>
          <p:cNvSpPr/>
          <p:nvPr/>
        </p:nvSpPr>
        <p:spPr>
          <a:xfrm>
            <a:off x="7086600" y="1737360"/>
            <a:ext cx="329184" cy="329184"/>
          </a:xfrm>
          <a:prstGeom prst="ellipse">
            <a:avLst/>
          </a:prstGeom>
          <a:solidFill>
            <a:srgbClr val="2E9E5B"/>
          </a:solidFill>
          <a:ln w="6350">
            <a:solidFill>
              <a:srgbClr val="2E9E5B"/>
            </a:solidFill>
            <a:prstDash val="solid"/>
          </a:ln>
        </p:spPr>
      </p:sp>
      <p:sp>
        <p:nvSpPr>
          <p:cNvPr id="9" name="Nama Hijau Daun"/>
          <p:cNvSpPr txBox="1"/>
          <p:nvPr/>
        </p:nvSpPr>
        <p:spPr>
          <a:xfrm>
            <a:off x="7498080" y="1737360"/>
            <a:ext cx="1143000" cy="329184"/>
          </a:xfrm>
          <a:prstGeom prst="rect">
            <a:avLst/>
          </a:prstGeom>
          <a:noFill/>
        </p:spPr>
        <p:txBody>
          <a:bodyPr wrap="square" lIns="0" tIns="0" rIns="0" bIns="0" rtlCol="0" anchor="ctr"/>
          <a:lstStyle/>
          <a:p>
            <a:pPr marL="0" indent="0">
              <a:buNone/>
            </a:pPr>
            <a:r>
              <a:rPr lang="en-US" sz="1300" dirty="0">
                <a:solidFill>
                  <a:schemeClr val="tx1"/>
                </a:solidFill>
              </a:rPr>
              <a:t>Hijau Daun</a:t>
            </a:r>
            <a:endParaRPr lang="en-US" sz="1300" dirty="0"/>
          </a:p>
        </p:txBody>
      </p:sp>
      <p:sp>
        <p:nvSpPr>
          <p:cNvPr id="10" name="Warna Merah Saga"/>
          <p:cNvSpPr/>
          <p:nvPr/>
        </p:nvSpPr>
        <p:spPr>
          <a:xfrm>
            <a:off x="5486400" y="2267712"/>
            <a:ext cx="329184" cy="329184"/>
          </a:xfrm>
          <a:prstGeom prst="ellipse">
            <a:avLst/>
          </a:prstGeom>
          <a:solidFill>
            <a:srgbClr val="E53935"/>
          </a:solidFill>
          <a:ln w="6350">
            <a:solidFill>
              <a:srgbClr val="E53935"/>
            </a:solidFill>
            <a:prstDash val="solid"/>
          </a:ln>
        </p:spPr>
      </p:sp>
      <p:sp>
        <p:nvSpPr>
          <p:cNvPr id="11" name="Nama Merah Saga"/>
          <p:cNvSpPr txBox="1"/>
          <p:nvPr/>
        </p:nvSpPr>
        <p:spPr>
          <a:xfrm>
            <a:off x="5897880" y="2267712"/>
            <a:ext cx="1143000" cy="329184"/>
          </a:xfrm>
          <a:prstGeom prst="rect">
            <a:avLst/>
          </a:prstGeom>
          <a:noFill/>
        </p:spPr>
        <p:txBody>
          <a:bodyPr wrap="square" lIns="0" tIns="0" rIns="0" bIns="0" rtlCol="0" anchor="ctr"/>
          <a:lstStyle/>
          <a:p>
            <a:pPr marL="0" indent="0">
              <a:buNone/>
            </a:pPr>
            <a:r>
              <a:rPr lang="en-US" sz="1300" dirty="0">
                <a:solidFill>
                  <a:schemeClr val="tx1"/>
                </a:solidFill>
              </a:rPr>
              <a:t>Merah Saga</a:t>
            </a:r>
            <a:endParaRPr lang="en-US" sz="1300" dirty="0"/>
          </a:p>
        </p:txBody>
      </p:sp>
      <p:sp>
        <p:nvSpPr>
          <p:cNvPr id="12" name="Warna Ungu Senja"/>
          <p:cNvSpPr/>
          <p:nvPr/>
        </p:nvSpPr>
        <p:spPr>
          <a:xfrm>
            <a:off x="7086600" y="2267712"/>
            <a:ext cx="329184" cy="329184"/>
          </a:xfrm>
          <a:prstGeom prst="ellipse">
            <a:avLst/>
          </a:prstGeom>
          <a:solidFill>
            <a:srgbClr val="7E57C2"/>
          </a:solidFill>
          <a:ln w="6350">
            <a:solidFill>
              <a:srgbClr val="7E57C2"/>
            </a:solidFill>
            <a:prstDash val="solid"/>
          </a:ln>
        </p:spPr>
      </p:sp>
      <p:sp>
        <p:nvSpPr>
          <p:cNvPr id="13" name="Nama Ungu Senja"/>
          <p:cNvSpPr txBox="1"/>
          <p:nvPr/>
        </p:nvSpPr>
        <p:spPr>
          <a:xfrm>
            <a:off x="7498080" y="2267712"/>
            <a:ext cx="1143000" cy="329184"/>
          </a:xfrm>
          <a:prstGeom prst="rect">
            <a:avLst/>
          </a:prstGeom>
          <a:noFill/>
        </p:spPr>
        <p:txBody>
          <a:bodyPr wrap="square" lIns="0" tIns="0" rIns="0" bIns="0" rtlCol="0" anchor="ctr"/>
          <a:lstStyle/>
          <a:p>
            <a:pPr marL="0" indent="0">
              <a:buNone/>
            </a:pPr>
            <a:r>
              <a:rPr lang="en-US" sz="1300" dirty="0">
                <a:solidFill>
                  <a:schemeClr val="tx1"/>
                </a:solidFill>
              </a:rPr>
              <a:t>Ungu Senja</a:t>
            </a:r>
            <a:endParaRPr lang="en-US" sz="1300" dirty="0"/>
          </a:p>
        </p:txBody>
      </p:sp>
      <p:sp>
        <p:nvSpPr>
          <p:cNvPr id="14" name="Warna Jingga Mentari"/>
          <p:cNvSpPr/>
          <p:nvPr/>
        </p:nvSpPr>
        <p:spPr>
          <a:xfrm>
            <a:off x="5486400" y="2798064"/>
            <a:ext cx="329184" cy="329184"/>
          </a:xfrm>
          <a:prstGeom prst="ellipse">
            <a:avLst/>
          </a:prstGeom>
          <a:solidFill>
            <a:srgbClr val="FB8C00"/>
          </a:solidFill>
          <a:ln w="6350">
            <a:solidFill>
              <a:srgbClr val="FB8C00"/>
            </a:solidFill>
            <a:prstDash val="solid"/>
          </a:ln>
        </p:spPr>
      </p:sp>
      <p:sp>
        <p:nvSpPr>
          <p:cNvPr id="15" name="Nama Jingga Mentari"/>
          <p:cNvSpPr txBox="1"/>
          <p:nvPr/>
        </p:nvSpPr>
        <p:spPr>
          <a:xfrm>
            <a:off x="5897880" y="2798064"/>
            <a:ext cx="1143000" cy="329184"/>
          </a:xfrm>
          <a:prstGeom prst="rect">
            <a:avLst/>
          </a:prstGeom>
          <a:noFill/>
        </p:spPr>
        <p:txBody>
          <a:bodyPr wrap="square" lIns="0" tIns="0" rIns="0" bIns="0" rtlCol="0" anchor="ctr"/>
          <a:lstStyle/>
          <a:p>
            <a:pPr marL="0" indent="0">
              <a:buNone/>
            </a:pPr>
            <a:r>
              <a:rPr lang="en-US" sz="1300" dirty="0">
                <a:solidFill>
                  <a:schemeClr val="tx1"/>
                </a:solidFill>
              </a:rPr>
              <a:t>Jingga Mentari</a:t>
            </a:r>
            <a:endParaRPr lang="en-US" sz="1300" dirty="0"/>
          </a:p>
        </p:txBody>
      </p:sp>
      <p:sp>
        <p:nvSpPr>
          <p:cNvPr id="16" name="Warna Tosca Lagun"/>
          <p:cNvSpPr/>
          <p:nvPr/>
        </p:nvSpPr>
        <p:spPr>
          <a:xfrm>
            <a:off x="7086600" y="2798064"/>
            <a:ext cx="329184" cy="329184"/>
          </a:xfrm>
          <a:prstGeom prst="ellipse">
            <a:avLst/>
          </a:prstGeom>
          <a:solidFill>
            <a:srgbClr val="00A79D"/>
          </a:solidFill>
          <a:ln w="6350">
            <a:solidFill>
              <a:srgbClr val="00A79D"/>
            </a:solidFill>
            <a:prstDash val="solid"/>
          </a:ln>
        </p:spPr>
      </p:sp>
      <p:sp>
        <p:nvSpPr>
          <p:cNvPr id="17" name="Nama Tosca Lagun"/>
          <p:cNvSpPr txBox="1"/>
          <p:nvPr/>
        </p:nvSpPr>
        <p:spPr>
          <a:xfrm>
            <a:off x="7498080" y="2798064"/>
            <a:ext cx="1143000" cy="329184"/>
          </a:xfrm>
          <a:prstGeom prst="rect">
            <a:avLst/>
          </a:prstGeom>
          <a:noFill/>
        </p:spPr>
        <p:txBody>
          <a:bodyPr wrap="square" lIns="0" tIns="0" rIns="0" bIns="0" rtlCol="0" anchor="ctr"/>
          <a:lstStyle/>
          <a:p>
            <a:pPr marL="0" indent="0">
              <a:buNone/>
            </a:pPr>
            <a:r>
              <a:rPr lang="en-US" sz="1300" dirty="0">
                <a:solidFill>
                  <a:schemeClr val="tx1"/>
                </a:solidFill>
              </a:rPr>
              <a:t>Tosca Lagun</a:t>
            </a:r>
            <a:endParaRPr lang="en-US" sz="1300" dirty="0"/>
          </a:p>
        </p:txBody>
      </p:sp>
      <p:sp>
        <p:nvSpPr>
          <p:cNvPr id="18" name="Warna Merah Muda"/>
          <p:cNvSpPr/>
          <p:nvPr/>
        </p:nvSpPr>
        <p:spPr>
          <a:xfrm>
            <a:off x="5486400" y="3328416"/>
            <a:ext cx="329184" cy="329184"/>
          </a:xfrm>
          <a:prstGeom prst="ellipse">
            <a:avLst/>
          </a:prstGeom>
          <a:solidFill>
            <a:srgbClr val="EC407A"/>
          </a:solidFill>
          <a:ln w="6350">
            <a:solidFill>
              <a:srgbClr val="EC407A"/>
            </a:solidFill>
            <a:prstDash val="solid"/>
          </a:ln>
        </p:spPr>
      </p:sp>
      <p:sp>
        <p:nvSpPr>
          <p:cNvPr id="19" name="Nama Merah Muda"/>
          <p:cNvSpPr txBox="1"/>
          <p:nvPr/>
        </p:nvSpPr>
        <p:spPr>
          <a:xfrm>
            <a:off x="5897880" y="3328416"/>
            <a:ext cx="1143000" cy="329184"/>
          </a:xfrm>
          <a:prstGeom prst="rect">
            <a:avLst/>
          </a:prstGeom>
          <a:noFill/>
        </p:spPr>
        <p:txBody>
          <a:bodyPr wrap="square" lIns="0" tIns="0" rIns="0" bIns="0" rtlCol="0" anchor="ctr"/>
          <a:lstStyle/>
          <a:p>
            <a:pPr marL="0" indent="0">
              <a:buNone/>
            </a:pPr>
            <a:r>
              <a:rPr lang="en-US" sz="1300" dirty="0">
                <a:solidFill>
                  <a:schemeClr val="tx1"/>
                </a:solidFill>
              </a:rPr>
              <a:t>Merah Muda</a:t>
            </a:r>
            <a:endParaRPr lang="en-US" sz="1300" dirty="0"/>
          </a:p>
        </p:txBody>
      </p:sp>
      <p:sp>
        <p:nvSpPr>
          <p:cNvPr id="20" name="Warna Indigo Malam"/>
          <p:cNvSpPr/>
          <p:nvPr/>
        </p:nvSpPr>
        <p:spPr>
          <a:xfrm>
            <a:off x="7086600" y="3328416"/>
            <a:ext cx="329184" cy="329184"/>
          </a:xfrm>
          <a:prstGeom prst="ellipse">
            <a:avLst/>
          </a:prstGeom>
          <a:solidFill>
            <a:srgbClr val="3949AB"/>
          </a:solidFill>
          <a:ln w="6350">
            <a:solidFill>
              <a:srgbClr val="3949AB"/>
            </a:solidFill>
            <a:prstDash val="solid"/>
          </a:ln>
        </p:spPr>
      </p:sp>
      <p:sp>
        <p:nvSpPr>
          <p:cNvPr id="21" name="Nama Indigo Malam"/>
          <p:cNvSpPr txBox="1"/>
          <p:nvPr/>
        </p:nvSpPr>
        <p:spPr>
          <a:xfrm>
            <a:off x="7498080" y="3328416"/>
            <a:ext cx="1143000" cy="329184"/>
          </a:xfrm>
          <a:prstGeom prst="rect">
            <a:avLst/>
          </a:prstGeom>
          <a:noFill/>
        </p:spPr>
        <p:txBody>
          <a:bodyPr wrap="square" lIns="0" tIns="0" rIns="0" bIns="0" rtlCol="0" anchor="ctr"/>
          <a:lstStyle/>
          <a:p>
            <a:pPr marL="0" indent="0">
              <a:buNone/>
            </a:pPr>
            <a:r>
              <a:rPr lang="en-US" sz="1300" dirty="0">
                <a:solidFill>
                  <a:schemeClr val="tx1"/>
                </a:solidFill>
              </a:rPr>
              <a:t>Indigo Malam</a:t>
            </a:r>
            <a:endParaRPr lang="en-US" sz="1300" dirty="0"/>
          </a:p>
        </p:txBody>
      </p:sp>
      <p:sp>
        <p:nvSpPr>
          <p:cNvPr id="22" name="Keterangan palet"/>
          <p:cNvSpPr txBox="1"/>
          <p:nvPr/>
        </p:nvSpPr>
        <p:spPr>
          <a:xfrm>
            <a:off x="5486400" y="3931920"/>
            <a:ext cx="3108960" cy="640080"/>
          </a:xfrm>
          <a:prstGeom prst="rect">
            <a:avLst/>
          </a:prstGeom>
          <a:noFill/>
        </p:spPr>
        <p:txBody>
          <a:bodyPr wrap="square" lIns="0" tIns="0" rIns="0" bIns="0" rtlCol="0" anchor="t"/>
          <a:lstStyle/>
          <a:p>
            <a:pPr marL="0" indent="0">
              <a:buNone/>
            </a:pPr>
            <a:r>
              <a:rPr lang="en-US" sz="1400" dirty="0">
                <a:solidFill>
                  <a:schemeClr val="tx1"/>
                </a:solidFill>
              </a:rPr>
              <a:t>Satu warna seed menghasilkan palet terang dan gelap; latar dan outline disetel bergaya Neo-Brutalism.</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Material App Drawer</a:t>
            </a:r>
            <a:endParaRPr lang="en-US" sz="3400" dirty="0"/>
          </a:p>
        </p:txBody>
      </p:sp>
      <p:sp>
        <p:nvSpPr>
          <p:cNvPr id="3" name="Tiruan drawer"/>
          <p:cNvSpPr/>
          <p:nvPr/>
        </p:nvSpPr>
        <p:spPr>
          <a:xfrm>
            <a:off x="548640" y="1234440"/>
            <a:ext cx="2468880" cy="3429000"/>
          </a:xfrm>
          <a:prstGeom prst="roundRect">
            <a:avLst>
              <a:gd name="adj" fmla="val 6667"/>
            </a:avLst>
          </a:prstGeom>
          <a:solidFill>
            <a:srgbClr val="FBF6EA"/>
          </a:solidFill>
          <a:ln w="19050">
            <a:solidFill>
              <a:srgbClr val="141414"/>
            </a:solidFill>
            <a:prstDash val="solid"/>
          </a:ln>
          <a:effectLst>
            <a:outerShdw dist="50800" dir="2700000" algn="tl" rotWithShape="0">
              <a:srgbClr val="141414"/>
            </a:outerShdw>
          </a:effectLst>
        </p:spPr>
      </p:sp>
      <p:sp>
        <p:nvSpPr>
          <p:cNvPr id="4" name="Kepala drawer"/>
          <p:cNvSpPr/>
          <p:nvPr/>
        </p:nvSpPr>
        <p:spPr>
          <a:xfrm>
            <a:off x="548640" y="1234440"/>
            <a:ext cx="2468880" cy="777240"/>
          </a:xfrm>
          <a:prstGeom prst="roundRect">
            <a:avLst>
              <a:gd name="adj" fmla="val 21176"/>
            </a:avLst>
          </a:prstGeom>
          <a:solidFill>
            <a:schemeClr val="accent1"/>
          </a:solidFill>
          <a:ln w="19050">
            <a:solidFill>
              <a:srgbClr val="141414"/>
            </a:solidFill>
            <a:prstDash val="solid"/>
          </a:ln>
        </p:spPr>
      </p:sp>
      <p:pic>
        <p:nvPicPr>
          <p:cNvPr id="5" name="Logo drawer" descr="Logo kecil"/>
          <p:cNvPicPr>
            <a:picLocks noChangeAspect="1"/>
          </p:cNvPicPr>
          <p:nvPr/>
        </p:nvPicPr>
        <p:blipFill>
          <a:blip r:embed="rId1"/>
          <a:stretch>
            <a:fillRect/>
          </a:stretch>
        </p:blipFill>
        <p:spPr>
          <a:xfrm>
            <a:off x="713232" y="1417320"/>
            <a:ext cx="420624" cy="420624"/>
          </a:xfrm>
          <a:prstGeom prst="rect">
            <a:avLst/>
          </a:prstGeom>
        </p:spPr>
      </p:pic>
      <p:sp>
        <p:nvSpPr>
          <p:cNvPr id="6" name="Nama di drawer"/>
          <p:cNvSpPr txBox="1"/>
          <p:nvPr/>
        </p:nvSpPr>
        <p:spPr>
          <a:xfrm>
            <a:off x="1280160" y="1371600"/>
            <a:ext cx="1691640" cy="548640"/>
          </a:xfrm>
          <a:prstGeom prst="rect">
            <a:avLst/>
          </a:prstGeom>
          <a:noFill/>
        </p:spPr>
        <p:txBody>
          <a:bodyPr wrap="square" lIns="0" tIns="0" rIns="0" bIns="0" rtlCol="0" anchor="ctr"/>
          <a:lstStyle/>
          <a:p>
            <a:pPr marL="0" indent="0">
              <a:buNone/>
            </a:pPr>
            <a:r>
              <a:rPr lang="en-US" sz="1600" b="1" dirty="0">
                <a:solidFill>
                  <a:schemeClr val="bg1"/>
                </a:solidFill>
              </a:rPr>
              <a:t>Sabarin</a:t>
            </a:r>
            <a:endParaRPr lang="en-US" sz="1600" dirty="0"/>
          </a:p>
          <a:p>
            <a:pPr marL="0" indent="0">
              <a:buNone/>
            </a:pPr>
            <a:r>
              <a:rPr lang="en-US" sz="1000" dirty="0">
                <a:solidFill>
                  <a:schemeClr val="bg1"/>
                </a:solidFill>
              </a:rPr>
              <a:t>Hitung antrian pembeli</a:t>
            </a:r>
            <a:endParaRPr lang="en-US" sz="1600" dirty="0"/>
          </a:p>
        </p:txBody>
      </p:sp>
      <p:sp>
        <p:nvSpPr>
          <p:cNvPr id="7" name="Menu aktif"/>
          <p:cNvSpPr/>
          <p:nvPr/>
        </p:nvSpPr>
        <p:spPr>
          <a:xfrm>
            <a:off x="685800" y="2103120"/>
            <a:ext cx="2194560" cy="246888"/>
          </a:xfrm>
          <a:prstGeom prst="roundRect">
            <a:avLst>
              <a:gd name="adj" fmla="val 37037"/>
            </a:avLst>
          </a:prstGeom>
          <a:solidFill>
            <a:schemeClr val="accent1"/>
          </a:solidFill>
          <a:ln w="12700">
            <a:solidFill>
              <a:srgbClr val="141414"/>
            </a:solidFill>
            <a:prstDash val="solid"/>
          </a:ln>
          <a:effectLst>
            <a:outerShdw dist="25400" dir="2700000" algn="tl" rotWithShape="0">
              <a:srgbClr val="141414"/>
            </a:outerShdw>
          </a:effectLst>
        </p:spPr>
      </p:sp>
      <p:sp>
        <p:nvSpPr>
          <p:cNvPr id="8" name="Menu Beranda"/>
          <p:cNvSpPr txBox="1"/>
          <p:nvPr/>
        </p:nvSpPr>
        <p:spPr>
          <a:xfrm>
            <a:off x="822960" y="2103120"/>
            <a:ext cx="1920240" cy="246888"/>
          </a:xfrm>
          <a:prstGeom prst="rect">
            <a:avLst/>
          </a:prstGeom>
          <a:noFill/>
        </p:spPr>
        <p:txBody>
          <a:bodyPr wrap="square" lIns="0" tIns="0" rIns="0" bIns="0" rtlCol="0" anchor="ctr"/>
          <a:lstStyle/>
          <a:p>
            <a:pPr marL="0" indent="0">
              <a:buNone/>
            </a:pPr>
            <a:r>
              <a:rPr lang="en-US" sz="1100" b="1" dirty="0">
                <a:solidFill>
                  <a:srgbClr val="FFFFFF"/>
                </a:solidFill>
              </a:rPr>
              <a:t>Beranda</a:t>
            </a:r>
            <a:endParaRPr lang="en-US" sz="1100" dirty="0"/>
          </a:p>
        </p:txBody>
      </p:sp>
      <p:sp>
        <p:nvSpPr>
          <p:cNvPr id="9" name="Menu Hitung Antrian"/>
          <p:cNvSpPr txBox="1"/>
          <p:nvPr/>
        </p:nvSpPr>
        <p:spPr>
          <a:xfrm>
            <a:off x="822960" y="2377440"/>
            <a:ext cx="1920240" cy="246888"/>
          </a:xfrm>
          <a:prstGeom prst="rect">
            <a:avLst/>
          </a:prstGeom>
          <a:noFill/>
        </p:spPr>
        <p:txBody>
          <a:bodyPr wrap="square" lIns="0" tIns="0" rIns="0" bIns="0" rtlCol="0" anchor="ctr"/>
          <a:lstStyle/>
          <a:p>
            <a:pPr marL="0" indent="0">
              <a:buNone/>
            </a:pPr>
            <a:r>
              <a:rPr lang="en-US" sz="1100" dirty="0">
                <a:solidFill>
                  <a:schemeClr val="tx1"/>
                </a:solidFill>
              </a:rPr>
              <a:t>Hitung Antrian</a:t>
            </a:r>
            <a:endParaRPr lang="en-US" sz="1100" dirty="0"/>
          </a:p>
        </p:txBody>
      </p:sp>
      <p:sp>
        <p:nvSpPr>
          <p:cNvPr id="10" name="Menu Layar Pelanggan"/>
          <p:cNvSpPr txBox="1"/>
          <p:nvPr/>
        </p:nvSpPr>
        <p:spPr>
          <a:xfrm>
            <a:off x="822960" y="2651760"/>
            <a:ext cx="1920240" cy="246888"/>
          </a:xfrm>
          <a:prstGeom prst="rect">
            <a:avLst/>
          </a:prstGeom>
          <a:noFill/>
        </p:spPr>
        <p:txBody>
          <a:bodyPr wrap="square" lIns="0" tIns="0" rIns="0" bIns="0" rtlCol="0" anchor="ctr"/>
          <a:lstStyle/>
          <a:p>
            <a:pPr marL="0" indent="0">
              <a:buNone/>
            </a:pPr>
            <a:r>
              <a:rPr lang="en-US" sz="1100" dirty="0">
                <a:solidFill>
                  <a:schemeClr val="tx1"/>
                </a:solidFill>
              </a:rPr>
              <a:t>Layar Pelanggan</a:t>
            </a:r>
            <a:endParaRPr lang="en-US" sz="1100" dirty="0"/>
          </a:p>
        </p:txBody>
      </p:sp>
      <p:sp>
        <p:nvSpPr>
          <p:cNvPr id="11" name="Menu Riwayat"/>
          <p:cNvSpPr txBox="1"/>
          <p:nvPr/>
        </p:nvSpPr>
        <p:spPr>
          <a:xfrm>
            <a:off x="822960" y="2926080"/>
            <a:ext cx="1920240" cy="246888"/>
          </a:xfrm>
          <a:prstGeom prst="rect">
            <a:avLst/>
          </a:prstGeom>
          <a:noFill/>
        </p:spPr>
        <p:txBody>
          <a:bodyPr wrap="square" lIns="0" tIns="0" rIns="0" bIns="0" rtlCol="0" anchor="ctr"/>
          <a:lstStyle/>
          <a:p>
            <a:pPr marL="0" indent="0">
              <a:buNone/>
            </a:pPr>
            <a:r>
              <a:rPr lang="en-US" sz="1100" dirty="0">
                <a:solidFill>
                  <a:schemeClr val="tx1"/>
                </a:solidFill>
              </a:rPr>
              <a:t>Riwayat</a:t>
            </a:r>
            <a:endParaRPr lang="en-US" sz="1100" dirty="0"/>
          </a:p>
        </p:txBody>
      </p:sp>
      <p:sp>
        <p:nvSpPr>
          <p:cNvPr id="12" name="Menu Statistik"/>
          <p:cNvSpPr txBox="1"/>
          <p:nvPr/>
        </p:nvSpPr>
        <p:spPr>
          <a:xfrm>
            <a:off x="822960" y="3200400"/>
            <a:ext cx="1920240" cy="246888"/>
          </a:xfrm>
          <a:prstGeom prst="rect">
            <a:avLst/>
          </a:prstGeom>
          <a:noFill/>
        </p:spPr>
        <p:txBody>
          <a:bodyPr wrap="square" lIns="0" tIns="0" rIns="0" bIns="0" rtlCol="0" anchor="ctr"/>
          <a:lstStyle/>
          <a:p>
            <a:pPr marL="0" indent="0">
              <a:buNone/>
            </a:pPr>
            <a:r>
              <a:rPr lang="en-US" sz="1100" dirty="0">
                <a:solidFill>
                  <a:schemeClr val="tx1"/>
                </a:solidFill>
              </a:rPr>
              <a:t>Statistik</a:t>
            </a:r>
            <a:endParaRPr lang="en-US" sz="1100" dirty="0"/>
          </a:p>
        </p:txBody>
      </p:sp>
      <p:sp>
        <p:nvSpPr>
          <p:cNvPr id="13" name="Menu Tentang"/>
          <p:cNvSpPr txBox="1"/>
          <p:nvPr/>
        </p:nvSpPr>
        <p:spPr>
          <a:xfrm>
            <a:off x="822960" y="3474720"/>
            <a:ext cx="1920240" cy="246888"/>
          </a:xfrm>
          <a:prstGeom prst="rect">
            <a:avLst/>
          </a:prstGeom>
          <a:noFill/>
        </p:spPr>
        <p:txBody>
          <a:bodyPr wrap="square" lIns="0" tIns="0" rIns="0" bIns="0" rtlCol="0" anchor="ctr"/>
          <a:lstStyle/>
          <a:p>
            <a:pPr marL="0" indent="0">
              <a:buNone/>
            </a:pPr>
            <a:r>
              <a:rPr lang="en-US" sz="1100" dirty="0">
                <a:solidFill>
                  <a:schemeClr val="tx1"/>
                </a:solidFill>
              </a:rPr>
              <a:t>Tentang</a:t>
            </a:r>
            <a:endParaRPr lang="en-US" sz="1100" dirty="0"/>
          </a:p>
        </p:txBody>
      </p:sp>
      <p:sp>
        <p:nvSpPr>
          <p:cNvPr id="14" name="Teks mode gelap"/>
          <p:cNvSpPr txBox="1"/>
          <p:nvPr/>
        </p:nvSpPr>
        <p:spPr>
          <a:xfrm>
            <a:off x="822960" y="3886200"/>
            <a:ext cx="1280160" cy="274320"/>
          </a:xfrm>
          <a:prstGeom prst="rect">
            <a:avLst/>
          </a:prstGeom>
          <a:noFill/>
        </p:spPr>
        <p:txBody>
          <a:bodyPr wrap="square" lIns="0" tIns="0" rIns="0" bIns="0" rtlCol="0" anchor="ctr"/>
          <a:lstStyle/>
          <a:p>
            <a:pPr marL="0" indent="0">
              <a:buNone/>
            </a:pPr>
            <a:r>
              <a:rPr lang="en-US" sz="1100" b="1" dirty="0">
                <a:solidFill>
                  <a:schemeClr val="tx2"/>
                </a:solidFill>
              </a:rPr>
              <a:t>Mode Gelap</a:t>
            </a:r>
            <a:endParaRPr lang="en-US" sz="1100" dirty="0"/>
          </a:p>
        </p:txBody>
      </p:sp>
      <p:sp>
        <p:nvSpPr>
          <p:cNvPr id="15" name="Saklar"/>
          <p:cNvSpPr/>
          <p:nvPr/>
        </p:nvSpPr>
        <p:spPr>
          <a:xfrm>
            <a:off x="2377440" y="3913632"/>
            <a:ext cx="457200" cy="219456"/>
          </a:xfrm>
          <a:prstGeom prst="roundRect">
            <a:avLst>
              <a:gd name="adj" fmla="val 50000"/>
            </a:avLst>
          </a:prstGeom>
          <a:solidFill>
            <a:schemeClr val="accent1"/>
          </a:solidFill>
          <a:ln w="12700">
            <a:solidFill>
              <a:srgbClr val="141414"/>
            </a:solidFill>
            <a:prstDash val="solid"/>
          </a:ln>
        </p:spPr>
      </p:sp>
      <p:sp>
        <p:nvSpPr>
          <p:cNvPr id="16" name="Tombol saklar"/>
          <p:cNvSpPr/>
          <p:nvPr/>
        </p:nvSpPr>
        <p:spPr>
          <a:xfrm>
            <a:off x="2633472" y="3941064"/>
            <a:ext cx="164592" cy="164592"/>
          </a:xfrm>
          <a:prstGeom prst="ellipse">
            <a:avLst/>
          </a:prstGeom>
          <a:solidFill>
            <a:srgbClr val="141414"/>
          </a:solidFill>
          <a:ln w="12700">
            <a:solidFill>
              <a:srgbClr val="141414"/>
            </a:solidFill>
            <a:prstDash val="solid"/>
          </a:ln>
        </p:spPr>
      </p:sp>
      <p:sp>
        <p:nvSpPr>
          <p:cNvPr id="17" name="Titik warna 1"/>
          <p:cNvSpPr/>
          <p:nvPr/>
        </p:nvSpPr>
        <p:spPr>
          <a:xfrm>
            <a:off x="841248" y="4315968"/>
            <a:ext cx="201168" cy="201168"/>
          </a:xfrm>
          <a:prstGeom prst="ellipse">
            <a:avLst/>
          </a:prstGeom>
          <a:solidFill>
            <a:srgbClr val="1E88E5"/>
          </a:solidFill>
          <a:ln w="12700">
            <a:solidFill>
              <a:srgbClr val="141414"/>
            </a:solidFill>
            <a:prstDash val="solid"/>
          </a:ln>
        </p:spPr>
      </p:sp>
      <p:sp>
        <p:nvSpPr>
          <p:cNvPr id="18" name="Titik warna 2"/>
          <p:cNvSpPr/>
          <p:nvPr/>
        </p:nvSpPr>
        <p:spPr>
          <a:xfrm>
            <a:off x="1097280" y="4315968"/>
            <a:ext cx="201168" cy="201168"/>
          </a:xfrm>
          <a:prstGeom prst="ellipse">
            <a:avLst/>
          </a:prstGeom>
          <a:solidFill>
            <a:srgbClr val="2E9E5B"/>
          </a:solidFill>
          <a:ln w="12700">
            <a:solidFill>
              <a:srgbClr val="141414"/>
            </a:solidFill>
            <a:prstDash val="solid"/>
          </a:ln>
        </p:spPr>
      </p:sp>
      <p:sp>
        <p:nvSpPr>
          <p:cNvPr id="19" name="Titik warna 3"/>
          <p:cNvSpPr/>
          <p:nvPr/>
        </p:nvSpPr>
        <p:spPr>
          <a:xfrm>
            <a:off x="1353312" y="4315968"/>
            <a:ext cx="201168" cy="201168"/>
          </a:xfrm>
          <a:prstGeom prst="ellipse">
            <a:avLst/>
          </a:prstGeom>
          <a:solidFill>
            <a:srgbClr val="E53935"/>
          </a:solidFill>
          <a:ln w="12700">
            <a:solidFill>
              <a:srgbClr val="141414"/>
            </a:solidFill>
            <a:prstDash val="solid"/>
          </a:ln>
        </p:spPr>
      </p:sp>
      <p:sp>
        <p:nvSpPr>
          <p:cNvPr id="20" name="Titik warna 4"/>
          <p:cNvSpPr/>
          <p:nvPr/>
        </p:nvSpPr>
        <p:spPr>
          <a:xfrm>
            <a:off x="1609344" y="4315968"/>
            <a:ext cx="201168" cy="201168"/>
          </a:xfrm>
          <a:prstGeom prst="ellipse">
            <a:avLst/>
          </a:prstGeom>
          <a:solidFill>
            <a:srgbClr val="7E57C2"/>
          </a:solidFill>
          <a:ln w="12700">
            <a:solidFill>
              <a:srgbClr val="141414"/>
            </a:solidFill>
            <a:prstDash val="solid"/>
          </a:ln>
        </p:spPr>
      </p:sp>
      <p:sp>
        <p:nvSpPr>
          <p:cNvPr id="21" name="Titik warna 5"/>
          <p:cNvSpPr/>
          <p:nvPr/>
        </p:nvSpPr>
        <p:spPr>
          <a:xfrm>
            <a:off x="1865376" y="4315968"/>
            <a:ext cx="201168" cy="201168"/>
          </a:xfrm>
          <a:prstGeom prst="ellipse">
            <a:avLst/>
          </a:prstGeom>
          <a:solidFill>
            <a:srgbClr val="FB8C00"/>
          </a:solidFill>
          <a:ln w="12700">
            <a:solidFill>
              <a:srgbClr val="141414"/>
            </a:solidFill>
            <a:prstDash val="solid"/>
          </a:ln>
        </p:spPr>
      </p:sp>
      <p:sp>
        <p:nvSpPr>
          <p:cNvPr id="22" name="Titik warna 6"/>
          <p:cNvSpPr/>
          <p:nvPr/>
        </p:nvSpPr>
        <p:spPr>
          <a:xfrm>
            <a:off x="2121408" y="4315968"/>
            <a:ext cx="201168" cy="201168"/>
          </a:xfrm>
          <a:prstGeom prst="ellipse">
            <a:avLst/>
          </a:prstGeom>
          <a:solidFill>
            <a:srgbClr val="00A79D"/>
          </a:solidFill>
          <a:ln w="12700">
            <a:solidFill>
              <a:srgbClr val="141414"/>
            </a:solidFill>
            <a:prstDash val="solid"/>
          </a:ln>
          <a:effectLst>
            <a:outerShdw dist="12700" dir="2700000" algn="tl" rotWithShape="0">
              <a:srgbClr val="141414"/>
            </a:outerShdw>
          </a:effectLst>
        </p:spPr>
      </p:sp>
      <p:sp>
        <p:nvSpPr>
          <p:cNvPr id="23" name="Titik warna 7"/>
          <p:cNvSpPr/>
          <p:nvPr/>
        </p:nvSpPr>
        <p:spPr>
          <a:xfrm>
            <a:off x="2377440" y="4315968"/>
            <a:ext cx="201168" cy="201168"/>
          </a:xfrm>
          <a:prstGeom prst="ellipse">
            <a:avLst/>
          </a:prstGeom>
          <a:solidFill>
            <a:srgbClr val="EC407A"/>
          </a:solidFill>
          <a:ln w="12700">
            <a:solidFill>
              <a:srgbClr val="141414"/>
            </a:solidFill>
            <a:prstDash val="solid"/>
          </a:ln>
        </p:spPr>
      </p:sp>
      <p:sp>
        <p:nvSpPr>
          <p:cNvPr id="24" name="Titik warna 8"/>
          <p:cNvSpPr/>
          <p:nvPr/>
        </p:nvSpPr>
        <p:spPr>
          <a:xfrm>
            <a:off x="2633472" y="4315968"/>
            <a:ext cx="201168" cy="201168"/>
          </a:xfrm>
          <a:prstGeom prst="ellipse">
            <a:avLst/>
          </a:prstGeom>
          <a:solidFill>
            <a:srgbClr val="3949AB"/>
          </a:solidFill>
          <a:ln w="12700">
            <a:solidFill>
              <a:srgbClr val="141414"/>
            </a:solidFill>
            <a:prstDash val="solid"/>
          </a:ln>
        </p:spPr>
      </p:sp>
      <p:sp>
        <p:nvSpPr>
          <p:cNvPr id="25" name="Ikon drawer (latar)"/>
          <p:cNvSpPr/>
          <p:nvPr/>
        </p:nvSpPr>
        <p:spPr>
          <a:xfrm>
            <a:off x="3474720" y="1325880"/>
            <a:ext cx="530352" cy="530352"/>
          </a:xfrm>
          <a:prstGeom prst="ellipse">
            <a:avLst/>
          </a:prstGeom>
          <a:solidFill>
            <a:schemeClr val="accent1"/>
          </a:solidFill>
          <a:ln w="6350">
            <a:solidFill>
              <a:schemeClr val="accent1"/>
            </a:solidFill>
            <a:prstDash val="solid"/>
          </a:ln>
        </p:spPr>
      </p:sp>
      <p:pic>
        <p:nvPicPr>
          <p:cNvPr id="26" name="Ikon drawer" descr="Ikon drawer"/>
          <p:cNvPicPr>
            <a:picLocks noChangeAspect="1"/>
          </p:cNvPicPr>
          <p:nvPr/>
        </p:nvPicPr>
        <p:blipFill>
          <a:blip r:embed="rId2"/>
          <a:stretch>
            <a:fillRect/>
          </a:stretch>
        </p:blipFill>
        <p:spPr>
          <a:xfrm>
            <a:off x="3607308" y="1458468"/>
            <a:ext cx="265176" cy="265176"/>
          </a:xfrm>
          <a:prstGeom prst="rect">
            <a:avLst/>
          </a:prstGeom>
        </p:spPr>
      </p:pic>
      <p:sp>
        <p:nvSpPr>
          <p:cNvPr id="27" name="Judul Ikon drawer"/>
          <p:cNvSpPr txBox="1"/>
          <p:nvPr/>
        </p:nvSpPr>
        <p:spPr>
          <a:xfrm>
            <a:off x="4187952" y="1280160"/>
            <a:ext cx="4572000" cy="274320"/>
          </a:xfrm>
          <a:prstGeom prst="rect">
            <a:avLst/>
          </a:prstGeom>
          <a:noFill/>
        </p:spPr>
        <p:txBody>
          <a:bodyPr wrap="square" lIns="0" tIns="0" rIns="0" bIns="0" rtlCol="0" anchor="t"/>
          <a:lstStyle/>
          <a:p>
            <a:pPr marL="0" indent="0">
              <a:buNone/>
            </a:pPr>
            <a:r>
              <a:rPr lang="en-US" sz="1600" b="1" dirty="0">
                <a:solidFill>
                  <a:schemeClr val="tx2"/>
                </a:solidFill>
              </a:rPr>
              <a:t>Drawer pada Scaffold</a:t>
            </a:r>
            <a:endParaRPr lang="en-US" sz="1600" dirty="0"/>
          </a:p>
        </p:txBody>
      </p:sp>
      <p:sp>
        <p:nvSpPr>
          <p:cNvPr id="28" name="Isi Ikon drawer"/>
          <p:cNvSpPr txBox="1"/>
          <p:nvPr/>
        </p:nvSpPr>
        <p:spPr>
          <a:xfrm>
            <a:off x="4187952" y="1572768"/>
            <a:ext cx="4572000" cy="621792"/>
          </a:xfrm>
          <a:prstGeom prst="rect">
            <a:avLst/>
          </a:prstGeom>
          <a:noFill/>
        </p:spPr>
        <p:txBody>
          <a:bodyPr wrap="square" lIns="0" tIns="0" rIns="0" bIns="0" rtlCol="0" anchor="t"/>
          <a:lstStyle/>
          <a:p>
            <a:pPr marL="0" indent="0">
              <a:buNone/>
            </a:pPr>
            <a:r>
              <a:rPr lang="en-US" sz="1400" dirty="0">
                <a:solidFill>
                  <a:schemeClr val="tx1"/>
                </a:solidFill>
              </a:rPr>
              <a:t>Scaffold(drawer: Drawer(...)) menampilkan menu geser dari tepi kiri.</a:t>
            </a:r>
            <a:endParaRPr lang="en-US" sz="1400" dirty="0"/>
          </a:p>
        </p:txBody>
      </p:sp>
      <p:sp>
        <p:nvSpPr>
          <p:cNvPr id="29" name="Ikon rute (latar)"/>
          <p:cNvSpPr/>
          <p:nvPr/>
        </p:nvSpPr>
        <p:spPr>
          <a:xfrm>
            <a:off x="3474720" y="2423160"/>
            <a:ext cx="530352" cy="530352"/>
          </a:xfrm>
          <a:prstGeom prst="ellipse">
            <a:avLst/>
          </a:prstGeom>
          <a:solidFill>
            <a:schemeClr val="accent3"/>
          </a:solidFill>
          <a:ln w="6350">
            <a:solidFill>
              <a:schemeClr val="accent3"/>
            </a:solidFill>
            <a:prstDash val="solid"/>
          </a:ln>
        </p:spPr>
      </p:sp>
      <p:pic>
        <p:nvPicPr>
          <p:cNvPr id="30" name="Ikon rute" descr="Ikon rute"/>
          <p:cNvPicPr>
            <a:picLocks noChangeAspect="1"/>
          </p:cNvPicPr>
          <p:nvPr/>
        </p:nvPicPr>
        <p:blipFill>
          <a:blip r:embed="rId3"/>
          <a:stretch>
            <a:fillRect/>
          </a:stretch>
        </p:blipFill>
        <p:spPr>
          <a:xfrm>
            <a:off x="3607308" y="2555748"/>
            <a:ext cx="265176" cy="265176"/>
          </a:xfrm>
          <a:prstGeom prst="rect">
            <a:avLst/>
          </a:prstGeom>
        </p:spPr>
      </p:pic>
      <p:sp>
        <p:nvSpPr>
          <p:cNvPr id="31" name="Judul Ikon rute"/>
          <p:cNvSpPr txBox="1"/>
          <p:nvPr/>
        </p:nvSpPr>
        <p:spPr>
          <a:xfrm>
            <a:off x="4187952" y="2377440"/>
            <a:ext cx="4572000" cy="274320"/>
          </a:xfrm>
          <a:prstGeom prst="rect">
            <a:avLst/>
          </a:prstGeom>
          <a:noFill/>
        </p:spPr>
        <p:txBody>
          <a:bodyPr wrap="square" lIns="0" tIns="0" rIns="0" bIns="0" rtlCol="0" anchor="t"/>
          <a:lstStyle/>
          <a:p>
            <a:pPr marL="0" indent="0">
              <a:buNone/>
            </a:pPr>
            <a:r>
              <a:rPr lang="en-US" sz="1600" b="1" dirty="0">
                <a:solidFill>
                  <a:schemeClr val="tx2"/>
                </a:solidFill>
              </a:rPr>
              <a:t>Navigasi bernama</a:t>
            </a:r>
            <a:endParaRPr lang="en-US" sz="1600" dirty="0"/>
          </a:p>
        </p:txBody>
      </p:sp>
      <p:sp>
        <p:nvSpPr>
          <p:cNvPr id="32" name="Isi Ikon rute"/>
          <p:cNvSpPr txBox="1"/>
          <p:nvPr/>
        </p:nvSpPr>
        <p:spPr>
          <a:xfrm>
            <a:off x="4187952" y="2670048"/>
            <a:ext cx="4572000" cy="621792"/>
          </a:xfrm>
          <a:prstGeom prst="rect">
            <a:avLst/>
          </a:prstGeom>
          <a:noFill/>
        </p:spPr>
        <p:txBody>
          <a:bodyPr wrap="square" lIns="0" tIns="0" rIns="0" bIns="0" rtlCol="0" anchor="t"/>
          <a:lstStyle/>
          <a:p>
            <a:pPr marL="0" indent="0">
              <a:buNone/>
            </a:pPr>
            <a:r>
              <a:rPr lang="en-US" sz="1400" dirty="0">
                <a:solidFill>
                  <a:schemeClr val="tx1"/>
                </a:solidFill>
              </a:rPr>
              <a:t>Enam menu dibuat dari satu daftar; pushNamedAndRemoveUntil memindahkan halaman.</a:t>
            </a:r>
            <a:endParaRPr lang="en-US" sz="1400" dirty="0"/>
          </a:p>
        </p:txBody>
      </p:sp>
      <p:sp>
        <p:nvSpPr>
          <p:cNvPr id="33" name="Ikon adaptif (latar)"/>
          <p:cNvSpPr/>
          <p:nvPr/>
        </p:nvSpPr>
        <p:spPr>
          <a:xfrm>
            <a:off x="3474720" y="3520440"/>
            <a:ext cx="530352" cy="530352"/>
          </a:xfrm>
          <a:prstGeom prst="ellipse">
            <a:avLst/>
          </a:prstGeom>
          <a:solidFill>
            <a:schemeClr val="accent6"/>
          </a:solidFill>
          <a:ln w="6350">
            <a:solidFill>
              <a:schemeClr val="accent6"/>
            </a:solidFill>
            <a:prstDash val="solid"/>
          </a:ln>
        </p:spPr>
      </p:sp>
      <p:pic>
        <p:nvPicPr>
          <p:cNvPr id="34" name="Ikon adaptif" descr="Ikon adaptif"/>
          <p:cNvPicPr>
            <a:picLocks noChangeAspect="1"/>
          </p:cNvPicPr>
          <p:nvPr/>
        </p:nvPicPr>
        <p:blipFill>
          <a:blip r:embed="rId4"/>
          <a:stretch>
            <a:fillRect/>
          </a:stretch>
        </p:blipFill>
        <p:spPr>
          <a:xfrm>
            <a:off x="3607308" y="3653028"/>
            <a:ext cx="265176" cy="265176"/>
          </a:xfrm>
          <a:prstGeom prst="rect">
            <a:avLst/>
          </a:prstGeom>
        </p:spPr>
      </p:pic>
      <p:sp>
        <p:nvSpPr>
          <p:cNvPr id="35" name="Judul Ikon adaptif"/>
          <p:cNvSpPr txBox="1"/>
          <p:nvPr/>
        </p:nvSpPr>
        <p:spPr>
          <a:xfrm>
            <a:off x="4187952" y="3474720"/>
            <a:ext cx="4572000" cy="274320"/>
          </a:xfrm>
          <a:prstGeom prst="rect">
            <a:avLst/>
          </a:prstGeom>
          <a:noFill/>
        </p:spPr>
        <p:txBody>
          <a:bodyPr wrap="square" lIns="0" tIns="0" rIns="0" bIns="0" rtlCol="0" anchor="t"/>
          <a:lstStyle/>
          <a:p>
            <a:pPr marL="0" indent="0">
              <a:buNone/>
            </a:pPr>
            <a:r>
              <a:rPr lang="en-US" sz="1600" b="1" dirty="0">
                <a:solidFill>
                  <a:schemeClr val="tx2"/>
                </a:solidFill>
              </a:rPr>
              <a:t>Adaptif terhadap layar</a:t>
            </a:r>
            <a:endParaRPr lang="en-US" sz="1600" dirty="0"/>
          </a:p>
        </p:txBody>
      </p:sp>
      <p:sp>
        <p:nvSpPr>
          <p:cNvPr id="36" name="Isi Ikon adaptif"/>
          <p:cNvSpPr txBox="1"/>
          <p:nvPr/>
        </p:nvSpPr>
        <p:spPr>
          <a:xfrm>
            <a:off x="4187952" y="3767328"/>
            <a:ext cx="4572000" cy="621792"/>
          </a:xfrm>
          <a:prstGeom prst="rect">
            <a:avLst/>
          </a:prstGeom>
          <a:noFill/>
        </p:spPr>
        <p:txBody>
          <a:bodyPr wrap="square" lIns="0" tIns="0" rIns="0" bIns="0" rtlCol="0" anchor="t"/>
          <a:lstStyle/>
          <a:p>
            <a:pPr marL="0" indent="0">
              <a:buNone/>
            </a:pPr>
            <a:r>
              <a:rPr lang="en-US" sz="1400" dirty="0">
                <a:solidFill>
                  <a:schemeClr val="tx1"/>
                </a:solidFill>
              </a:rPr>
              <a:t>Pada lebar 900 dp ke atas, menu tampil permanen di sisi kiri.</a:t>
            </a:r>
            <a:endParaRPr lang="en-US" sz="1400" dirty="0"/>
          </a:p>
        </p:txBody>
      </p:sp>
      <p:sp>
        <p:nvSpPr>
          <p:cNvPr id="37"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Halaman Beranda</a:t>
            </a:r>
            <a:endParaRPr lang="en-US" sz="3400" dirty="0"/>
          </a:p>
        </p:txBody>
      </p:sp>
      <p:sp>
        <p:nvSpPr>
          <p:cNvPr id="3" name="Bingkai ponsel"/>
          <p:cNvSpPr/>
          <p:nvPr/>
        </p:nvSpPr>
        <p:spPr>
          <a:xfrm>
            <a:off x="640080" y="1143000"/>
            <a:ext cx="2194560" cy="3520440"/>
          </a:xfrm>
          <a:prstGeom prst="roundRect">
            <a:avLst>
              <a:gd name="adj" fmla="val 11667"/>
            </a:avLst>
          </a:prstGeom>
          <a:solidFill>
            <a:srgbClr val="141414"/>
          </a:solidFill>
          <a:ln w="6350">
            <a:solidFill>
              <a:srgbClr val="141414"/>
            </a:solidFill>
            <a:prstDash val="solid"/>
          </a:ln>
          <a:effectLst>
            <a:outerShdw dist="57150" dir="2700000" algn="tl" rotWithShape="0">
              <a:srgbClr val="141414"/>
            </a:outerShdw>
          </a:effectLst>
        </p:spPr>
      </p:sp>
      <p:sp>
        <p:nvSpPr>
          <p:cNvPr id="4" name="Layar ponsel"/>
          <p:cNvSpPr/>
          <p:nvPr/>
        </p:nvSpPr>
        <p:spPr>
          <a:xfrm>
            <a:off x="713232" y="1216152"/>
            <a:ext cx="2048256" cy="3374136"/>
          </a:xfrm>
          <a:prstGeom prst="roundRect">
            <a:avLst>
              <a:gd name="adj" fmla="val 9821"/>
            </a:avLst>
          </a:prstGeom>
          <a:solidFill>
            <a:srgbClr val="FBF6EA"/>
          </a:solidFill>
          <a:ln w="6350">
            <a:solidFill>
              <a:srgbClr val="FBF6EA"/>
            </a:solidFill>
            <a:prstDash val="solid"/>
          </a:ln>
        </p:spPr>
      </p:sp>
      <p:sp>
        <p:nvSpPr>
          <p:cNvPr id="5" name="Judul layar beranda"/>
          <p:cNvSpPr txBox="1"/>
          <p:nvPr/>
        </p:nvSpPr>
        <p:spPr>
          <a:xfrm>
            <a:off x="850392" y="1307592"/>
            <a:ext cx="1371600" cy="228600"/>
          </a:xfrm>
          <a:prstGeom prst="rect">
            <a:avLst/>
          </a:prstGeom>
          <a:noFill/>
        </p:spPr>
        <p:txBody>
          <a:bodyPr wrap="square" lIns="0" tIns="0" rIns="0" bIns="0" rtlCol="0" anchor="t"/>
          <a:lstStyle/>
          <a:p>
            <a:pPr marL="0" indent="0">
              <a:buNone/>
            </a:pPr>
            <a:r>
              <a:rPr lang="en-US" sz="1100" b="1" dirty="0">
                <a:solidFill>
                  <a:schemeClr val="tx2"/>
                </a:solidFill>
              </a:rPr>
              <a:t>Beranda</a:t>
            </a:r>
            <a:endParaRPr lang="en-US" sz="1100" dirty="0"/>
          </a:p>
        </p:txBody>
      </p:sp>
      <p:sp>
        <p:nvSpPr>
          <p:cNvPr id="6" name="Kartu sambutan"/>
          <p:cNvSpPr/>
          <p:nvPr/>
        </p:nvSpPr>
        <p:spPr>
          <a:xfrm>
            <a:off x="804672" y="1600200"/>
            <a:ext cx="1865376" cy="960120"/>
          </a:xfrm>
          <a:prstGeom prst="roundRect">
            <a:avLst>
              <a:gd name="adj" fmla="val 13333"/>
            </a:avLst>
          </a:prstGeom>
          <a:solidFill>
            <a:schemeClr val="accent1"/>
          </a:solidFill>
          <a:ln w="19050">
            <a:solidFill>
              <a:srgbClr val="141414"/>
            </a:solidFill>
            <a:prstDash val="solid"/>
          </a:ln>
          <a:effectLst>
            <a:outerShdw dist="38100" dir="2700000" algn="tl" rotWithShape="0">
              <a:srgbClr val="141414"/>
            </a:outerShdw>
          </a:effectLst>
        </p:spPr>
      </p:sp>
      <p:sp>
        <p:nvSpPr>
          <p:cNvPr id="7" name="Teks sambutan"/>
          <p:cNvSpPr txBox="1"/>
          <p:nvPr/>
        </p:nvSpPr>
        <p:spPr>
          <a:xfrm>
            <a:off x="914400" y="1673352"/>
            <a:ext cx="1645920" cy="502920"/>
          </a:xfrm>
          <a:prstGeom prst="rect">
            <a:avLst/>
          </a:prstGeom>
          <a:noFill/>
        </p:spPr>
        <p:txBody>
          <a:bodyPr wrap="square" lIns="0" tIns="0" rIns="0" bIns="0" rtlCol="0" anchor="t"/>
          <a:lstStyle/>
          <a:p>
            <a:pPr marL="0" indent="0">
              <a:buNone/>
            </a:pPr>
            <a:r>
              <a:rPr lang="en-US" sz="1000" dirty="0">
                <a:solidFill>
                  <a:schemeClr val="bg1"/>
                </a:solidFill>
              </a:rPr>
              <a:t>Selamat datang di</a:t>
            </a:r>
            <a:endParaRPr lang="en-US" sz="1000" dirty="0"/>
          </a:p>
          <a:p>
            <a:pPr marL="0" indent="0">
              <a:buNone/>
            </a:pPr>
            <a:r>
              <a:rPr lang="en-US" sz="1600" b="1" dirty="0">
                <a:solidFill>
                  <a:schemeClr val="bg1"/>
                </a:solidFill>
              </a:rPr>
              <a:t>Sabarin</a:t>
            </a:r>
            <a:endParaRPr lang="en-US" sz="1000" dirty="0"/>
          </a:p>
        </p:txBody>
      </p:sp>
      <p:sp>
        <p:nvSpPr>
          <p:cNvPr id="8" name="Tombol Mulai"/>
          <p:cNvSpPr/>
          <p:nvPr/>
        </p:nvSpPr>
        <p:spPr>
          <a:xfrm>
            <a:off x="914400" y="2221992"/>
            <a:ext cx="868680" cy="219456"/>
          </a:xfrm>
          <a:prstGeom prst="roundRect">
            <a:avLst>
              <a:gd name="adj" fmla="val 50000"/>
            </a:avLst>
          </a:prstGeom>
          <a:solidFill>
            <a:srgbClr val="FFFFFF"/>
          </a:solidFill>
          <a:ln w="12700">
            <a:solidFill>
              <a:srgbClr val="141414"/>
            </a:solidFill>
            <a:prstDash val="solid"/>
          </a:ln>
          <a:effectLst>
            <a:outerShdw dist="19050" dir="2700000" algn="tl" rotWithShape="0">
              <a:srgbClr val="141414"/>
            </a:outerShdw>
          </a:effectLst>
        </p:spPr>
      </p:sp>
      <p:sp>
        <p:nvSpPr>
          <p:cNvPr id="9" name="Teks Mulai"/>
          <p:cNvSpPr txBox="1"/>
          <p:nvPr/>
        </p:nvSpPr>
        <p:spPr>
          <a:xfrm>
            <a:off x="914400" y="2221992"/>
            <a:ext cx="868680" cy="219456"/>
          </a:xfrm>
          <a:prstGeom prst="rect">
            <a:avLst/>
          </a:prstGeom>
          <a:noFill/>
        </p:spPr>
        <p:txBody>
          <a:bodyPr wrap="square" lIns="0" tIns="0" rIns="0" bIns="0" rtlCol="0" anchor="ctr"/>
          <a:lstStyle/>
          <a:p>
            <a:pPr marL="0" indent="0" algn="ctr">
              <a:buNone/>
            </a:pPr>
            <a:r>
              <a:rPr lang="en-US" sz="1000" b="1" dirty="0">
                <a:solidFill>
                  <a:schemeClr val="accent1"/>
                </a:solidFill>
              </a:rPr>
              <a:t>Mulai</a:t>
            </a:r>
            <a:endParaRPr lang="en-US" sz="1000" dirty="0"/>
          </a:p>
        </p:txBody>
      </p:sp>
      <p:sp>
        <p:nvSpPr>
          <p:cNvPr id="10" name="Kartu stat Nomor Diambil"/>
          <p:cNvSpPr/>
          <p:nvPr/>
        </p:nvSpPr>
        <p:spPr>
          <a:xfrm>
            <a:off x="804672" y="2679192"/>
            <a:ext cx="914400" cy="566928"/>
          </a:xfrm>
          <a:prstGeom prst="roundRect">
            <a:avLst>
              <a:gd name="adj" fmla="val 16129"/>
            </a:avLst>
          </a:prstGeom>
          <a:solidFill>
            <a:srgbClr val="FFFFFF"/>
          </a:solidFill>
          <a:ln w="12700">
            <a:solidFill>
              <a:srgbClr val="141414"/>
            </a:solidFill>
            <a:prstDash val="solid"/>
          </a:ln>
          <a:effectLst>
            <a:outerShdw dist="25400" dir="2700000" algn="tl" rotWithShape="0">
              <a:srgbClr val="141414"/>
            </a:outerShdw>
          </a:effectLst>
        </p:spPr>
      </p:sp>
      <p:sp>
        <p:nvSpPr>
          <p:cNvPr id="11" name="Teks stat Nomor Diambil"/>
          <p:cNvSpPr txBox="1"/>
          <p:nvPr/>
        </p:nvSpPr>
        <p:spPr>
          <a:xfrm>
            <a:off x="877824" y="2679192"/>
            <a:ext cx="822960" cy="566928"/>
          </a:xfrm>
          <a:prstGeom prst="rect">
            <a:avLst/>
          </a:prstGeom>
          <a:noFill/>
        </p:spPr>
        <p:txBody>
          <a:bodyPr wrap="square" lIns="0" tIns="0" rIns="0" bIns="0" rtlCol="0" anchor="ctr"/>
          <a:lstStyle/>
          <a:p>
            <a:pPr marL="0" indent="0">
              <a:buNone/>
            </a:pPr>
            <a:r>
              <a:rPr lang="en-US" sz="1400" b="1" dirty="0">
                <a:solidFill>
                  <a:schemeClr val="tx1"/>
                </a:solidFill>
              </a:rPr>
              <a:t>19</a:t>
            </a:r>
            <a:endParaRPr lang="en-US" sz="1400" dirty="0"/>
          </a:p>
          <a:p>
            <a:pPr marL="0" indent="0">
              <a:buNone/>
            </a:pPr>
            <a:r>
              <a:rPr lang="en-US" sz="1000" dirty="0">
                <a:solidFill>
                  <a:schemeClr val="tx1"/>
                </a:solidFill>
              </a:rPr>
              <a:t>Nomor Diambil</a:t>
            </a:r>
            <a:endParaRPr lang="en-US" sz="1400" dirty="0"/>
          </a:p>
        </p:txBody>
      </p:sp>
      <p:sp>
        <p:nvSpPr>
          <p:cNvPr id="12" name="Kartu stat Dilayani"/>
          <p:cNvSpPr/>
          <p:nvPr/>
        </p:nvSpPr>
        <p:spPr>
          <a:xfrm>
            <a:off x="1755648" y="2679192"/>
            <a:ext cx="914400" cy="566928"/>
          </a:xfrm>
          <a:prstGeom prst="roundRect">
            <a:avLst>
              <a:gd name="adj" fmla="val 16129"/>
            </a:avLst>
          </a:prstGeom>
          <a:solidFill>
            <a:srgbClr val="FFFFFF"/>
          </a:solidFill>
          <a:ln w="12700">
            <a:solidFill>
              <a:srgbClr val="141414"/>
            </a:solidFill>
            <a:prstDash val="solid"/>
          </a:ln>
          <a:effectLst>
            <a:outerShdw dist="25400" dir="2700000" algn="tl" rotWithShape="0">
              <a:srgbClr val="141414"/>
            </a:outerShdw>
          </a:effectLst>
        </p:spPr>
      </p:sp>
      <p:sp>
        <p:nvSpPr>
          <p:cNvPr id="13" name="Teks stat Dilayani"/>
          <p:cNvSpPr txBox="1"/>
          <p:nvPr/>
        </p:nvSpPr>
        <p:spPr>
          <a:xfrm>
            <a:off x="1828800" y="2679192"/>
            <a:ext cx="822960" cy="566928"/>
          </a:xfrm>
          <a:prstGeom prst="rect">
            <a:avLst/>
          </a:prstGeom>
          <a:noFill/>
        </p:spPr>
        <p:txBody>
          <a:bodyPr wrap="square" lIns="0" tIns="0" rIns="0" bIns="0" rtlCol="0" anchor="ctr"/>
          <a:lstStyle/>
          <a:p>
            <a:pPr marL="0" indent="0">
              <a:buNone/>
            </a:pPr>
            <a:r>
              <a:rPr lang="en-US" sz="1400" b="1" dirty="0">
                <a:solidFill>
                  <a:schemeClr val="tx1"/>
                </a:solidFill>
              </a:rPr>
              <a:t>A-004</a:t>
            </a:r>
            <a:endParaRPr lang="en-US" sz="1400" dirty="0"/>
          </a:p>
          <a:p>
            <a:pPr marL="0" indent="0">
              <a:buNone/>
            </a:pPr>
            <a:r>
              <a:rPr lang="en-US" sz="1000" dirty="0">
                <a:solidFill>
                  <a:schemeClr val="tx1"/>
                </a:solidFill>
              </a:rPr>
              <a:t>Dilayani</a:t>
            </a:r>
            <a:endParaRPr lang="en-US" sz="1400" dirty="0"/>
          </a:p>
        </p:txBody>
      </p:sp>
      <p:sp>
        <p:nvSpPr>
          <p:cNvPr id="14" name="Kartu stat Menunggu"/>
          <p:cNvSpPr/>
          <p:nvPr/>
        </p:nvSpPr>
        <p:spPr>
          <a:xfrm>
            <a:off x="804672" y="3300984"/>
            <a:ext cx="914400" cy="566928"/>
          </a:xfrm>
          <a:prstGeom prst="roundRect">
            <a:avLst>
              <a:gd name="adj" fmla="val 16129"/>
            </a:avLst>
          </a:prstGeom>
          <a:solidFill>
            <a:srgbClr val="FFFFFF"/>
          </a:solidFill>
          <a:ln w="12700">
            <a:solidFill>
              <a:srgbClr val="141414"/>
            </a:solidFill>
            <a:prstDash val="solid"/>
          </a:ln>
          <a:effectLst>
            <a:outerShdw dist="25400" dir="2700000" algn="tl" rotWithShape="0">
              <a:srgbClr val="141414"/>
            </a:outerShdw>
          </a:effectLst>
        </p:spPr>
      </p:sp>
      <p:sp>
        <p:nvSpPr>
          <p:cNvPr id="15" name="Teks stat Menunggu"/>
          <p:cNvSpPr txBox="1"/>
          <p:nvPr/>
        </p:nvSpPr>
        <p:spPr>
          <a:xfrm>
            <a:off x="877824" y="3300984"/>
            <a:ext cx="822960" cy="566928"/>
          </a:xfrm>
          <a:prstGeom prst="rect">
            <a:avLst/>
          </a:prstGeom>
          <a:noFill/>
        </p:spPr>
        <p:txBody>
          <a:bodyPr wrap="square" lIns="0" tIns="0" rIns="0" bIns="0" rtlCol="0" anchor="ctr"/>
          <a:lstStyle/>
          <a:p>
            <a:pPr marL="0" indent="0">
              <a:buNone/>
            </a:pPr>
            <a:r>
              <a:rPr lang="en-US" sz="1400" b="1" dirty="0">
                <a:solidFill>
                  <a:schemeClr val="tx1"/>
                </a:solidFill>
              </a:rPr>
              <a:t>5</a:t>
            </a:r>
            <a:endParaRPr lang="en-US" sz="1400" dirty="0"/>
          </a:p>
          <a:p>
            <a:pPr marL="0" indent="0">
              <a:buNone/>
            </a:pPr>
            <a:r>
              <a:rPr lang="en-US" sz="1000" dirty="0">
                <a:solidFill>
                  <a:schemeClr val="tx1"/>
                </a:solidFill>
              </a:rPr>
              <a:t>Menunggu</a:t>
            </a:r>
            <a:endParaRPr lang="en-US" sz="1400" dirty="0"/>
          </a:p>
        </p:txBody>
      </p:sp>
      <p:sp>
        <p:nvSpPr>
          <p:cNvPr id="16" name="Kartu stat Selesai"/>
          <p:cNvSpPr/>
          <p:nvPr/>
        </p:nvSpPr>
        <p:spPr>
          <a:xfrm>
            <a:off x="1755648" y="3300984"/>
            <a:ext cx="914400" cy="566928"/>
          </a:xfrm>
          <a:prstGeom prst="roundRect">
            <a:avLst>
              <a:gd name="adj" fmla="val 16129"/>
            </a:avLst>
          </a:prstGeom>
          <a:solidFill>
            <a:srgbClr val="FFFFFF"/>
          </a:solidFill>
          <a:ln w="12700">
            <a:solidFill>
              <a:srgbClr val="141414"/>
            </a:solidFill>
            <a:prstDash val="solid"/>
          </a:ln>
          <a:effectLst>
            <a:outerShdw dist="25400" dir="2700000" algn="tl" rotWithShape="0">
              <a:srgbClr val="141414"/>
            </a:outerShdw>
          </a:effectLst>
        </p:spPr>
      </p:sp>
      <p:sp>
        <p:nvSpPr>
          <p:cNvPr id="17" name="Teks stat Selesai"/>
          <p:cNvSpPr txBox="1"/>
          <p:nvPr/>
        </p:nvSpPr>
        <p:spPr>
          <a:xfrm>
            <a:off x="1828800" y="3300984"/>
            <a:ext cx="822960" cy="566928"/>
          </a:xfrm>
          <a:prstGeom prst="rect">
            <a:avLst/>
          </a:prstGeom>
          <a:noFill/>
        </p:spPr>
        <p:txBody>
          <a:bodyPr wrap="square" lIns="0" tIns="0" rIns="0" bIns="0" rtlCol="0" anchor="ctr"/>
          <a:lstStyle/>
          <a:p>
            <a:pPr marL="0" indent="0">
              <a:buNone/>
            </a:pPr>
            <a:r>
              <a:rPr lang="en-US" sz="1400" b="1" dirty="0">
                <a:solidFill>
                  <a:schemeClr val="tx1"/>
                </a:solidFill>
              </a:rPr>
              <a:t>14</a:t>
            </a:r>
            <a:endParaRPr lang="en-US" sz="1400" dirty="0"/>
          </a:p>
          <a:p>
            <a:pPr marL="0" indent="0">
              <a:buNone/>
            </a:pPr>
            <a:r>
              <a:rPr lang="en-US" sz="1000" dirty="0">
                <a:solidFill>
                  <a:schemeClr val="tx1"/>
                </a:solidFill>
              </a:rPr>
              <a:t>Selesai</a:t>
            </a:r>
            <a:endParaRPr lang="en-US" sz="1400" dirty="0"/>
          </a:p>
        </p:txBody>
      </p:sp>
      <p:sp>
        <p:nvSpPr>
          <p:cNvPr id="18" name="Label progres"/>
          <p:cNvSpPr txBox="1"/>
          <p:nvPr/>
        </p:nvSpPr>
        <p:spPr>
          <a:xfrm>
            <a:off x="822960" y="3977640"/>
            <a:ext cx="1463040" cy="182880"/>
          </a:xfrm>
          <a:prstGeom prst="rect">
            <a:avLst/>
          </a:prstGeom>
          <a:noFill/>
        </p:spPr>
        <p:txBody>
          <a:bodyPr wrap="square" lIns="0" tIns="0" rIns="0" bIns="0" rtlCol="0" anchor="t"/>
          <a:lstStyle/>
          <a:p>
            <a:pPr marL="0" indent="0">
              <a:buNone/>
            </a:pPr>
            <a:r>
              <a:rPr lang="en-US" sz="1000" b="1" dirty="0">
                <a:solidFill>
                  <a:schemeClr val="tx1"/>
                </a:solidFill>
              </a:rPr>
              <a:t>Progres Pelayanan</a:t>
            </a:r>
            <a:endParaRPr lang="en-US" sz="1000" dirty="0"/>
          </a:p>
        </p:txBody>
      </p:sp>
      <p:sp>
        <p:nvSpPr>
          <p:cNvPr id="19" name="Latar progres"/>
          <p:cNvSpPr/>
          <p:nvPr/>
        </p:nvSpPr>
        <p:spPr>
          <a:xfrm>
            <a:off x="822960" y="4215384"/>
            <a:ext cx="1828800" cy="128016"/>
          </a:xfrm>
          <a:prstGeom prst="roundRect">
            <a:avLst>
              <a:gd name="adj" fmla="val 50000"/>
            </a:avLst>
          </a:prstGeom>
          <a:solidFill>
            <a:srgbClr val="FFFFFF"/>
          </a:solidFill>
          <a:ln w="12700">
            <a:solidFill>
              <a:srgbClr val="141414"/>
            </a:solidFill>
            <a:prstDash val="solid"/>
          </a:ln>
        </p:spPr>
      </p:sp>
      <p:sp>
        <p:nvSpPr>
          <p:cNvPr id="20" name="Isi progres"/>
          <p:cNvSpPr/>
          <p:nvPr/>
        </p:nvSpPr>
        <p:spPr>
          <a:xfrm>
            <a:off x="822960" y="4215384"/>
            <a:ext cx="1280160" cy="128016"/>
          </a:xfrm>
          <a:prstGeom prst="roundRect">
            <a:avLst>
              <a:gd name="adj" fmla="val 50000"/>
            </a:avLst>
          </a:prstGeom>
          <a:solidFill>
            <a:schemeClr val="accent1"/>
          </a:solidFill>
          <a:ln w="12700">
            <a:solidFill>
              <a:srgbClr val="141414"/>
            </a:solidFill>
            <a:prstDash val="solid"/>
          </a:ln>
        </p:spPr>
      </p:sp>
      <p:sp>
        <p:nvSpPr>
          <p:cNvPr id="21" name="Lencana 1"/>
          <p:cNvSpPr/>
          <p:nvPr/>
        </p:nvSpPr>
        <p:spPr>
          <a:xfrm>
            <a:off x="3383280" y="1325880"/>
            <a:ext cx="365760" cy="365760"/>
          </a:xfrm>
          <a:prstGeom prst="ellipse">
            <a:avLst/>
          </a:prstGeom>
          <a:solidFill>
            <a:schemeClr val="accent2"/>
          </a:solidFill>
          <a:ln w="6350">
            <a:solidFill>
              <a:schemeClr val="accent2"/>
            </a:solidFill>
            <a:prstDash val="solid"/>
          </a:ln>
        </p:spPr>
      </p:sp>
      <p:sp>
        <p:nvSpPr>
          <p:cNvPr id="22" name="Angka 1"/>
          <p:cNvSpPr txBox="1"/>
          <p:nvPr/>
        </p:nvSpPr>
        <p:spPr>
          <a:xfrm>
            <a:off x="3383280" y="132588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23" name="Judul keterangan 1"/>
          <p:cNvSpPr txBox="1"/>
          <p:nvPr/>
        </p:nvSpPr>
        <p:spPr>
          <a:xfrm>
            <a:off x="3931920" y="1307592"/>
            <a:ext cx="4572000" cy="274320"/>
          </a:xfrm>
          <a:prstGeom prst="rect">
            <a:avLst/>
          </a:prstGeom>
          <a:noFill/>
        </p:spPr>
        <p:txBody>
          <a:bodyPr wrap="square" lIns="0" tIns="0" rIns="0" bIns="0" rtlCol="0" anchor="t"/>
          <a:lstStyle/>
          <a:p>
            <a:pPr marL="0" indent="0">
              <a:buNone/>
            </a:pPr>
            <a:r>
              <a:rPr lang="en-US" sz="1600" b="1" dirty="0">
                <a:solidFill>
                  <a:schemeClr val="tx2"/>
                </a:solidFill>
              </a:rPr>
              <a:t>Kartu sambutan</a:t>
            </a:r>
            <a:endParaRPr lang="en-US" sz="1600" dirty="0"/>
          </a:p>
        </p:txBody>
      </p:sp>
      <p:sp>
        <p:nvSpPr>
          <p:cNvPr id="24" name="Isi keterangan 1"/>
          <p:cNvSpPr txBox="1"/>
          <p:nvPr/>
        </p:nvSpPr>
        <p:spPr>
          <a:xfrm>
            <a:off x="3931920" y="1618488"/>
            <a:ext cx="4572000" cy="548640"/>
          </a:xfrm>
          <a:prstGeom prst="rect">
            <a:avLst/>
          </a:prstGeom>
          <a:noFill/>
        </p:spPr>
        <p:txBody>
          <a:bodyPr wrap="square" lIns="0" tIns="0" rIns="0" bIns="0" rtlCol="0" anchor="t"/>
          <a:lstStyle/>
          <a:p>
            <a:pPr marL="0" indent="0">
              <a:buNone/>
            </a:pPr>
            <a:r>
              <a:rPr lang="en-US" sz="1400" dirty="0">
                <a:solidFill>
                  <a:schemeClr val="tx1"/>
                </a:solidFill>
              </a:rPr>
              <a:t>Salam sesuai waktu, logo, dan tombol menuju halaman antrian.</a:t>
            </a:r>
            <a:endParaRPr lang="en-US" sz="1400" dirty="0"/>
          </a:p>
        </p:txBody>
      </p:sp>
      <p:sp>
        <p:nvSpPr>
          <p:cNvPr id="25" name="Lencana 2"/>
          <p:cNvSpPr/>
          <p:nvPr/>
        </p:nvSpPr>
        <p:spPr>
          <a:xfrm>
            <a:off x="3383280" y="2423160"/>
            <a:ext cx="365760" cy="365760"/>
          </a:xfrm>
          <a:prstGeom prst="ellipse">
            <a:avLst/>
          </a:prstGeom>
          <a:solidFill>
            <a:schemeClr val="accent2"/>
          </a:solidFill>
          <a:ln w="6350">
            <a:solidFill>
              <a:schemeClr val="accent2"/>
            </a:solidFill>
            <a:prstDash val="solid"/>
          </a:ln>
        </p:spPr>
      </p:sp>
      <p:sp>
        <p:nvSpPr>
          <p:cNvPr id="26" name="Angka 2"/>
          <p:cNvSpPr txBox="1"/>
          <p:nvPr/>
        </p:nvSpPr>
        <p:spPr>
          <a:xfrm>
            <a:off x="3383280" y="242316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27" name="Judul keterangan 2"/>
          <p:cNvSpPr txBox="1"/>
          <p:nvPr/>
        </p:nvSpPr>
        <p:spPr>
          <a:xfrm>
            <a:off x="3931920" y="2404872"/>
            <a:ext cx="4572000" cy="274320"/>
          </a:xfrm>
          <a:prstGeom prst="rect">
            <a:avLst/>
          </a:prstGeom>
          <a:noFill/>
        </p:spPr>
        <p:txBody>
          <a:bodyPr wrap="square" lIns="0" tIns="0" rIns="0" bIns="0" rtlCol="0" anchor="t"/>
          <a:lstStyle/>
          <a:p>
            <a:pPr marL="0" indent="0">
              <a:buNone/>
            </a:pPr>
            <a:r>
              <a:rPr lang="en-US" sz="1600" b="1" dirty="0">
                <a:solidFill>
                  <a:schemeClr val="tx2"/>
                </a:solidFill>
              </a:rPr>
              <a:t>Empat kartu statistik</a:t>
            </a:r>
            <a:endParaRPr lang="en-US" sz="1600" dirty="0"/>
          </a:p>
        </p:txBody>
      </p:sp>
      <p:sp>
        <p:nvSpPr>
          <p:cNvPr id="28" name="Isi keterangan 2"/>
          <p:cNvSpPr txBox="1"/>
          <p:nvPr/>
        </p:nvSpPr>
        <p:spPr>
          <a:xfrm>
            <a:off x="3931920" y="2715768"/>
            <a:ext cx="4572000" cy="548640"/>
          </a:xfrm>
          <a:prstGeom prst="rect">
            <a:avLst/>
          </a:prstGeom>
          <a:noFill/>
        </p:spPr>
        <p:txBody>
          <a:bodyPr wrap="square" lIns="0" tIns="0" rIns="0" bIns="0" rtlCol="0" anchor="t"/>
          <a:lstStyle/>
          <a:p>
            <a:pPr marL="0" indent="0">
              <a:buNone/>
            </a:pPr>
            <a:r>
              <a:rPr lang="en-US" sz="1400" dirty="0">
                <a:solidFill>
                  <a:schemeClr val="tx1"/>
                </a:solidFill>
              </a:rPr>
              <a:t>Data langsung dari AntrianCubit lewat BlocBuilder.</a:t>
            </a:r>
            <a:endParaRPr lang="en-US" sz="1400" dirty="0"/>
          </a:p>
        </p:txBody>
      </p:sp>
      <p:sp>
        <p:nvSpPr>
          <p:cNvPr id="29" name="Lencana 3"/>
          <p:cNvSpPr/>
          <p:nvPr/>
        </p:nvSpPr>
        <p:spPr>
          <a:xfrm>
            <a:off x="3383280" y="3520440"/>
            <a:ext cx="365760" cy="365760"/>
          </a:xfrm>
          <a:prstGeom prst="ellipse">
            <a:avLst/>
          </a:prstGeom>
          <a:solidFill>
            <a:schemeClr val="accent2"/>
          </a:solidFill>
          <a:ln w="6350">
            <a:solidFill>
              <a:schemeClr val="accent2"/>
            </a:solidFill>
            <a:prstDash val="solid"/>
          </a:ln>
        </p:spPr>
      </p:sp>
      <p:sp>
        <p:nvSpPr>
          <p:cNvPr id="30" name="Angka 3"/>
          <p:cNvSpPr txBox="1"/>
          <p:nvPr/>
        </p:nvSpPr>
        <p:spPr>
          <a:xfrm>
            <a:off x="3383280" y="352044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31" name="Judul keterangan 3"/>
          <p:cNvSpPr txBox="1"/>
          <p:nvPr/>
        </p:nvSpPr>
        <p:spPr>
          <a:xfrm>
            <a:off x="3931920" y="3502152"/>
            <a:ext cx="4572000" cy="274320"/>
          </a:xfrm>
          <a:prstGeom prst="rect">
            <a:avLst/>
          </a:prstGeom>
          <a:noFill/>
        </p:spPr>
        <p:txBody>
          <a:bodyPr wrap="square" lIns="0" tIns="0" rIns="0" bIns="0" rtlCol="0" anchor="t"/>
          <a:lstStyle/>
          <a:p>
            <a:pPr marL="0" indent="0">
              <a:buNone/>
            </a:pPr>
            <a:r>
              <a:rPr lang="en-US" sz="1600" b="1" dirty="0">
                <a:solidFill>
                  <a:schemeClr val="tx2"/>
                </a:solidFill>
              </a:rPr>
              <a:t>Progres pelayanan</a:t>
            </a:r>
            <a:endParaRPr lang="en-US" sz="1600" dirty="0"/>
          </a:p>
        </p:txBody>
      </p:sp>
      <p:sp>
        <p:nvSpPr>
          <p:cNvPr id="32" name="Isi keterangan 3"/>
          <p:cNvSpPr txBox="1"/>
          <p:nvPr/>
        </p:nvSpPr>
        <p:spPr>
          <a:xfrm>
            <a:off x="3931920" y="3813048"/>
            <a:ext cx="4572000" cy="548640"/>
          </a:xfrm>
          <a:prstGeom prst="rect">
            <a:avLst/>
          </a:prstGeom>
          <a:noFill/>
        </p:spPr>
        <p:txBody>
          <a:bodyPr wrap="square" lIns="0" tIns="0" rIns="0" bIns="0" rtlCol="0" anchor="t"/>
          <a:lstStyle/>
          <a:p>
            <a:pPr marL="0" indent="0">
              <a:buNone/>
            </a:pPr>
            <a:r>
              <a:rPr lang="en-US" sz="1400" dirty="0">
                <a:solidFill>
                  <a:schemeClr val="tx1"/>
                </a:solidFill>
              </a:rPr>
              <a:t>Persentase pembeli yang sudah selesai dilayani.</a:t>
            </a:r>
            <a:endParaRPr lang="en-US" sz="1400" dirty="0"/>
          </a:p>
        </p:txBody>
      </p:sp>
      <p:sp>
        <p:nvSpPr>
          <p:cNvPr id="33"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Halaman Hitung Antrian</a:t>
            </a:r>
            <a:endParaRPr lang="en-US" sz="3400" dirty="0"/>
          </a:p>
        </p:txBody>
      </p:sp>
      <p:sp>
        <p:nvSpPr>
          <p:cNvPr id="3" name="Bingkai ponsel"/>
          <p:cNvSpPr/>
          <p:nvPr/>
        </p:nvSpPr>
        <p:spPr>
          <a:xfrm>
            <a:off x="640080" y="1143000"/>
            <a:ext cx="2194560" cy="3520440"/>
          </a:xfrm>
          <a:prstGeom prst="roundRect">
            <a:avLst>
              <a:gd name="adj" fmla="val 11667"/>
            </a:avLst>
          </a:prstGeom>
          <a:solidFill>
            <a:srgbClr val="141414"/>
          </a:solidFill>
          <a:ln w="6350">
            <a:solidFill>
              <a:srgbClr val="141414"/>
            </a:solidFill>
            <a:prstDash val="solid"/>
          </a:ln>
          <a:effectLst>
            <a:outerShdw dist="57150" dir="2700000" algn="tl" rotWithShape="0">
              <a:srgbClr val="141414"/>
            </a:outerShdw>
          </a:effectLst>
        </p:spPr>
      </p:sp>
      <p:sp>
        <p:nvSpPr>
          <p:cNvPr id="4" name="Layar ponsel"/>
          <p:cNvSpPr/>
          <p:nvPr/>
        </p:nvSpPr>
        <p:spPr>
          <a:xfrm>
            <a:off x="713232" y="1216152"/>
            <a:ext cx="2048256" cy="3374136"/>
          </a:xfrm>
          <a:prstGeom prst="roundRect">
            <a:avLst>
              <a:gd name="adj" fmla="val 9821"/>
            </a:avLst>
          </a:prstGeom>
          <a:solidFill>
            <a:srgbClr val="FBF6EA"/>
          </a:solidFill>
          <a:ln w="6350">
            <a:solidFill>
              <a:srgbClr val="FBF6EA"/>
            </a:solidFill>
            <a:prstDash val="solid"/>
          </a:ln>
        </p:spPr>
      </p:sp>
      <p:sp>
        <p:nvSpPr>
          <p:cNvPr id="5" name="Judul layar antrian"/>
          <p:cNvSpPr txBox="1"/>
          <p:nvPr/>
        </p:nvSpPr>
        <p:spPr>
          <a:xfrm>
            <a:off x="850392" y="1307592"/>
            <a:ext cx="1554480" cy="228600"/>
          </a:xfrm>
          <a:prstGeom prst="rect">
            <a:avLst/>
          </a:prstGeom>
          <a:noFill/>
        </p:spPr>
        <p:txBody>
          <a:bodyPr wrap="square" lIns="0" tIns="0" rIns="0" bIns="0" rtlCol="0" anchor="t"/>
          <a:lstStyle/>
          <a:p>
            <a:pPr marL="0" indent="0">
              <a:buNone/>
            </a:pPr>
            <a:r>
              <a:rPr lang="en-US" sz="1100" b="1" dirty="0">
                <a:solidFill>
                  <a:schemeClr val="tx2"/>
                </a:solidFill>
              </a:rPr>
              <a:t>Hitung Antrian</a:t>
            </a:r>
            <a:endParaRPr lang="en-US" sz="1100" dirty="0"/>
          </a:p>
        </p:txBody>
      </p:sp>
      <p:sp>
        <p:nvSpPr>
          <p:cNvPr id="6" name="Kartu dilayani"/>
          <p:cNvSpPr/>
          <p:nvPr/>
        </p:nvSpPr>
        <p:spPr>
          <a:xfrm>
            <a:off x="804672" y="1600200"/>
            <a:ext cx="1865376" cy="960120"/>
          </a:xfrm>
          <a:prstGeom prst="roundRect">
            <a:avLst>
              <a:gd name="adj" fmla="val 13333"/>
            </a:avLst>
          </a:prstGeom>
          <a:solidFill>
            <a:schemeClr val="accent1"/>
          </a:solidFill>
          <a:ln w="19050">
            <a:solidFill>
              <a:srgbClr val="141414"/>
            </a:solidFill>
            <a:prstDash val="solid"/>
          </a:ln>
          <a:effectLst>
            <a:outerShdw dist="38100" dir="2700000" algn="tl" rotWithShape="0">
              <a:srgbClr val="141414"/>
            </a:outerShdw>
          </a:effectLst>
        </p:spPr>
      </p:sp>
      <p:sp>
        <p:nvSpPr>
          <p:cNvPr id="7" name="Teks dilayani"/>
          <p:cNvSpPr txBox="1"/>
          <p:nvPr/>
        </p:nvSpPr>
        <p:spPr>
          <a:xfrm>
            <a:off x="804672" y="1600200"/>
            <a:ext cx="1865376" cy="960120"/>
          </a:xfrm>
          <a:prstGeom prst="rect">
            <a:avLst/>
          </a:prstGeom>
          <a:noFill/>
        </p:spPr>
        <p:txBody>
          <a:bodyPr wrap="square" lIns="0" tIns="0" rIns="0" bIns="0" rtlCol="0" anchor="ctr"/>
          <a:lstStyle/>
          <a:p>
            <a:pPr marL="0" indent="0" algn="ctr">
              <a:buNone/>
            </a:pPr>
            <a:r>
              <a:rPr lang="en-US" sz="1000" kern="0" spc="100" dirty="0">
                <a:solidFill>
                  <a:schemeClr val="bg1"/>
                </a:solidFill>
              </a:rPr>
              <a:t>SEDANG DILAYANI</a:t>
            </a:r>
            <a:endParaRPr lang="en-US" sz="1000" dirty="0"/>
          </a:p>
          <a:p>
            <a:pPr marL="0" indent="0" algn="ctr">
              <a:buNone/>
            </a:pPr>
            <a:r>
              <a:rPr lang="en-US" sz="2800" b="1" dirty="0">
                <a:solidFill>
                  <a:schemeClr val="bg1"/>
                </a:solidFill>
              </a:rPr>
              <a:t>A-004</a:t>
            </a:r>
            <a:endParaRPr lang="en-US" sz="1000" dirty="0"/>
          </a:p>
        </p:txBody>
      </p:sp>
      <p:sp>
        <p:nvSpPr>
          <p:cNvPr id="8" name="Kartu mini Menunggu"/>
          <p:cNvSpPr/>
          <p:nvPr/>
        </p:nvSpPr>
        <p:spPr>
          <a:xfrm>
            <a:off x="804672" y="2651760"/>
            <a:ext cx="914400" cy="502920"/>
          </a:xfrm>
          <a:prstGeom prst="roundRect">
            <a:avLst>
              <a:gd name="adj" fmla="val 18182"/>
            </a:avLst>
          </a:prstGeom>
          <a:solidFill>
            <a:srgbClr val="FFFFFF"/>
          </a:solidFill>
          <a:ln w="12700">
            <a:solidFill>
              <a:srgbClr val="141414"/>
            </a:solidFill>
            <a:prstDash val="solid"/>
          </a:ln>
          <a:effectLst>
            <a:outerShdw dist="25400" dir="2700000" algn="tl" rotWithShape="0">
              <a:srgbClr val="141414"/>
            </a:outerShdw>
          </a:effectLst>
        </p:spPr>
      </p:sp>
      <p:sp>
        <p:nvSpPr>
          <p:cNvPr id="9" name="Teks mini Menunggu"/>
          <p:cNvSpPr txBox="1"/>
          <p:nvPr/>
        </p:nvSpPr>
        <p:spPr>
          <a:xfrm>
            <a:off x="877824" y="2651760"/>
            <a:ext cx="822960" cy="502920"/>
          </a:xfrm>
          <a:prstGeom prst="rect">
            <a:avLst/>
          </a:prstGeom>
          <a:noFill/>
        </p:spPr>
        <p:txBody>
          <a:bodyPr wrap="square" lIns="0" tIns="0" rIns="0" bIns="0" rtlCol="0" anchor="ctr"/>
          <a:lstStyle/>
          <a:p>
            <a:pPr marL="0" indent="0">
              <a:buNone/>
            </a:pPr>
            <a:r>
              <a:rPr lang="en-US" sz="1000" dirty="0">
                <a:solidFill>
                  <a:schemeClr val="tx1"/>
                </a:solidFill>
              </a:rPr>
              <a:t>Menunggu</a:t>
            </a:r>
            <a:endParaRPr lang="en-US" sz="1000" dirty="0"/>
          </a:p>
          <a:p>
            <a:pPr marL="0" indent="0">
              <a:buNone/>
            </a:pPr>
            <a:r>
              <a:rPr lang="en-US" sz="1200" b="1" dirty="0">
                <a:solidFill>
                  <a:schemeClr val="tx1"/>
                </a:solidFill>
              </a:rPr>
              <a:t>5 orang</a:t>
            </a:r>
            <a:endParaRPr lang="en-US" sz="1000" dirty="0"/>
          </a:p>
        </p:txBody>
      </p:sp>
      <p:sp>
        <p:nvSpPr>
          <p:cNvPr id="10" name="Kartu mini Terakhir"/>
          <p:cNvSpPr/>
          <p:nvPr/>
        </p:nvSpPr>
        <p:spPr>
          <a:xfrm>
            <a:off x="1755648" y="2651760"/>
            <a:ext cx="914400" cy="502920"/>
          </a:xfrm>
          <a:prstGeom prst="roundRect">
            <a:avLst>
              <a:gd name="adj" fmla="val 18182"/>
            </a:avLst>
          </a:prstGeom>
          <a:solidFill>
            <a:srgbClr val="FFFFFF"/>
          </a:solidFill>
          <a:ln w="12700">
            <a:solidFill>
              <a:srgbClr val="141414"/>
            </a:solidFill>
            <a:prstDash val="solid"/>
          </a:ln>
          <a:effectLst>
            <a:outerShdw dist="25400" dir="2700000" algn="tl" rotWithShape="0">
              <a:srgbClr val="141414"/>
            </a:outerShdw>
          </a:effectLst>
        </p:spPr>
      </p:sp>
      <p:sp>
        <p:nvSpPr>
          <p:cNvPr id="11" name="Teks mini Terakhir"/>
          <p:cNvSpPr txBox="1"/>
          <p:nvPr/>
        </p:nvSpPr>
        <p:spPr>
          <a:xfrm>
            <a:off x="1828800" y="2651760"/>
            <a:ext cx="822960" cy="502920"/>
          </a:xfrm>
          <a:prstGeom prst="rect">
            <a:avLst/>
          </a:prstGeom>
          <a:noFill/>
        </p:spPr>
        <p:txBody>
          <a:bodyPr wrap="square" lIns="0" tIns="0" rIns="0" bIns="0" rtlCol="0" anchor="ctr"/>
          <a:lstStyle/>
          <a:p>
            <a:pPr marL="0" indent="0">
              <a:buNone/>
            </a:pPr>
            <a:r>
              <a:rPr lang="en-US" sz="1000" dirty="0">
                <a:solidFill>
                  <a:schemeClr val="tx1"/>
                </a:solidFill>
              </a:rPr>
              <a:t>Terakhir</a:t>
            </a:r>
            <a:endParaRPr lang="en-US" sz="1000" dirty="0"/>
          </a:p>
          <a:p>
            <a:pPr marL="0" indent="0">
              <a:buNone/>
            </a:pPr>
            <a:r>
              <a:rPr lang="en-US" sz="1200" b="1" dirty="0">
                <a:solidFill>
                  <a:schemeClr val="tx1"/>
                </a:solidFill>
              </a:rPr>
              <a:t>A-009</a:t>
            </a:r>
            <a:endParaRPr lang="en-US" sz="1000" dirty="0"/>
          </a:p>
        </p:txBody>
      </p:sp>
      <p:sp>
        <p:nvSpPr>
          <p:cNvPr id="12" name="Tombol Panggil Berikutnya"/>
          <p:cNvSpPr/>
          <p:nvPr/>
        </p:nvSpPr>
        <p:spPr>
          <a:xfrm>
            <a:off x="804672" y="3246120"/>
            <a:ext cx="1865376" cy="310896"/>
          </a:xfrm>
          <a:prstGeom prst="roundRect">
            <a:avLst>
              <a:gd name="adj" fmla="val 50000"/>
            </a:avLst>
          </a:prstGeom>
          <a:solidFill>
            <a:schemeClr val="accent1"/>
          </a:solidFill>
          <a:ln w="12700">
            <a:solidFill>
              <a:srgbClr val="141414"/>
            </a:solidFill>
            <a:prstDash val="solid"/>
          </a:ln>
          <a:effectLst>
            <a:outerShdw dist="25400" dir="2700000" algn="tl" rotWithShape="0">
              <a:srgbClr val="141414"/>
            </a:outerShdw>
          </a:effectLst>
        </p:spPr>
      </p:sp>
      <p:sp>
        <p:nvSpPr>
          <p:cNvPr id="13" name="Teks Panggil Berikutnya"/>
          <p:cNvSpPr txBox="1"/>
          <p:nvPr/>
        </p:nvSpPr>
        <p:spPr>
          <a:xfrm>
            <a:off x="804672" y="3246120"/>
            <a:ext cx="1865376" cy="310896"/>
          </a:xfrm>
          <a:prstGeom prst="rect">
            <a:avLst/>
          </a:prstGeom>
          <a:noFill/>
        </p:spPr>
        <p:txBody>
          <a:bodyPr wrap="square" lIns="0" tIns="0" rIns="0" bIns="0" rtlCol="0" anchor="ctr"/>
          <a:lstStyle/>
          <a:p>
            <a:pPr marL="0" indent="0" algn="ctr">
              <a:buNone/>
            </a:pPr>
            <a:r>
              <a:rPr lang="en-US" sz="1100" b="1" dirty="0">
                <a:solidFill>
                  <a:schemeClr val="bg1"/>
                </a:solidFill>
              </a:rPr>
              <a:t>Panggil Berikutnya</a:t>
            </a:r>
            <a:endParaRPr lang="en-US" sz="1100" dirty="0"/>
          </a:p>
        </p:txBody>
      </p:sp>
      <p:sp>
        <p:nvSpPr>
          <p:cNvPr id="14" name="Tombol Batal"/>
          <p:cNvSpPr/>
          <p:nvPr/>
        </p:nvSpPr>
        <p:spPr>
          <a:xfrm>
            <a:off x="804672" y="3630168"/>
            <a:ext cx="713232" cy="274320"/>
          </a:xfrm>
          <a:prstGeom prst="roundRect">
            <a:avLst>
              <a:gd name="adj" fmla="val 50000"/>
            </a:avLst>
          </a:prstGeom>
          <a:solidFill>
            <a:srgbClr val="FFFFFF"/>
          </a:solidFill>
          <a:ln w="12700">
            <a:solidFill>
              <a:srgbClr val="141414"/>
            </a:solidFill>
            <a:prstDash val="solid"/>
          </a:ln>
          <a:effectLst>
            <a:outerShdw dist="25400" dir="2700000" algn="tl" rotWithShape="0">
              <a:srgbClr val="141414"/>
            </a:outerShdw>
          </a:effectLst>
        </p:spPr>
      </p:sp>
      <p:sp>
        <p:nvSpPr>
          <p:cNvPr id="15" name="Teks Batal"/>
          <p:cNvSpPr txBox="1"/>
          <p:nvPr/>
        </p:nvSpPr>
        <p:spPr>
          <a:xfrm>
            <a:off x="804672" y="3630168"/>
            <a:ext cx="713232" cy="274320"/>
          </a:xfrm>
          <a:prstGeom prst="rect">
            <a:avLst/>
          </a:prstGeom>
          <a:noFill/>
        </p:spPr>
        <p:txBody>
          <a:bodyPr wrap="square" lIns="0" tIns="0" rIns="0" bIns="0" rtlCol="0" anchor="ctr"/>
          <a:lstStyle/>
          <a:p>
            <a:pPr marL="0" indent="0" algn="ctr">
              <a:buNone/>
            </a:pPr>
            <a:r>
              <a:rPr lang="en-US" sz="1000" dirty="0">
                <a:solidFill>
                  <a:schemeClr val="accent1"/>
                </a:solidFill>
              </a:rPr>
              <a:t>Batal</a:t>
            </a:r>
            <a:endParaRPr lang="en-US" sz="1000" dirty="0"/>
          </a:p>
        </p:txBody>
      </p:sp>
      <p:sp>
        <p:nvSpPr>
          <p:cNvPr id="16" name="Tombol Ambil Nomor"/>
          <p:cNvSpPr/>
          <p:nvPr/>
        </p:nvSpPr>
        <p:spPr>
          <a:xfrm>
            <a:off x="1591056" y="3630168"/>
            <a:ext cx="1078992" cy="274320"/>
          </a:xfrm>
          <a:prstGeom prst="roundRect">
            <a:avLst>
              <a:gd name="adj" fmla="val 50000"/>
            </a:avLst>
          </a:prstGeom>
          <a:solidFill>
            <a:srgbClr val="FFD23F"/>
          </a:solidFill>
          <a:ln w="12700">
            <a:solidFill>
              <a:srgbClr val="141414"/>
            </a:solidFill>
            <a:prstDash val="solid"/>
          </a:ln>
          <a:effectLst>
            <a:outerShdw dist="25400" dir="2700000" algn="tl" rotWithShape="0">
              <a:srgbClr val="141414"/>
            </a:outerShdw>
          </a:effectLst>
        </p:spPr>
      </p:sp>
      <p:sp>
        <p:nvSpPr>
          <p:cNvPr id="17" name="Teks Ambil Nomor"/>
          <p:cNvSpPr txBox="1"/>
          <p:nvPr/>
        </p:nvSpPr>
        <p:spPr>
          <a:xfrm>
            <a:off x="1591056" y="3630168"/>
            <a:ext cx="1078992" cy="274320"/>
          </a:xfrm>
          <a:prstGeom prst="rect">
            <a:avLst/>
          </a:prstGeom>
          <a:noFill/>
        </p:spPr>
        <p:txBody>
          <a:bodyPr wrap="square" lIns="0" tIns="0" rIns="0" bIns="0" rtlCol="0" anchor="ctr"/>
          <a:lstStyle/>
          <a:p>
            <a:pPr marL="0" indent="0" algn="ctr">
              <a:buNone/>
            </a:pPr>
            <a:r>
              <a:rPr lang="en-US" sz="1000" b="1" dirty="0">
                <a:solidFill>
                  <a:srgbClr val="141414"/>
                </a:solidFill>
              </a:rPr>
              <a:t>Ambil Nomor</a:t>
            </a:r>
            <a:endParaRPr lang="en-US" sz="1000" dirty="0"/>
          </a:p>
        </p:txBody>
      </p:sp>
      <p:sp>
        <p:nvSpPr>
          <p:cNvPr id="18" name="Tombol A-005"/>
          <p:cNvSpPr/>
          <p:nvPr/>
        </p:nvSpPr>
        <p:spPr>
          <a:xfrm>
            <a:off x="804672" y="4050792"/>
            <a:ext cx="585216" cy="237744"/>
          </a:xfrm>
          <a:prstGeom prst="roundRect">
            <a:avLst>
              <a:gd name="adj" fmla="val 50000"/>
            </a:avLst>
          </a:prstGeom>
          <a:solidFill>
            <a:schemeClr val="accent1"/>
          </a:solidFill>
          <a:ln w="12700">
            <a:solidFill>
              <a:srgbClr val="141414"/>
            </a:solidFill>
            <a:prstDash val="solid"/>
          </a:ln>
          <a:effectLst>
            <a:outerShdw dist="12700" dir="2700000" algn="tl" rotWithShape="0">
              <a:srgbClr val="141414"/>
            </a:outerShdw>
          </a:effectLst>
        </p:spPr>
      </p:sp>
      <p:sp>
        <p:nvSpPr>
          <p:cNvPr id="19" name="Teks A-005"/>
          <p:cNvSpPr txBox="1"/>
          <p:nvPr/>
        </p:nvSpPr>
        <p:spPr>
          <a:xfrm>
            <a:off x="804672" y="4050792"/>
            <a:ext cx="585216" cy="237744"/>
          </a:xfrm>
          <a:prstGeom prst="rect">
            <a:avLst/>
          </a:prstGeom>
          <a:noFill/>
        </p:spPr>
        <p:txBody>
          <a:bodyPr wrap="square" lIns="0" tIns="0" rIns="0" bIns="0" rtlCol="0" anchor="ctr"/>
          <a:lstStyle/>
          <a:p>
            <a:pPr marL="0" indent="0" algn="ctr">
              <a:buNone/>
            </a:pPr>
            <a:r>
              <a:rPr lang="en-US" sz="1000" dirty="0">
                <a:solidFill>
                  <a:schemeClr val="bg1"/>
                </a:solidFill>
              </a:rPr>
              <a:t>A-005</a:t>
            </a:r>
            <a:endParaRPr lang="en-US" sz="1000" dirty="0"/>
          </a:p>
        </p:txBody>
      </p:sp>
      <p:sp>
        <p:nvSpPr>
          <p:cNvPr id="20" name="Tombol A-006"/>
          <p:cNvSpPr/>
          <p:nvPr/>
        </p:nvSpPr>
        <p:spPr>
          <a:xfrm>
            <a:off x="1444752" y="4050792"/>
            <a:ext cx="585216" cy="237744"/>
          </a:xfrm>
          <a:prstGeom prst="roundRect">
            <a:avLst>
              <a:gd name="adj" fmla="val 50000"/>
            </a:avLst>
          </a:prstGeom>
          <a:solidFill>
            <a:srgbClr val="FFFFFF"/>
          </a:solidFill>
          <a:ln w="12700">
            <a:solidFill>
              <a:srgbClr val="141414"/>
            </a:solidFill>
            <a:prstDash val="solid"/>
          </a:ln>
          <a:effectLst>
            <a:outerShdw dist="12700" dir="2700000" algn="tl" rotWithShape="0">
              <a:srgbClr val="141414"/>
            </a:outerShdw>
          </a:effectLst>
        </p:spPr>
      </p:sp>
      <p:sp>
        <p:nvSpPr>
          <p:cNvPr id="21" name="Teks A-006"/>
          <p:cNvSpPr txBox="1"/>
          <p:nvPr/>
        </p:nvSpPr>
        <p:spPr>
          <a:xfrm>
            <a:off x="1444752" y="4050792"/>
            <a:ext cx="585216" cy="237744"/>
          </a:xfrm>
          <a:prstGeom prst="rect">
            <a:avLst/>
          </a:prstGeom>
          <a:noFill/>
        </p:spPr>
        <p:txBody>
          <a:bodyPr wrap="square" lIns="0" tIns="0" rIns="0" bIns="0" rtlCol="0" anchor="ctr"/>
          <a:lstStyle/>
          <a:p>
            <a:pPr marL="0" indent="0" algn="ctr">
              <a:buNone/>
            </a:pPr>
            <a:r>
              <a:rPr lang="en-US" sz="1000" dirty="0">
                <a:solidFill>
                  <a:schemeClr val="tx1"/>
                </a:solidFill>
              </a:rPr>
              <a:t>A-006</a:t>
            </a:r>
            <a:endParaRPr lang="en-US" sz="1000" dirty="0"/>
          </a:p>
        </p:txBody>
      </p:sp>
      <p:sp>
        <p:nvSpPr>
          <p:cNvPr id="22" name="Tombol A-007"/>
          <p:cNvSpPr/>
          <p:nvPr/>
        </p:nvSpPr>
        <p:spPr>
          <a:xfrm>
            <a:off x="2084832" y="4050792"/>
            <a:ext cx="585216" cy="237744"/>
          </a:xfrm>
          <a:prstGeom prst="roundRect">
            <a:avLst>
              <a:gd name="adj" fmla="val 50000"/>
            </a:avLst>
          </a:prstGeom>
          <a:solidFill>
            <a:srgbClr val="FFFFFF"/>
          </a:solidFill>
          <a:ln w="12700">
            <a:solidFill>
              <a:srgbClr val="141414"/>
            </a:solidFill>
            <a:prstDash val="solid"/>
          </a:ln>
          <a:effectLst>
            <a:outerShdw dist="12700" dir="2700000" algn="tl" rotWithShape="0">
              <a:srgbClr val="141414"/>
            </a:outerShdw>
          </a:effectLst>
        </p:spPr>
      </p:sp>
      <p:sp>
        <p:nvSpPr>
          <p:cNvPr id="23" name="Teks A-007"/>
          <p:cNvSpPr txBox="1"/>
          <p:nvPr/>
        </p:nvSpPr>
        <p:spPr>
          <a:xfrm>
            <a:off x="2084832" y="4050792"/>
            <a:ext cx="585216" cy="237744"/>
          </a:xfrm>
          <a:prstGeom prst="rect">
            <a:avLst/>
          </a:prstGeom>
          <a:noFill/>
        </p:spPr>
        <p:txBody>
          <a:bodyPr wrap="square" lIns="0" tIns="0" rIns="0" bIns="0" rtlCol="0" anchor="ctr"/>
          <a:lstStyle/>
          <a:p>
            <a:pPr marL="0" indent="0" algn="ctr">
              <a:buNone/>
            </a:pPr>
            <a:r>
              <a:rPr lang="en-US" sz="1000" dirty="0">
                <a:solidFill>
                  <a:schemeClr val="tx1"/>
                </a:solidFill>
              </a:rPr>
              <a:t>A-007</a:t>
            </a:r>
            <a:endParaRPr lang="en-US" sz="1000" dirty="0"/>
          </a:p>
        </p:txBody>
      </p:sp>
      <p:sp>
        <p:nvSpPr>
          <p:cNvPr id="24" name="Lencana 1"/>
          <p:cNvSpPr/>
          <p:nvPr/>
        </p:nvSpPr>
        <p:spPr>
          <a:xfrm>
            <a:off x="3383280" y="1325880"/>
            <a:ext cx="365760" cy="365760"/>
          </a:xfrm>
          <a:prstGeom prst="ellipse">
            <a:avLst/>
          </a:prstGeom>
          <a:solidFill>
            <a:schemeClr val="accent2"/>
          </a:solidFill>
          <a:ln w="6350">
            <a:solidFill>
              <a:schemeClr val="accent2"/>
            </a:solidFill>
            <a:prstDash val="solid"/>
          </a:ln>
        </p:spPr>
      </p:sp>
      <p:sp>
        <p:nvSpPr>
          <p:cNvPr id="25" name="Angka 1"/>
          <p:cNvSpPr txBox="1"/>
          <p:nvPr/>
        </p:nvSpPr>
        <p:spPr>
          <a:xfrm>
            <a:off x="3383280" y="132588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26" name="Judul keterangan 1"/>
          <p:cNvSpPr txBox="1"/>
          <p:nvPr/>
        </p:nvSpPr>
        <p:spPr>
          <a:xfrm>
            <a:off x="3931920" y="1307592"/>
            <a:ext cx="4572000" cy="274320"/>
          </a:xfrm>
          <a:prstGeom prst="rect">
            <a:avLst/>
          </a:prstGeom>
          <a:noFill/>
        </p:spPr>
        <p:txBody>
          <a:bodyPr wrap="square" lIns="0" tIns="0" rIns="0" bIns="0" rtlCol="0" anchor="t"/>
          <a:lstStyle/>
          <a:p>
            <a:pPr marL="0" indent="0">
              <a:buNone/>
            </a:pPr>
            <a:r>
              <a:rPr lang="en-US" sz="1600" b="1" dirty="0">
                <a:solidFill>
                  <a:schemeClr val="tx2"/>
                </a:solidFill>
              </a:rPr>
              <a:t>Kartu sedang dilayani</a:t>
            </a:r>
            <a:endParaRPr lang="en-US" sz="1600" dirty="0"/>
          </a:p>
        </p:txBody>
      </p:sp>
      <p:sp>
        <p:nvSpPr>
          <p:cNvPr id="27" name="Isi keterangan 1"/>
          <p:cNvSpPr txBox="1"/>
          <p:nvPr/>
        </p:nvSpPr>
        <p:spPr>
          <a:xfrm>
            <a:off x="3931920" y="1618488"/>
            <a:ext cx="4572000" cy="548640"/>
          </a:xfrm>
          <a:prstGeom prst="rect">
            <a:avLst/>
          </a:prstGeom>
          <a:noFill/>
        </p:spPr>
        <p:txBody>
          <a:bodyPr wrap="square" lIns="0" tIns="0" rIns="0" bIns="0" rtlCol="0" anchor="t"/>
          <a:lstStyle/>
          <a:p>
            <a:pPr marL="0" indent="0">
              <a:buNone/>
            </a:pPr>
            <a:r>
              <a:rPr lang="en-US" sz="1400" dirty="0">
                <a:solidFill>
                  <a:schemeClr val="tx1"/>
                </a:solidFill>
              </a:rPr>
              <a:t>Nomor besar dengan animasi saat nomor berganti.</a:t>
            </a:r>
            <a:endParaRPr lang="en-US" sz="1400" dirty="0"/>
          </a:p>
        </p:txBody>
      </p:sp>
      <p:sp>
        <p:nvSpPr>
          <p:cNvPr id="28" name="Lencana 2"/>
          <p:cNvSpPr/>
          <p:nvPr/>
        </p:nvSpPr>
        <p:spPr>
          <a:xfrm>
            <a:off x="3383280" y="2423160"/>
            <a:ext cx="365760" cy="365760"/>
          </a:xfrm>
          <a:prstGeom prst="ellipse">
            <a:avLst/>
          </a:prstGeom>
          <a:solidFill>
            <a:schemeClr val="accent2"/>
          </a:solidFill>
          <a:ln w="6350">
            <a:solidFill>
              <a:schemeClr val="accent2"/>
            </a:solidFill>
            <a:prstDash val="solid"/>
          </a:ln>
        </p:spPr>
      </p:sp>
      <p:sp>
        <p:nvSpPr>
          <p:cNvPr id="29" name="Angka 2"/>
          <p:cNvSpPr txBox="1"/>
          <p:nvPr/>
        </p:nvSpPr>
        <p:spPr>
          <a:xfrm>
            <a:off x="3383280" y="242316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30" name="Judul keterangan 2"/>
          <p:cNvSpPr txBox="1"/>
          <p:nvPr/>
        </p:nvSpPr>
        <p:spPr>
          <a:xfrm>
            <a:off x="3931920" y="2404872"/>
            <a:ext cx="4572000" cy="274320"/>
          </a:xfrm>
          <a:prstGeom prst="rect">
            <a:avLst/>
          </a:prstGeom>
          <a:noFill/>
        </p:spPr>
        <p:txBody>
          <a:bodyPr wrap="square" lIns="0" tIns="0" rIns="0" bIns="0" rtlCol="0" anchor="t"/>
          <a:lstStyle/>
          <a:p>
            <a:pPr marL="0" indent="0">
              <a:buNone/>
            </a:pPr>
            <a:r>
              <a:rPr lang="en-US" sz="1600" b="1" dirty="0">
                <a:solidFill>
                  <a:schemeClr val="tx2"/>
                </a:solidFill>
              </a:rPr>
              <a:t>Tiga tombol aksi</a:t>
            </a:r>
            <a:endParaRPr lang="en-US" sz="1600" dirty="0"/>
          </a:p>
        </p:txBody>
      </p:sp>
      <p:sp>
        <p:nvSpPr>
          <p:cNvPr id="31" name="Isi keterangan 2"/>
          <p:cNvSpPr txBox="1"/>
          <p:nvPr/>
        </p:nvSpPr>
        <p:spPr>
          <a:xfrm>
            <a:off x="3931920" y="2715768"/>
            <a:ext cx="4572000" cy="548640"/>
          </a:xfrm>
          <a:prstGeom prst="rect">
            <a:avLst/>
          </a:prstGeom>
          <a:noFill/>
        </p:spPr>
        <p:txBody>
          <a:bodyPr wrap="square" lIns="0" tIns="0" rIns="0" bIns="0" rtlCol="0" anchor="t"/>
          <a:lstStyle/>
          <a:p>
            <a:pPr marL="0" indent="0">
              <a:buNone/>
            </a:pPr>
            <a:r>
              <a:rPr lang="en-US" sz="1400" dirty="0">
                <a:solidFill>
                  <a:schemeClr val="tx1"/>
                </a:solidFill>
              </a:rPr>
              <a:t>Panggil Berikutnya, Batal, dan Ambil Nomor.</a:t>
            </a:r>
            <a:endParaRPr lang="en-US" sz="1400" dirty="0"/>
          </a:p>
        </p:txBody>
      </p:sp>
      <p:sp>
        <p:nvSpPr>
          <p:cNvPr id="32" name="Lencana 3"/>
          <p:cNvSpPr/>
          <p:nvPr/>
        </p:nvSpPr>
        <p:spPr>
          <a:xfrm>
            <a:off x="3383280" y="3520440"/>
            <a:ext cx="365760" cy="365760"/>
          </a:xfrm>
          <a:prstGeom prst="ellipse">
            <a:avLst/>
          </a:prstGeom>
          <a:solidFill>
            <a:schemeClr val="accent2"/>
          </a:solidFill>
          <a:ln w="6350">
            <a:solidFill>
              <a:schemeClr val="accent2"/>
            </a:solidFill>
            <a:prstDash val="solid"/>
          </a:ln>
        </p:spPr>
      </p:sp>
      <p:sp>
        <p:nvSpPr>
          <p:cNvPr id="33" name="Angka 3"/>
          <p:cNvSpPr txBox="1"/>
          <p:nvPr/>
        </p:nvSpPr>
        <p:spPr>
          <a:xfrm>
            <a:off x="3383280" y="3520440"/>
            <a:ext cx="365760" cy="365760"/>
          </a:xfrm>
          <a:prstGeom prst="rect">
            <a:avLst/>
          </a:prstGeom>
          <a:noFill/>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34" name="Judul keterangan 3"/>
          <p:cNvSpPr txBox="1"/>
          <p:nvPr/>
        </p:nvSpPr>
        <p:spPr>
          <a:xfrm>
            <a:off x="3931920" y="3502152"/>
            <a:ext cx="4572000" cy="274320"/>
          </a:xfrm>
          <a:prstGeom prst="rect">
            <a:avLst/>
          </a:prstGeom>
          <a:noFill/>
        </p:spPr>
        <p:txBody>
          <a:bodyPr wrap="square" lIns="0" tIns="0" rIns="0" bIns="0" rtlCol="0" anchor="t"/>
          <a:lstStyle/>
          <a:p>
            <a:pPr marL="0" indent="0">
              <a:buNone/>
            </a:pPr>
            <a:r>
              <a:rPr lang="en-US" sz="1600" b="1" dirty="0">
                <a:solidFill>
                  <a:schemeClr val="tx2"/>
                </a:solidFill>
              </a:rPr>
              <a:t>Daftar nomor</a:t>
            </a:r>
            <a:endParaRPr lang="en-US" sz="1600" dirty="0"/>
          </a:p>
        </p:txBody>
      </p:sp>
      <p:sp>
        <p:nvSpPr>
          <p:cNvPr id="35" name="Isi keterangan 3"/>
          <p:cNvSpPr txBox="1"/>
          <p:nvPr/>
        </p:nvSpPr>
        <p:spPr>
          <a:xfrm>
            <a:off x="3931920" y="3813048"/>
            <a:ext cx="4572000" cy="548640"/>
          </a:xfrm>
          <a:prstGeom prst="rect">
            <a:avLst/>
          </a:prstGeom>
          <a:noFill/>
        </p:spPr>
        <p:txBody>
          <a:bodyPr wrap="square" lIns="0" tIns="0" rIns="0" bIns="0" rtlCol="0" anchor="t"/>
          <a:lstStyle/>
          <a:p>
            <a:pPr marL="0" indent="0">
              <a:buNone/>
            </a:pPr>
            <a:r>
              <a:rPr lang="en-US" sz="1400" dirty="0">
                <a:solidFill>
                  <a:schemeClr val="tx1"/>
                </a:solidFill>
              </a:rPr>
              <a:t>Nomor terdepan diberi penanda khusus; yang selesai dipisah.</a:t>
            </a:r>
            <a:endParaRPr lang="en-US" sz="1400" dirty="0"/>
          </a:p>
        </p:txBody>
      </p:sp>
      <p:sp>
        <p:nvSpPr>
          <p:cNvPr id="36"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Empat Halaman Tambahan</a:t>
            </a:r>
            <a:endParaRPr lang="en-US" sz="3400" dirty="0"/>
          </a:p>
        </p:txBody>
      </p:sp>
      <p:sp>
        <p:nvSpPr>
          <p:cNvPr id="3" name="Kartu Layar Pelanggan"/>
          <p:cNvSpPr/>
          <p:nvPr/>
        </p:nvSpPr>
        <p:spPr>
          <a:xfrm>
            <a:off x="548640" y="1280160"/>
            <a:ext cx="3931920" cy="1554480"/>
          </a:xfrm>
          <a:prstGeom prst="roundRect">
            <a:avLst>
              <a:gd name="adj" fmla="val 7059"/>
            </a:avLst>
          </a:prstGeom>
          <a:solidFill>
            <a:schemeClr val="bg2"/>
          </a:solidFill>
          <a:ln w="9525">
            <a:solidFill>
              <a:schemeClr val="bg2"/>
            </a:solidFill>
            <a:prstDash val="solid"/>
          </a:ln>
        </p:spPr>
      </p:sp>
      <p:sp>
        <p:nvSpPr>
          <p:cNvPr id="4" name="Ikon Layar Pelanggan (latar)"/>
          <p:cNvSpPr/>
          <p:nvPr/>
        </p:nvSpPr>
        <p:spPr>
          <a:xfrm>
            <a:off x="731520" y="1463040"/>
            <a:ext cx="548640" cy="548640"/>
          </a:xfrm>
          <a:prstGeom prst="ellipse">
            <a:avLst/>
          </a:prstGeom>
          <a:solidFill>
            <a:schemeClr val="accent1"/>
          </a:solidFill>
          <a:ln w="6350">
            <a:solidFill>
              <a:schemeClr val="accent1"/>
            </a:solidFill>
            <a:prstDash val="solid"/>
          </a:ln>
        </p:spPr>
      </p:sp>
      <p:pic>
        <p:nvPicPr>
          <p:cNvPr id="5" name="Ikon Layar Pelanggan" descr="Ikon Layar Pelanggan"/>
          <p:cNvPicPr>
            <a:picLocks noChangeAspect="1"/>
          </p:cNvPicPr>
          <p:nvPr/>
        </p:nvPicPr>
        <p:blipFill>
          <a:blip r:embed="rId1"/>
          <a:stretch>
            <a:fillRect/>
          </a:stretch>
        </p:blipFill>
        <p:spPr>
          <a:xfrm>
            <a:off x="868680" y="1600200"/>
            <a:ext cx="274320" cy="274320"/>
          </a:xfrm>
          <a:prstGeom prst="rect">
            <a:avLst/>
          </a:prstGeom>
        </p:spPr>
      </p:pic>
      <p:sp>
        <p:nvSpPr>
          <p:cNvPr id="6" name="Judul Layar Pelanggan"/>
          <p:cNvSpPr txBox="1"/>
          <p:nvPr/>
        </p:nvSpPr>
        <p:spPr>
          <a:xfrm>
            <a:off x="1463040" y="1481328"/>
            <a:ext cx="2834640" cy="320040"/>
          </a:xfrm>
          <a:prstGeom prst="rect">
            <a:avLst/>
          </a:prstGeom>
          <a:noFill/>
        </p:spPr>
        <p:txBody>
          <a:bodyPr wrap="square" lIns="0" tIns="0" rIns="0" bIns="0" rtlCol="0" anchor="ctr"/>
          <a:lstStyle/>
          <a:p>
            <a:pPr marL="0" indent="0">
              <a:buNone/>
            </a:pPr>
            <a:r>
              <a:rPr lang="en-US" sz="1700" b="1" dirty="0">
                <a:solidFill>
                  <a:schemeClr val="tx2"/>
                </a:solidFill>
              </a:rPr>
              <a:t>Layar Pelanggan</a:t>
            </a:r>
            <a:endParaRPr lang="en-US" sz="1700" dirty="0"/>
          </a:p>
        </p:txBody>
      </p:sp>
      <p:sp>
        <p:nvSpPr>
          <p:cNvPr id="7" name="Isi Layar Pelanggan"/>
          <p:cNvSpPr txBox="1"/>
          <p:nvPr/>
        </p:nvSpPr>
        <p:spPr>
          <a:xfrm>
            <a:off x="1463040" y="1901952"/>
            <a:ext cx="2834640" cy="822960"/>
          </a:xfrm>
          <a:prstGeom prst="rect">
            <a:avLst/>
          </a:prstGeom>
          <a:noFill/>
        </p:spPr>
        <p:txBody>
          <a:bodyPr wrap="square" lIns="0" tIns="0" rIns="0" bIns="0" rtlCol="0" anchor="t"/>
          <a:lstStyle/>
          <a:p>
            <a:pPr marL="0" indent="0">
              <a:buNone/>
            </a:pPr>
            <a:r>
              <a:rPr lang="en-US" sz="1400" dirty="0">
                <a:solidFill>
                  <a:schemeClr val="tx1"/>
                </a:solidFill>
              </a:rPr>
              <a:t>Khusus pembeli: nomor besar tanpa menu. Penjual kembali dengan sekali ketuk.</a:t>
            </a:r>
            <a:endParaRPr lang="en-US" sz="1400" dirty="0"/>
          </a:p>
        </p:txBody>
      </p:sp>
      <p:sp>
        <p:nvSpPr>
          <p:cNvPr id="8" name="Kartu Riwayat"/>
          <p:cNvSpPr/>
          <p:nvPr/>
        </p:nvSpPr>
        <p:spPr>
          <a:xfrm>
            <a:off x="4663440" y="1280160"/>
            <a:ext cx="3931920" cy="1554480"/>
          </a:xfrm>
          <a:prstGeom prst="roundRect">
            <a:avLst>
              <a:gd name="adj" fmla="val 7059"/>
            </a:avLst>
          </a:prstGeom>
          <a:solidFill>
            <a:schemeClr val="bg2"/>
          </a:solidFill>
          <a:ln w="9525">
            <a:solidFill>
              <a:schemeClr val="bg2"/>
            </a:solidFill>
            <a:prstDash val="solid"/>
          </a:ln>
        </p:spPr>
      </p:sp>
      <p:sp>
        <p:nvSpPr>
          <p:cNvPr id="9" name="Ikon Riwayat (latar)"/>
          <p:cNvSpPr/>
          <p:nvPr/>
        </p:nvSpPr>
        <p:spPr>
          <a:xfrm>
            <a:off x="4846320" y="1463040"/>
            <a:ext cx="548640" cy="548640"/>
          </a:xfrm>
          <a:prstGeom prst="ellipse">
            <a:avLst/>
          </a:prstGeom>
          <a:solidFill>
            <a:schemeClr val="accent3"/>
          </a:solidFill>
          <a:ln w="6350">
            <a:solidFill>
              <a:schemeClr val="accent3"/>
            </a:solidFill>
            <a:prstDash val="solid"/>
          </a:ln>
        </p:spPr>
      </p:sp>
      <p:pic>
        <p:nvPicPr>
          <p:cNvPr id="10" name="Ikon Riwayat" descr="Ikon Riwayat"/>
          <p:cNvPicPr>
            <a:picLocks noChangeAspect="1"/>
          </p:cNvPicPr>
          <p:nvPr/>
        </p:nvPicPr>
        <p:blipFill>
          <a:blip r:embed="rId2"/>
          <a:stretch>
            <a:fillRect/>
          </a:stretch>
        </p:blipFill>
        <p:spPr>
          <a:xfrm>
            <a:off x="4983480" y="1600200"/>
            <a:ext cx="274320" cy="274320"/>
          </a:xfrm>
          <a:prstGeom prst="rect">
            <a:avLst/>
          </a:prstGeom>
        </p:spPr>
      </p:pic>
      <p:sp>
        <p:nvSpPr>
          <p:cNvPr id="11" name="Judul Riwayat"/>
          <p:cNvSpPr txBox="1"/>
          <p:nvPr/>
        </p:nvSpPr>
        <p:spPr>
          <a:xfrm>
            <a:off x="5577840" y="1481328"/>
            <a:ext cx="2834640" cy="320040"/>
          </a:xfrm>
          <a:prstGeom prst="rect">
            <a:avLst/>
          </a:prstGeom>
          <a:noFill/>
        </p:spPr>
        <p:txBody>
          <a:bodyPr wrap="square" lIns="0" tIns="0" rIns="0" bIns="0" rtlCol="0" anchor="ctr"/>
          <a:lstStyle/>
          <a:p>
            <a:pPr marL="0" indent="0">
              <a:buNone/>
            </a:pPr>
            <a:r>
              <a:rPr lang="en-US" sz="1700" b="1" dirty="0">
                <a:solidFill>
                  <a:schemeClr val="tx2"/>
                </a:solidFill>
              </a:rPr>
              <a:t>Riwayat</a:t>
            </a:r>
            <a:endParaRPr lang="en-US" sz="1700" dirty="0"/>
          </a:p>
        </p:txBody>
      </p:sp>
      <p:sp>
        <p:nvSpPr>
          <p:cNvPr id="12" name="Isi Riwayat"/>
          <p:cNvSpPr txBox="1"/>
          <p:nvPr/>
        </p:nvSpPr>
        <p:spPr>
          <a:xfrm>
            <a:off x="5577840" y="1901952"/>
            <a:ext cx="2834640" cy="822960"/>
          </a:xfrm>
          <a:prstGeom prst="rect">
            <a:avLst/>
          </a:prstGeom>
          <a:noFill/>
        </p:spPr>
        <p:txBody>
          <a:bodyPr wrap="square" lIns="0" tIns="0" rIns="0" bIns="0" rtlCol="0" anchor="t"/>
          <a:lstStyle/>
          <a:p>
            <a:pPr marL="0" indent="0">
              <a:buNone/>
            </a:pPr>
            <a:r>
              <a:rPr lang="en-US" sz="1400" dirty="0">
                <a:solidFill>
                  <a:schemeClr val="tx1"/>
                </a:solidFill>
              </a:rPr>
              <a:t>Jam ambil, jam panggil, lama menunggu, dan lama layanan setiap nomor.</a:t>
            </a:r>
            <a:endParaRPr lang="en-US" sz="1400" dirty="0"/>
          </a:p>
        </p:txBody>
      </p:sp>
      <p:sp>
        <p:nvSpPr>
          <p:cNvPr id="13" name="Kartu Statistik"/>
          <p:cNvSpPr/>
          <p:nvPr/>
        </p:nvSpPr>
        <p:spPr>
          <a:xfrm>
            <a:off x="548640" y="2971800"/>
            <a:ext cx="3931920" cy="1554480"/>
          </a:xfrm>
          <a:prstGeom prst="roundRect">
            <a:avLst>
              <a:gd name="adj" fmla="val 7059"/>
            </a:avLst>
          </a:prstGeom>
          <a:solidFill>
            <a:schemeClr val="bg2"/>
          </a:solidFill>
          <a:ln w="9525">
            <a:solidFill>
              <a:schemeClr val="bg2"/>
            </a:solidFill>
            <a:prstDash val="solid"/>
          </a:ln>
        </p:spPr>
      </p:sp>
      <p:sp>
        <p:nvSpPr>
          <p:cNvPr id="14" name="Ikon Statistik (latar)"/>
          <p:cNvSpPr/>
          <p:nvPr/>
        </p:nvSpPr>
        <p:spPr>
          <a:xfrm>
            <a:off x="731520" y="3154680"/>
            <a:ext cx="548640" cy="548640"/>
          </a:xfrm>
          <a:prstGeom prst="ellipse">
            <a:avLst/>
          </a:prstGeom>
          <a:solidFill>
            <a:schemeClr val="accent4"/>
          </a:solidFill>
          <a:ln w="6350">
            <a:solidFill>
              <a:schemeClr val="accent4"/>
            </a:solidFill>
            <a:prstDash val="solid"/>
          </a:ln>
        </p:spPr>
      </p:sp>
      <p:pic>
        <p:nvPicPr>
          <p:cNvPr id="15" name="Ikon Statistik" descr="Ikon Statistik"/>
          <p:cNvPicPr>
            <a:picLocks noChangeAspect="1"/>
          </p:cNvPicPr>
          <p:nvPr/>
        </p:nvPicPr>
        <p:blipFill>
          <a:blip r:embed="rId3"/>
          <a:stretch>
            <a:fillRect/>
          </a:stretch>
        </p:blipFill>
        <p:spPr>
          <a:xfrm>
            <a:off x="868680" y="3291840"/>
            <a:ext cx="274320" cy="274320"/>
          </a:xfrm>
          <a:prstGeom prst="rect">
            <a:avLst/>
          </a:prstGeom>
        </p:spPr>
      </p:pic>
      <p:sp>
        <p:nvSpPr>
          <p:cNvPr id="16" name="Judul Statistik"/>
          <p:cNvSpPr txBox="1"/>
          <p:nvPr/>
        </p:nvSpPr>
        <p:spPr>
          <a:xfrm>
            <a:off x="1463040" y="3172968"/>
            <a:ext cx="2834640" cy="320040"/>
          </a:xfrm>
          <a:prstGeom prst="rect">
            <a:avLst/>
          </a:prstGeom>
          <a:noFill/>
        </p:spPr>
        <p:txBody>
          <a:bodyPr wrap="square" lIns="0" tIns="0" rIns="0" bIns="0" rtlCol="0" anchor="ctr"/>
          <a:lstStyle/>
          <a:p>
            <a:pPr marL="0" indent="0">
              <a:buNone/>
            </a:pPr>
            <a:r>
              <a:rPr lang="en-US" sz="1700" b="1" dirty="0">
                <a:solidFill>
                  <a:schemeClr val="tx2"/>
                </a:solidFill>
              </a:rPr>
              <a:t>Statistik</a:t>
            </a:r>
            <a:endParaRPr lang="en-US" sz="1700" dirty="0"/>
          </a:p>
        </p:txBody>
      </p:sp>
      <p:sp>
        <p:nvSpPr>
          <p:cNvPr id="17" name="Isi Statistik"/>
          <p:cNvSpPr txBox="1"/>
          <p:nvPr/>
        </p:nvSpPr>
        <p:spPr>
          <a:xfrm>
            <a:off x="1463040" y="3593592"/>
            <a:ext cx="2834640" cy="822960"/>
          </a:xfrm>
          <a:prstGeom prst="rect">
            <a:avLst/>
          </a:prstGeom>
          <a:noFill/>
        </p:spPr>
        <p:txBody>
          <a:bodyPr wrap="square" lIns="0" tIns="0" rIns="0" bIns="0" rtlCol="0" anchor="t"/>
          <a:lstStyle/>
          <a:p>
            <a:pPr marL="0" indent="0">
              <a:buNone/>
            </a:pPr>
            <a:r>
              <a:rPr lang="en-US" sz="1400" dirty="0">
                <a:solidFill>
                  <a:schemeClr val="tx1"/>
                </a:solidFill>
              </a:rPr>
              <a:t>Rata-rata waktu, komposisi antrian, dan grafik pengambilan nomor.</a:t>
            </a:r>
            <a:endParaRPr lang="en-US" sz="1400" dirty="0"/>
          </a:p>
        </p:txBody>
      </p:sp>
      <p:sp>
        <p:nvSpPr>
          <p:cNvPr id="18" name="Kartu Tentang"/>
          <p:cNvSpPr/>
          <p:nvPr/>
        </p:nvSpPr>
        <p:spPr>
          <a:xfrm>
            <a:off x="4663440" y="2971800"/>
            <a:ext cx="3931920" cy="1554480"/>
          </a:xfrm>
          <a:prstGeom prst="roundRect">
            <a:avLst>
              <a:gd name="adj" fmla="val 7059"/>
            </a:avLst>
          </a:prstGeom>
          <a:solidFill>
            <a:schemeClr val="bg2"/>
          </a:solidFill>
          <a:ln w="9525">
            <a:solidFill>
              <a:schemeClr val="bg2"/>
            </a:solidFill>
            <a:prstDash val="solid"/>
          </a:ln>
        </p:spPr>
      </p:sp>
      <p:sp>
        <p:nvSpPr>
          <p:cNvPr id="19" name="Ikon Tentang (latar)"/>
          <p:cNvSpPr/>
          <p:nvPr/>
        </p:nvSpPr>
        <p:spPr>
          <a:xfrm>
            <a:off x="4846320" y="3154680"/>
            <a:ext cx="548640" cy="548640"/>
          </a:xfrm>
          <a:prstGeom prst="ellipse">
            <a:avLst/>
          </a:prstGeom>
          <a:solidFill>
            <a:schemeClr val="accent6"/>
          </a:solidFill>
          <a:ln w="6350">
            <a:solidFill>
              <a:schemeClr val="accent6"/>
            </a:solidFill>
            <a:prstDash val="solid"/>
          </a:ln>
        </p:spPr>
      </p:sp>
      <p:pic>
        <p:nvPicPr>
          <p:cNvPr id="20" name="Ikon Tentang" descr="Ikon Tentang"/>
          <p:cNvPicPr>
            <a:picLocks noChangeAspect="1"/>
          </p:cNvPicPr>
          <p:nvPr/>
        </p:nvPicPr>
        <p:blipFill>
          <a:blip r:embed="rId4"/>
          <a:stretch>
            <a:fillRect/>
          </a:stretch>
        </p:blipFill>
        <p:spPr>
          <a:xfrm>
            <a:off x="4983480" y="3291840"/>
            <a:ext cx="274320" cy="274320"/>
          </a:xfrm>
          <a:prstGeom prst="rect">
            <a:avLst/>
          </a:prstGeom>
        </p:spPr>
      </p:pic>
      <p:sp>
        <p:nvSpPr>
          <p:cNvPr id="21" name="Judul Tentang"/>
          <p:cNvSpPr txBox="1"/>
          <p:nvPr/>
        </p:nvSpPr>
        <p:spPr>
          <a:xfrm>
            <a:off x="5577840" y="3172968"/>
            <a:ext cx="2834640" cy="320040"/>
          </a:xfrm>
          <a:prstGeom prst="rect">
            <a:avLst/>
          </a:prstGeom>
          <a:noFill/>
        </p:spPr>
        <p:txBody>
          <a:bodyPr wrap="square" lIns="0" tIns="0" rIns="0" bIns="0" rtlCol="0" anchor="ctr"/>
          <a:lstStyle/>
          <a:p>
            <a:pPr marL="0" indent="0">
              <a:buNone/>
            </a:pPr>
            <a:r>
              <a:rPr lang="en-US" sz="1700" b="1" dirty="0">
                <a:solidFill>
                  <a:schemeClr val="tx2"/>
                </a:solidFill>
              </a:rPr>
              <a:t>Tentang</a:t>
            </a:r>
            <a:endParaRPr lang="en-US" sz="1700" dirty="0"/>
          </a:p>
        </p:txBody>
      </p:sp>
      <p:sp>
        <p:nvSpPr>
          <p:cNvPr id="22" name="Isi Tentang"/>
          <p:cNvSpPr txBox="1"/>
          <p:nvPr/>
        </p:nvSpPr>
        <p:spPr>
          <a:xfrm>
            <a:off x="5577840" y="3593592"/>
            <a:ext cx="2834640" cy="822960"/>
          </a:xfrm>
          <a:prstGeom prst="rect">
            <a:avLst/>
          </a:prstGeom>
          <a:noFill/>
        </p:spPr>
        <p:txBody>
          <a:bodyPr wrap="square" lIns="0" tIns="0" rIns="0" bIns="0" rtlCol="0" anchor="t"/>
          <a:lstStyle/>
          <a:p>
            <a:pPr marL="0" indent="0">
              <a:buNone/>
            </a:pPr>
            <a:r>
              <a:rPr lang="en-US" sz="1400" dirty="0">
                <a:solidFill>
                  <a:schemeClr val="tx1"/>
                </a:solidFill>
              </a:rPr>
              <a:t>Identitas aplikasi, fitur utama, dan teknologi yang dipakai.</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Data Riwayat dan Statistik</a:t>
            </a:r>
            <a:endParaRPr lang="en-US" sz="3400" dirty="0"/>
          </a:p>
        </p:txBody>
      </p:sp>
      <p:sp>
        <p:nvSpPr>
          <p:cNvPr id="3" name="Kode CatatanLayanan (latar)"/>
          <p:cNvSpPr/>
          <p:nvPr/>
        </p:nvSpPr>
        <p:spPr>
          <a:xfrm>
            <a:off x="548640" y="1280160"/>
            <a:ext cx="4937760" cy="3291840"/>
          </a:xfrm>
          <a:prstGeom prst="roundRect">
            <a:avLst>
              <a:gd name="adj" fmla="val 2778"/>
            </a:avLst>
          </a:prstGeom>
          <a:solidFill>
            <a:schemeClr val="tx2"/>
          </a:solidFill>
          <a:ln w="6350">
            <a:solidFill>
              <a:schemeClr val="tx2"/>
            </a:solidFill>
            <a:prstDash val="solid"/>
          </a:ln>
        </p:spPr>
      </p:sp>
      <p:sp>
        <p:nvSpPr>
          <p:cNvPr id="4" name="Kode CatatanLayanan"/>
          <p:cNvSpPr txBox="1"/>
          <p:nvPr/>
        </p:nvSpPr>
        <p:spPr>
          <a:xfrm>
            <a:off x="713232" y="1408176"/>
            <a:ext cx="4608576" cy="3035808"/>
          </a:xfrm>
          <a:prstGeom prst="rect">
            <a:avLst/>
          </a:prstGeom>
          <a:noFill/>
        </p:spPr>
        <p:txBody>
          <a:bodyPr wrap="square" lIns="0" tIns="0" rIns="0" bIns="0" rtlCol="0" anchor="t"/>
          <a:lstStyle/>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class CatatanLayanan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int nomor;</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DateTime waktuAmbil;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DateTime waktuPanggil;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DateTime? waktuSelesai;</a:t>
            </a:r>
            <a:endParaRPr lang="en-US" sz="1100" dirty="0"/>
          </a:p>
          <a:p>
            <a:pPr marL="0" indent="0">
              <a:buNone/>
            </a:pP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Duration get lamaTunggu =&gt;</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waktuPanggil.difference(waktuAmbil);</a:t>
            </a:r>
            <a:endParaRPr lang="en-US" sz="1100" dirty="0"/>
          </a:p>
          <a:p>
            <a:pPr marL="0" indent="0">
              <a:buNone/>
            </a:pP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Duration? get lamaLayanan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final selesai = waktuSelesai;</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return selesai == null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null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 selesai.difference(waktuPanggil);</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buNone/>
            </a:pPr>
            <a:r>
              <a:rPr lang="en-US" sz="11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5" name="Ikon catatan (latar)"/>
          <p:cNvSpPr/>
          <p:nvPr/>
        </p:nvSpPr>
        <p:spPr>
          <a:xfrm>
            <a:off x="5852160" y="1325880"/>
            <a:ext cx="530352" cy="530352"/>
          </a:xfrm>
          <a:prstGeom prst="ellipse">
            <a:avLst/>
          </a:prstGeom>
          <a:solidFill>
            <a:schemeClr val="accent3"/>
          </a:solidFill>
          <a:ln w="6350">
            <a:solidFill>
              <a:schemeClr val="accent3"/>
            </a:solidFill>
            <a:prstDash val="solid"/>
          </a:ln>
        </p:spPr>
      </p:sp>
      <p:pic>
        <p:nvPicPr>
          <p:cNvPr id="6" name="Ikon catatan" descr="Ikon catatan"/>
          <p:cNvPicPr>
            <a:picLocks noChangeAspect="1"/>
          </p:cNvPicPr>
          <p:nvPr/>
        </p:nvPicPr>
        <p:blipFill>
          <a:blip r:embed="rId1"/>
          <a:stretch>
            <a:fillRect/>
          </a:stretch>
        </p:blipFill>
        <p:spPr>
          <a:xfrm>
            <a:off x="5984748" y="1458468"/>
            <a:ext cx="265176" cy="265176"/>
          </a:xfrm>
          <a:prstGeom prst="rect">
            <a:avLst/>
          </a:prstGeom>
        </p:spPr>
      </p:pic>
      <p:sp>
        <p:nvSpPr>
          <p:cNvPr id="7" name="Judul Ikon catatan"/>
          <p:cNvSpPr txBox="1"/>
          <p:nvPr/>
        </p:nvSpPr>
        <p:spPr>
          <a:xfrm>
            <a:off x="6565392" y="1280160"/>
            <a:ext cx="1920240" cy="274320"/>
          </a:xfrm>
          <a:prstGeom prst="rect">
            <a:avLst/>
          </a:prstGeom>
          <a:noFill/>
        </p:spPr>
        <p:txBody>
          <a:bodyPr wrap="square" lIns="0" tIns="0" rIns="0" bIns="0" rtlCol="0" anchor="t"/>
          <a:lstStyle/>
          <a:p>
            <a:pPr marL="0" indent="0">
              <a:buNone/>
            </a:pPr>
            <a:r>
              <a:rPr lang="en-US" sz="1600" b="1" dirty="0">
                <a:solidFill>
                  <a:schemeClr val="tx2"/>
                </a:solidFill>
              </a:rPr>
              <a:t>Catatan baru</a:t>
            </a:r>
            <a:endParaRPr lang="en-US" sz="1600" dirty="0"/>
          </a:p>
        </p:txBody>
      </p:sp>
      <p:sp>
        <p:nvSpPr>
          <p:cNvPr id="8" name="Isi Ikon catatan"/>
          <p:cNvSpPr txBox="1"/>
          <p:nvPr/>
        </p:nvSpPr>
        <p:spPr>
          <a:xfrm>
            <a:off x="6565392" y="1572768"/>
            <a:ext cx="1920240" cy="758952"/>
          </a:xfrm>
          <a:prstGeom prst="rect">
            <a:avLst/>
          </a:prstGeom>
          <a:noFill/>
        </p:spPr>
        <p:txBody>
          <a:bodyPr wrap="square" lIns="0" tIns="0" rIns="0" bIns="0" rtlCol="0" anchor="t"/>
          <a:lstStyle/>
          <a:p>
            <a:pPr marL="0" indent="0">
              <a:buNone/>
            </a:pPr>
            <a:r>
              <a:rPr lang="en-US" sz="1400" dirty="0">
                <a:solidFill>
                  <a:schemeClr val="tx1"/>
                </a:solidFill>
              </a:rPr>
              <a:t>Dibuat setiap nomor dipanggil.</a:t>
            </a:r>
            <a:endParaRPr lang="en-US" sz="1400" dirty="0"/>
          </a:p>
        </p:txBody>
      </p:sp>
      <p:sp>
        <p:nvSpPr>
          <p:cNvPr id="9" name="Ikon jam selesai (latar)"/>
          <p:cNvSpPr/>
          <p:nvPr/>
        </p:nvSpPr>
        <p:spPr>
          <a:xfrm>
            <a:off x="5852160" y="2423160"/>
            <a:ext cx="530352" cy="530352"/>
          </a:xfrm>
          <a:prstGeom prst="ellipse">
            <a:avLst/>
          </a:prstGeom>
          <a:solidFill>
            <a:schemeClr val="accent1"/>
          </a:solidFill>
          <a:ln w="6350">
            <a:solidFill>
              <a:schemeClr val="accent1"/>
            </a:solidFill>
            <a:prstDash val="solid"/>
          </a:ln>
        </p:spPr>
      </p:sp>
      <p:pic>
        <p:nvPicPr>
          <p:cNvPr id="10" name="Ikon jam selesai" descr="Ikon jam selesai"/>
          <p:cNvPicPr>
            <a:picLocks noChangeAspect="1"/>
          </p:cNvPicPr>
          <p:nvPr/>
        </p:nvPicPr>
        <p:blipFill>
          <a:blip r:embed="rId2"/>
          <a:stretch>
            <a:fillRect/>
          </a:stretch>
        </p:blipFill>
        <p:spPr>
          <a:xfrm>
            <a:off x="5984748" y="2555748"/>
            <a:ext cx="265176" cy="265176"/>
          </a:xfrm>
          <a:prstGeom prst="rect">
            <a:avLst/>
          </a:prstGeom>
        </p:spPr>
      </p:pic>
      <p:sp>
        <p:nvSpPr>
          <p:cNvPr id="11" name="Judul Ikon jam selesai"/>
          <p:cNvSpPr txBox="1"/>
          <p:nvPr/>
        </p:nvSpPr>
        <p:spPr>
          <a:xfrm>
            <a:off x="6565392" y="2377440"/>
            <a:ext cx="1920240" cy="274320"/>
          </a:xfrm>
          <a:prstGeom prst="rect">
            <a:avLst/>
          </a:prstGeom>
          <a:noFill/>
        </p:spPr>
        <p:txBody>
          <a:bodyPr wrap="square" lIns="0" tIns="0" rIns="0" bIns="0" rtlCol="0" anchor="t"/>
          <a:lstStyle/>
          <a:p>
            <a:pPr marL="0" indent="0">
              <a:buNone/>
            </a:pPr>
            <a:r>
              <a:rPr lang="en-US" sz="1600" b="1" dirty="0">
                <a:solidFill>
                  <a:schemeClr val="tx2"/>
                </a:solidFill>
              </a:rPr>
              <a:t>Jam selesai</a:t>
            </a:r>
            <a:endParaRPr lang="en-US" sz="1600" dirty="0"/>
          </a:p>
        </p:txBody>
      </p:sp>
      <p:sp>
        <p:nvSpPr>
          <p:cNvPr id="12" name="Isi Ikon jam selesai"/>
          <p:cNvSpPr txBox="1"/>
          <p:nvPr/>
        </p:nvSpPr>
        <p:spPr>
          <a:xfrm>
            <a:off x="6565392" y="2670048"/>
            <a:ext cx="1920240" cy="758952"/>
          </a:xfrm>
          <a:prstGeom prst="rect">
            <a:avLst/>
          </a:prstGeom>
          <a:noFill/>
        </p:spPr>
        <p:txBody>
          <a:bodyPr wrap="square" lIns="0" tIns="0" rIns="0" bIns="0" rtlCol="0" anchor="t"/>
          <a:lstStyle/>
          <a:p>
            <a:pPr marL="0" indent="0">
              <a:buNone/>
            </a:pPr>
            <a:r>
              <a:rPr lang="en-US" sz="1400" dirty="0">
                <a:solidFill>
                  <a:schemeClr val="tx1"/>
                </a:solidFill>
              </a:rPr>
              <a:t>Diisi saat nomor berikutnya dipanggil.</a:t>
            </a:r>
            <a:endParaRPr lang="en-US" sz="1400" dirty="0"/>
          </a:p>
        </p:txBody>
      </p:sp>
      <p:sp>
        <p:nvSpPr>
          <p:cNvPr id="13" name="Ikon dipakai (latar)"/>
          <p:cNvSpPr/>
          <p:nvPr/>
        </p:nvSpPr>
        <p:spPr>
          <a:xfrm>
            <a:off x="5852160" y="3520440"/>
            <a:ext cx="530352" cy="530352"/>
          </a:xfrm>
          <a:prstGeom prst="ellipse">
            <a:avLst/>
          </a:prstGeom>
          <a:solidFill>
            <a:schemeClr val="accent4"/>
          </a:solidFill>
          <a:ln w="6350">
            <a:solidFill>
              <a:schemeClr val="accent4"/>
            </a:solidFill>
            <a:prstDash val="solid"/>
          </a:ln>
        </p:spPr>
      </p:sp>
      <p:pic>
        <p:nvPicPr>
          <p:cNvPr id="14" name="Ikon dipakai" descr="Ikon dipakai"/>
          <p:cNvPicPr>
            <a:picLocks noChangeAspect="1"/>
          </p:cNvPicPr>
          <p:nvPr/>
        </p:nvPicPr>
        <p:blipFill>
          <a:blip r:embed="rId3"/>
          <a:stretch>
            <a:fillRect/>
          </a:stretch>
        </p:blipFill>
        <p:spPr>
          <a:xfrm>
            <a:off x="5984748" y="3653028"/>
            <a:ext cx="265176" cy="265176"/>
          </a:xfrm>
          <a:prstGeom prst="rect">
            <a:avLst/>
          </a:prstGeom>
        </p:spPr>
      </p:pic>
      <p:sp>
        <p:nvSpPr>
          <p:cNvPr id="15" name="Judul Ikon dipakai"/>
          <p:cNvSpPr txBox="1"/>
          <p:nvPr/>
        </p:nvSpPr>
        <p:spPr>
          <a:xfrm>
            <a:off x="6565392" y="3474720"/>
            <a:ext cx="1920240" cy="274320"/>
          </a:xfrm>
          <a:prstGeom prst="rect">
            <a:avLst/>
          </a:prstGeom>
          <a:noFill/>
        </p:spPr>
        <p:txBody>
          <a:bodyPr wrap="square" lIns="0" tIns="0" rIns="0" bIns="0" rtlCol="0" anchor="t"/>
          <a:lstStyle/>
          <a:p>
            <a:pPr marL="0" indent="0">
              <a:buNone/>
            </a:pPr>
            <a:r>
              <a:rPr lang="en-US" sz="1600" b="1" dirty="0">
                <a:solidFill>
                  <a:schemeClr val="tx2"/>
                </a:solidFill>
              </a:rPr>
              <a:t>Dipakai bersama</a:t>
            </a:r>
            <a:endParaRPr lang="en-US" sz="1600" dirty="0"/>
          </a:p>
        </p:txBody>
      </p:sp>
      <p:sp>
        <p:nvSpPr>
          <p:cNvPr id="16" name="Isi Ikon dipakai"/>
          <p:cNvSpPr txBox="1"/>
          <p:nvPr/>
        </p:nvSpPr>
        <p:spPr>
          <a:xfrm>
            <a:off x="6565392" y="3767328"/>
            <a:ext cx="1920240" cy="758952"/>
          </a:xfrm>
          <a:prstGeom prst="rect">
            <a:avLst/>
          </a:prstGeom>
          <a:noFill/>
        </p:spPr>
        <p:txBody>
          <a:bodyPr wrap="square" lIns="0" tIns="0" rIns="0" bIns="0" rtlCol="0" anchor="t"/>
          <a:lstStyle/>
          <a:p>
            <a:pPr marL="0" indent="0">
              <a:buNone/>
            </a:pPr>
            <a:r>
              <a:rPr lang="en-US" sz="1400" dirty="0">
                <a:solidFill>
                  <a:schemeClr val="tx1"/>
                </a:solidFill>
              </a:rPr>
              <a:t>Riwayat menampilkan, Statistik merata-ratakan.</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Logo dan Desain Latar</a:t>
            </a:r>
            <a:endParaRPr lang="en-US" sz="3400" dirty="0"/>
          </a:p>
        </p:txBody>
      </p:sp>
      <p:sp>
        <p:nvSpPr>
          <p:cNvPr id="3" name="Panel logo"/>
          <p:cNvSpPr/>
          <p:nvPr/>
        </p:nvSpPr>
        <p:spPr>
          <a:xfrm>
            <a:off x="548640" y="1280160"/>
            <a:ext cx="3291840" cy="3246120"/>
          </a:xfrm>
          <a:prstGeom prst="roundRect">
            <a:avLst>
              <a:gd name="adj" fmla="val 3380"/>
            </a:avLst>
          </a:prstGeom>
          <a:solidFill>
            <a:srgbClr val="FBF6EA"/>
          </a:solidFill>
          <a:ln w="19050">
            <a:solidFill>
              <a:srgbClr val="141414"/>
            </a:solidFill>
            <a:prstDash val="solid"/>
          </a:ln>
          <a:effectLst>
            <a:outerShdw dist="50800" dir="2700000" algn="tl" rotWithShape="0">
              <a:srgbClr val="141414"/>
            </a:outerShdw>
          </a:effectLst>
        </p:spPr>
      </p:sp>
      <p:pic>
        <p:nvPicPr>
          <p:cNvPr id="4" name="Logo besar" descr="Logo Sabarin berupa jam pasir"/>
          <p:cNvPicPr>
            <a:picLocks noChangeAspect="1"/>
          </p:cNvPicPr>
          <p:nvPr/>
        </p:nvPicPr>
        <p:blipFill>
          <a:blip r:embed="rId1"/>
          <a:stretch>
            <a:fillRect/>
          </a:stretch>
        </p:blipFill>
        <p:spPr>
          <a:xfrm>
            <a:off x="1143000" y="1783080"/>
            <a:ext cx="2103120" cy="2103120"/>
          </a:xfrm>
          <a:prstGeom prst="rect">
            <a:avLst/>
          </a:prstGeom>
        </p:spPr>
      </p:pic>
      <p:sp>
        <p:nvSpPr>
          <p:cNvPr id="5" name="Label logo"/>
          <p:cNvSpPr txBox="1"/>
          <p:nvPr/>
        </p:nvSpPr>
        <p:spPr>
          <a:xfrm>
            <a:off x="548640" y="4023360"/>
            <a:ext cx="3291840" cy="274320"/>
          </a:xfrm>
          <a:prstGeom prst="rect">
            <a:avLst/>
          </a:prstGeom>
          <a:noFill/>
        </p:spPr>
        <p:txBody>
          <a:bodyPr wrap="square" lIns="0" tIns="0" rIns="0" bIns="0" rtlCol="0" anchor="t"/>
          <a:lstStyle/>
          <a:p>
            <a:pPr marL="0" indent="0" algn="ctr">
              <a:buNone/>
            </a:pPr>
            <a:r>
              <a:rPr lang="en-US" sz="1400" b="1" dirty="0">
                <a:solidFill>
                  <a:schemeClr val="tx2"/>
                </a:solidFill>
              </a:rPr>
              <a:t>Logo jam pasir</a:t>
            </a:r>
            <a:endParaRPr lang="en-US" sz="1400" dirty="0"/>
          </a:p>
        </p:txBody>
      </p:sp>
      <p:sp>
        <p:nvSpPr>
          <p:cNvPr id="6" name="Ikon logo (latar)"/>
          <p:cNvSpPr/>
          <p:nvPr/>
        </p:nvSpPr>
        <p:spPr>
          <a:xfrm>
            <a:off x="4297680" y="1325880"/>
            <a:ext cx="530352" cy="530352"/>
          </a:xfrm>
          <a:prstGeom prst="ellipse">
            <a:avLst/>
          </a:prstGeom>
          <a:solidFill>
            <a:schemeClr val="accent1"/>
          </a:solidFill>
          <a:ln w="6350">
            <a:solidFill>
              <a:schemeClr val="accent1"/>
            </a:solidFill>
            <a:prstDash val="solid"/>
          </a:ln>
        </p:spPr>
      </p:sp>
      <p:pic>
        <p:nvPicPr>
          <p:cNvPr id="7" name="Ikon logo" descr="Ikon logo"/>
          <p:cNvPicPr>
            <a:picLocks noChangeAspect="1"/>
          </p:cNvPicPr>
          <p:nvPr/>
        </p:nvPicPr>
        <p:blipFill>
          <a:blip r:embed="rId2"/>
          <a:stretch>
            <a:fillRect/>
          </a:stretch>
        </p:blipFill>
        <p:spPr>
          <a:xfrm>
            <a:off x="4430268" y="1458468"/>
            <a:ext cx="265176" cy="265176"/>
          </a:xfrm>
          <a:prstGeom prst="rect">
            <a:avLst/>
          </a:prstGeom>
        </p:spPr>
      </p:pic>
      <p:sp>
        <p:nvSpPr>
          <p:cNvPr id="8" name="Judul Ikon logo"/>
          <p:cNvSpPr txBox="1"/>
          <p:nvPr/>
        </p:nvSpPr>
        <p:spPr>
          <a:xfrm>
            <a:off x="5010912" y="1280160"/>
            <a:ext cx="3657600" cy="274320"/>
          </a:xfrm>
          <a:prstGeom prst="rect">
            <a:avLst/>
          </a:prstGeom>
          <a:noFill/>
        </p:spPr>
        <p:txBody>
          <a:bodyPr wrap="square" lIns="0" tIns="0" rIns="0" bIns="0" rtlCol="0" anchor="t"/>
          <a:lstStyle/>
          <a:p>
            <a:pPr marL="0" indent="0">
              <a:buNone/>
            </a:pPr>
            <a:r>
              <a:rPr lang="en-US" sz="1600" b="1" dirty="0">
                <a:solidFill>
                  <a:schemeClr val="tx2"/>
                </a:solidFill>
              </a:rPr>
              <a:t>LogoSabarin</a:t>
            </a:r>
            <a:endParaRPr lang="en-US" sz="1600" dirty="0"/>
          </a:p>
        </p:txBody>
      </p:sp>
      <p:sp>
        <p:nvSpPr>
          <p:cNvPr id="9" name="Isi Ikon logo"/>
          <p:cNvSpPr txBox="1"/>
          <p:nvPr/>
        </p:nvSpPr>
        <p:spPr>
          <a:xfrm>
            <a:off x="5010912" y="1572768"/>
            <a:ext cx="3657600" cy="758952"/>
          </a:xfrm>
          <a:prstGeom prst="rect">
            <a:avLst/>
          </a:prstGeom>
          <a:noFill/>
        </p:spPr>
        <p:txBody>
          <a:bodyPr wrap="square" lIns="0" tIns="0" rIns="0" bIns="0" rtlCol="0" anchor="t"/>
          <a:lstStyle/>
          <a:p>
            <a:pPr marL="0" indent="0">
              <a:buNone/>
            </a:pPr>
            <a:r>
              <a:rPr lang="en-US" sz="1400" dirty="0">
                <a:solidFill>
                  <a:schemeClr val="tx1"/>
                </a:solidFill>
              </a:rPr>
              <a:t>Jam pasir digambar dengan CustomPainter, beroutline tebal; warnanya mengikuti tema.</a:t>
            </a:r>
            <a:endParaRPr lang="en-US" sz="1400" dirty="0"/>
          </a:p>
        </p:txBody>
      </p:sp>
      <p:sp>
        <p:nvSpPr>
          <p:cNvPr id="10" name="Ikon latar (latar)"/>
          <p:cNvSpPr/>
          <p:nvPr/>
        </p:nvSpPr>
        <p:spPr>
          <a:xfrm>
            <a:off x="4297680" y="2514600"/>
            <a:ext cx="530352" cy="530352"/>
          </a:xfrm>
          <a:prstGeom prst="ellipse">
            <a:avLst/>
          </a:prstGeom>
          <a:solidFill>
            <a:schemeClr val="accent4"/>
          </a:solidFill>
          <a:ln w="6350">
            <a:solidFill>
              <a:schemeClr val="accent4"/>
            </a:solidFill>
            <a:prstDash val="solid"/>
          </a:ln>
        </p:spPr>
      </p:sp>
      <p:pic>
        <p:nvPicPr>
          <p:cNvPr id="11" name="Ikon latar" descr="Ikon latar"/>
          <p:cNvPicPr>
            <a:picLocks noChangeAspect="1"/>
          </p:cNvPicPr>
          <p:nvPr/>
        </p:nvPicPr>
        <p:blipFill>
          <a:blip r:embed="rId3"/>
          <a:stretch>
            <a:fillRect/>
          </a:stretch>
        </p:blipFill>
        <p:spPr>
          <a:xfrm>
            <a:off x="4430268" y="2647188"/>
            <a:ext cx="265176" cy="265176"/>
          </a:xfrm>
          <a:prstGeom prst="rect">
            <a:avLst/>
          </a:prstGeom>
        </p:spPr>
      </p:pic>
      <p:sp>
        <p:nvSpPr>
          <p:cNvPr id="12" name="Judul Ikon latar"/>
          <p:cNvSpPr txBox="1"/>
          <p:nvPr/>
        </p:nvSpPr>
        <p:spPr>
          <a:xfrm>
            <a:off x="5010912" y="2468880"/>
            <a:ext cx="3657600" cy="274320"/>
          </a:xfrm>
          <a:prstGeom prst="rect">
            <a:avLst/>
          </a:prstGeom>
          <a:noFill/>
        </p:spPr>
        <p:txBody>
          <a:bodyPr wrap="square" lIns="0" tIns="0" rIns="0" bIns="0" rtlCol="0" anchor="t"/>
          <a:lstStyle/>
          <a:p>
            <a:pPr marL="0" indent="0">
              <a:buNone/>
            </a:pPr>
            <a:r>
              <a:rPr lang="en-US" sz="1600" b="1" dirty="0">
                <a:solidFill>
                  <a:schemeClr val="tx2"/>
                </a:solidFill>
              </a:rPr>
              <a:t>LatarHias</a:t>
            </a:r>
            <a:endParaRPr lang="en-US" sz="1600" dirty="0"/>
          </a:p>
        </p:txBody>
      </p:sp>
      <p:sp>
        <p:nvSpPr>
          <p:cNvPr id="13" name="Isi Ikon latar"/>
          <p:cNvSpPr txBox="1"/>
          <p:nvPr/>
        </p:nvSpPr>
        <p:spPr>
          <a:xfrm>
            <a:off x="5010912" y="2761488"/>
            <a:ext cx="3657600" cy="758952"/>
          </a:xfrm>
          <a:prstGeom prst="rect">
            <a:avLst/>
          </a:prstGeom>
          <a:noFill/>
        </p:spPr>
        <p:txBody>
          <a:bodyPr wrap="square" lIns="0" tIns="0" rIns="0" bIns="0" rtlCol="0" anchor="t"/>
          <a:lstStyle/>
          <a:p>
            <a:pPr marL="0" indent="0">
              <a:buNone/>
            </a:pPr>
            <a:r>
              <a:rPr lang="en-US" sz="1400" dirty="0">
                <a:solidFill>
                  <a:schemeClr val="tx1"/>
                </a:solidFill>
              </a:rPr>
              <a:t>Warna flat dengan pola polkadot dan dua lingkaran hias, tanpa gradasi.</a:t>
            </a:r>
            <a:endParaRPr lang="en-US" sz="1400" dirty="0"/>
          </a:p>
        </p:txBody>
      </p:sp>
      <p:sp>
        <p:nvSpPr>
          <p:cNvPr id="14" name="Ikon aset (latar)"/>
          <p:cNvSpPr/>
          <p:nvPr/>
        </p:nvSpPr>
        <p:spPr>
          <a:xfrm>
            <a:off x="4297680" y="3703320"/>
            <a:ext cx="530352" cy="530352"/>
          </a:xfrm>
          <a:prstGeom prst="ellipse">
            <a:avLst/>
          </a:prstGeom>
          <a:solidFill>
            <a:schemeClr val="accent6"/>
          </a:solidFill>
          <a:ln w="6350">
            <a:solidFill>
              <a:schemeClr val="accent6"/>
            </a:solidFill>
            <a:prstDash val="solid"/>
          </a:ln>
        </p:spPr>
      </p:sp>
      <p:pic>
        <p:nvPicPr>
          <p:cNvPr id="15" name="Ikon aset" descr="Ikon aset"/>
          <p:cNvPicPr>
            <a:picLocks noChangeAspect="1"/>
          </p:cNvPicPr>
          <p:nvPr/>
        </p:nvPicPr>
        <p:blipFill>
          <a:blip r:embed="rId4"/>
          <a:stretch>
            <a:fillRect/>
          </a:stretch>
        </p:blipFill>
        <p:spPr>
          <a:xfrm>
            <a:off x="4430268" y="3835908"/>
            <a:ext cx="265176" cy="265176"/>
          </a:xfrm>
          <a:prstGeom prst="rect">
            <a:avLst/>
          </a:prstGeom>
        </p:spPr>
      </p:pic>
      <p:sp>
        <p:nvSpPr>
          <p:cNvPr id="16" name="Judul Ikon aset"/>
          <p:cNvSpPr txBox="1"/>
          <p:nvPr/>
        </p:nvSpPr>
        <p:spPr>
          <a:xfrm>
            <a:off x="5010912" y="3657600"/>
            <a:ext cx="3657600" cy="274320"/>
          </a:xfrm>
          <a:prstGeom prst="rect">
            <a:avLst/>
          </a:prstGeom>
          <a:noFill/>
        </p:spPr>
        <p:txBody>
          <a:bodyPr wrap="square" lIns="0" tIns="0" rIns="0" bIns="0" rtlCol="0" anchor="t"/>
          <a:lstStyle/>
          <a:p>
            <a:pPr marL="0" indent="0">
              <a:buNone/>
            </a:pPr>
            <a:r>
              <a:rPr lang="en-US" sz="1600" b="1" dirty="0">
                <a:solidFill>
                  <a:schemeClr val="tx2"/>
                </a:solidFill>
              </a:rPr>
              <a:t>Tanpa file aset</a:t>
            </a:r>
            <a:endParaRPr lang="en-US" sz="1600" dirty="0"/>
          </a:p>
        </p:txBody>
      </p:sp>
      <p:sp>
        <p:nvSpPr>
          <p:cNvPr id="17" name="Isi Ikon aset"/>
          <p:cNvSpPr txBox="1"/>
          <p:nvPr/>
        </p:nvSpPr>
        <p:spPr>
          <a:xfrm>
            <a:off x="5010912" y="3950208"/>
            <a:ext cx="3657600" cy="530352"/>
          </a:xfrm>
          <a:prstGeom prst="rect">
            <a:avLst/>
          </a:prstGeom>
          <a:noFill/>
        </p:spPr>
        <p:txBody>
          <a:bodyPr wrap="square" lIns="0" tIns="0" rIns="0" bIns="0" rtlCol="0" anchor="t"/>
          <a:lstStyle/>
          <a:p>
            <a:pPr marL="0" indent="0">
              <a:buNone/>
            </a:pPr>
            <a:r>
              <a:rPr lang="en-US" sz="1400" dirty="0">
                <a:solidFill>
                  <a:schemeClr val="tx1"/>
                </a:solidFill>
              </a:rPr>
              <a:t>Tidak perlu mengatur folder assets di pubspec.yaml.</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Desain Soft Neo-Brutalism</a:t>
            </a:r>
            <a:endParaRPr lang="en-US" sz="3400" dirty="0"/>
          </a:p>
        </p:txBody>
      </p:sp>
      <p:sp>
        <p:nvSpPr>
          <p:cNvPr id="3" name="Panel logo"/>
          <p:cNvSpPr/>
          <p:nvPr/>
        </p:nvSpPr>
        <p:spPr>
          <a:xfrm>
            <a:off x="548640" y="1280160"/>
            <a:ext cx="3291840" cy="3246120"/>
          </a:xfrm>
          <a:prstGeom prst="roundRect">
            <a:avLst>
              <a:gd name="adj" fmla="val 3380"/>
            </a:avLst>
          </a:prstGeom>
          <a:solidFill>
            <a:srgbClr val="FBF6EA"/>
          </a:solidFill>
          <a:ln w="19050">
            <a:solidFill>
              <a:srgbClr val="141414"/>
            </a:solidFill>
            <a:prstDash val="solid"/>
          </a:ln>
          <a:effectLst>
            <a:outerShdw dist="50800" dir="2700000" algn="tl" rotWithShape="0">
              <a:srgbClr val="141414"/>
            </a:outerShdw>
          </a:effectLst>
        </p:spPr>
      </p:sp>
      <p:sp>
        <p:nvSpPr>
          <p:cNvPr id="101" name="Contoh kartu"/>
          <p:cNvSpPr/>
          <p:nvPr/>
        </p:nvSpPr>
        <p:spPr>
          <a:xfrm>
            <a:off x="868680" y="1600200"/>
            <a:ext cx="2651760" cy="960120"/>
          </a:xfrm>
          <a:prstGeom prst="roundRect">
            <a:avLst>
              <a:gd name="adj" fmla="val 14000"/>
            </a:avLst>
          </a:prstGeom>
          <a:solidFill>
            <a:srgbClr val="FFFFFF"/>
          </a:solidFill>
          <a:ln w="19050">
            <a:solidFill>
              <a:srgbClr val="141414"/>
            </a:solidFill>
            <a:prstDash val="solid"/>
          </a:ln>
          <a:effectLst>
            <a:outerShdw dist="38100" dir="2700000" algn="tl" rotWithShape="0">
              <a:srgbClr val="141414"/>
            </a:outerShdw>
          </a:effectLst>
        </p:spPr>
        <p:txBody>
          <a:bodyPr wrap="square" lIns="45720" tIns="0" rIns="45720" bIns="0" rtlCol="0" anchor="ctr"/>
          <a:lstStyle/>
          <a:p>
            <a:pPr marL="0" indent="0" algn="ctr">
              <a:buNone/>
            </a:pPr>
            <a:r>
              <a:rPr lang="id-ID" sz="1400" b="1" dirty="0">
                <a:solidFill>
                  <a:srgbClr val="141414"/>
                </a:solidFill>
              </a:rPr>
              <a:t>Kartu</a:t>
            </a:r>
            <a:endParaRPr lang="id-ID" sz="1400" b="1" dirty="0">
              <a:solidFill>
                <a:srgbClr val="141414"/>
              </a:solidFill>
            </a:endParaRPr>
          </a:p>
          <a:p>
            <a:pPr marL="0" indent="0" algn="ctr">
              <a:buNone/>
            </a:pPr>
            <a:r>
              <a:rPr lang="id-ID" sz="1200" b="0" dirty="0">
                <a:solidFill>
                  <a:srgbClr val="141414"/>
                </a:solidFill>
              </a:rPr>
              <a:t>Outline 2 px dan hard shadow</a:t>
            </a:r>
            <a:endParaRPr lang="id-ID" sz="1200" b="0" dirty="0">
              <a:solidFill>
                <a:srgbClr val="141414"/>
              </a:solidFill>
            </a:endParaRPr>
          </a:p>
        </p:txBody>
      </p:sp>
      <p:sp>
        <p:nvSpPr>
          <p:cNvPr id="102" name="Contoh tombol pill"/>
          <p:cNvSpPr/>
          <p:nvPr/>
        </p:nvSpPr>
        <p:spPr>
          <a:xfrm>
            <a:off x="868680" y="2880360"/>
            <a:ext cx="2651760" cy="411480"/>
          </a:xfrm>
          <a:prstGeom prst="roundRect">
            <a:avLst>
              <a:gd name="adj" fmla="val 50000"/>
            </a:avLst>
          </a:prstGeom>
          <a:solidFill>
            <a:schemeClr val="accent1"/>
          </a:solidFill>
          <a:ln w="19050">
            <a:solidFill>
              <a:srgbClr val="141414"/>
            </a:solidFill>
            <a:prstDash val="solid"/>
          </a:ln>
          <a:effectLst>
            <a:outerShdw dist="38100" dir="2700000" algn="tl" rotWithShape="0">
              <a:srgbClr val="141414"/>
            </a:outerShdw>
          </a:effectLst>
        </p:spPr>
        <p:txBody>
          <a:bodyPr wrap="square" lIns="45720" tIns="0" rIns="45720" bIns="0" rtlCol="0" anchor="ctr"/>
          <a:lstStyle/>
          <a:p>
            <a:pPr marL="0" indent="0" algn="ctr">
              <a:buNone/>
            </a:pPr>
            <a:r>
              <a:rPr lang="id-ID" sz="1400" b="1" dirty="0">
                <a:solidFill>
                  <a:srgbClr val="FFFFFF"/>
                </a:solidFill>
              </a:rPr>
              <a:t>Tombol pill</a:t>
            </a:r>
            <a:endParaRPr lang="id-ID" sz="1400" b="1" dirty="0">
              <a:solidFill>
                <a:srgbClr val="FFFFFF"/>
              </a:solidFill>
            </a:endParaRPr>
          </a:p>
        </p:txBody>
      </p:sp>
      <p:sp>
        <p:nvSpPr>
          <p:cNvPr id="103" name="Contoh warna 1"/>
          <p:cNvSpPr/>
          <p:nvPr/>
        </p:nvSpPr>
        <p:spPr>
          <a:xfrm>
            <a:off x="868680" y="3611880"/>
            <a:ext cx="384048" cy="384048"/>
          </a:xfrm>
          <a:prstGeom prst="ellipse">
            <a:avLst/>
          </a:prstGeom>
          <a:solidFill>
            <a:schemeClr val="accent1"/>
          </a:solidFill>
          <a:ln w="19050">
            <a:solidFill>
              <a:srgbClr val="141414"/>
            </a:solidFill>
            <a:prstDash val="solid"/>
          </a:ln>
        </p:spPr>
        <p:txBody>
          <a:bodyPr rtlCol="0" anchor="ctr"/>
          <a:lstStyle/>
          <a:p>
            <a:endParaRPr lang="id-ID"/>
          </a:p>
        </p:txBody>
      </p:sp>
      <p:sp>
        <p:nvSpPr>
          <p:cNvPr id="104" name="Contoh warna 2"/>
          <p:cNvSpPr/>
          <p:nvPr/>
        </p:nvSpPr>
        <p:spPr>
          <a:xfrm>
            <a:off x="1545336" y="3611880"/>
            <a:ext cx="384048" cy="384048"/>
          </a:xfrm>
          <a:prstGeom prst="ellipse">
            <a:avLst/>
          </a:prstGeom>
          <a:solidFill>
            <a:srgbClr val="FFD23F"/>
          </a:solidFill>
          <a:ln w="19050">
            <a:solidFill>
              <a:srgbClr val="141414"/>
            </a:solidFill>
            <a:prstDash val="solid"/>
          </a:ln>
        </p:spPr>
        <p:txBody>
          <a:bodyPr rtlCol="0" anchor="ctr"/>
          <a:lstStyle/>
          <a:p>
            <a:endParaRPr lang="id-ID"/>
          </a:p>
        </p:txBody>
      </p:sp>
      <p:sp>
        <p:nvSpPr>
          <p:cNvPr id="105" name="Contoh warna 3"/>
          <p:cNvSpPr/>
          <p:nvPr/>
        </p:nvSpPr>
        <p:spPr>
          <a:xfrm>
            <a:off x="2221992" y="3611880"/>
            <a:ext cx="384048" cy="384048"/>
          </a:xfrm>
          <a:prstGeom prst="ellipse">
            <a:avLst/>
          </a:prstGeom>
          <a:solidFill>
            <a:srgbClr val="FBF6EA"/>
          </a:solidFill>
          <a:ln w="19050">
            <a:solidFill>
              <a:srgbClr val="141414"/>
            </a:solidFill>
            <a:prstDash val="solid"/>
          </a:ln>
        </p:spPr>
        <p:txBody>
          <a:bodyPr rtlCol="0" anchor="ctr"/>
          <a:lstStyle/>
          <a:p>
            <a:endParaRPr lang="id-ID"/>
          </a:p>
        </p:txBody>
      </p:sp>
      <p:sp>
        <p:nvSpPr>
          <p:cNvPr id="106" name="Contoh warna 4"/>
          <p:cNvSpPr/>
          <p:nvPr/>
        </p:nvSpPr>
        <p:spPr>
          <a:xfrm>
            <a:off x="2898648" y="3611880"/>
            <a:ext cx="384048" cy="384048"/>
          </a:xfrm>
          <a:prstGeom prst="ellipse">
            <a:avLst/>
          </a:prstGeom>
          <a:solidFill>
            <a:srgbClr val="141414"/>
          </a:solidFill>
          <a:ln w="19050">
            <a:solidFill>
              <a:srgbClr val="141414"/>
            </a:solidFill>
            <a:prstDash val="solid"/>
          </a:ln>
        </p:spPr>
        <p:txBody>
          <a:bodyPr rtlCol="0" anchor="ctr"/>
          <a:lstStyle/>
          <a:p>
            <a:endParaRPr lang="id-ID"/>
          </a:p>
        </p:txBody>
      </p:sp>
      <p:sp>
        <p:nvSpPr>
          <p:cNvPr id="110" name="Keterangan warna"/>
          <p:cNvSpPr txBox="1"/>
          <p:nvPr/>
        </p:nvSpPr>
        <p:spPr>
          <a:xfrm>
            <a:off x="868680" y="4114800"/>
            <a:ext cx="2651760" cy="274320"/>
          </a:xfrm>
          <a:prstGeom prst="rect">
            <a:avLst/>
          </a:prstGeom>
          <a:noFill/>
        </p:spPr>
        <p:txBody>
          <a:bodyPr wrap="square" lIns="0" tIns="0" rIns="0" bIns="0" rtlCol="0" anchor="t"/>
          <a:lstStyle/>
          <a:p>
            <a:pPr marL="0" indent="0">
              <a:buNone/>
            </a:pPr>
            <a:r>
              <a:rPr lang="id-ID" sz="1200" dirty="0">
                <a:solidFill>
                  <a:schemeClr val="tx1"/>
                </a:solidFill>
              </a:rPr>
              <a:t>Aksen tema, kuning, krem, tinta</a:t>
            </a:r>
            <a:endParaRPr lang="id-ID" sz="1200" dirty="0">
              <a:solidFill>
                <a:schemeClr val="tx1"/>
              </a:solidFill>
            </a:endParaRPr>
          </a:p>
        </p:txBody>
      </p:sp>
      <p:sp>
        <p:nvSpPr>
          <p:cNvPr id="6" name="Ikon logo (latar)"/>
          <p:cNvSpPr/>
          <p:nvPr/>
        </p:nvSpPr>
        <p:spPr>
          <a:xfrm>
            <a:off x="4297680" y="1325880"/>
            <a:ext cx="530352" cy="530352"/>
          </a:xfrm>
          <a:prstGeom prst="ellipse">
            <a:avLst/>
          </a:prstGeom>
          <a:solidFill>
            <a:schemeClr val="accent1"/>
          </a:solidFill>
          <a:ln w="6350">
            <a:solidFill>
              <a:schemeClr val="accent1"/>
            </a:solidFill>
            <a:prstDash val="solid"/>
          </a:ln>
        </p:spPr>
      </p:sp>
      <p:pic>
        <p:nvPicPr>
          <p:cNvPr id="7" name="Ikon logo" descr="Ikon logo"/>
          <p:cNvPicPr>
            <a:picLocks noChangeAspect="1"/>
          </p:cNvPicPr>
          <p:nvPr/>
        </p:nvPicPr>
        <p:blipFill>
          <a:blip r:embed="rId1"/>
          <a:stretch>
            <a:fillRect/>
          </a:stretch>
        </p:blipFill>
        <p:spPr>
          <a:xfrm>
            <a:off x="4430268" y="1458468"/>
            <a:ext cx="265176" cy="265176"/>
          </a:xfrm>
          <a:prstGeom prst="rect">
            <a:avLst/>
          </a:prstGeom>
        </p:spPr>
      </p:pic>
      <p:sp>
        <p:nvSpPr>
          <p:cNvPr id="8" name="Judul Ikon logo"/>
          <p:cNvSpPr txBox="1"/>
          <p:nvPr/>
        </p:nvSpPr>
        <p:spPr>
          <a:xfrm>
            <a:off x="5010912" y="1280160"/>
            <a:ext cx="3657600" cy="274320"/>
          </a:xfrm>
          <a:prstGeom prst="rect">
            <a:avLst/>
          </a:prstGeom>
          <a:noFill/>
        </p:spPr>
        <p:txBody>
          <a:bodyPr wrap="square" lIns="0" tIns="0" rIns="0" bIns="0" rtlCol="0" anchor="t"/>
          <a:lstStyle/>
          <a:p>
            <a:pPr marL="0" indent="0">
              <a:buNone/>
            </a:pPr>
            <a:r>
              <a:rPr lang="en-US" sz="1600" b="1" dirty="0">
                <a:solidFill>
                  <a:schemeClr val="tx2"/>
                </a:solidFill>
              </a:rPr>
              <a:t>Outline dan hard shadow</a:t>
            </a:r>
            <a:endParaRPr lang="en-US" sz="1600" dirty="0"/>
          </a:p>
        </p:txBody>
      </p:sp>
      <p:sp>
        <p:nvSpPr>
          <p:cNvPr id="9" name="Isi Ikon logo"/>
          <p:cNvSpPr txBox="1"/>
          <p:nvPr/>
        </p:nvSpPr>
        <p:spPr>
          <a:xfrm>
            <a:off x="5010912" y="1572768"/>
            <a:ext cx="3657600" cy="758952"/>
          </a:xfrm>
          <a:prstGeom prst="rect">
            <a:avLst/>
          </a:prstGeom>
          <a:noFill/>
        </p:spPr>
        <p:txBody>
          <a:bodyPr wrap="square" lIns="0" tIns="0" rIns="0" bIns="0" rtlCol="0" anchor="t"/>
          <a:lstStyle/>
          <a:p>
            <a:pPr marL="0" indent="0">
              <a:buNone/>
            </a:pPr>
            <a:r>
              <a:rPr lang="en-US" sz="1400" dirty="0">
                <a:solidFill>
                  <a:schemeClr val="tx1"/>
                </a:solidFill>
              </a:rPr>
              <a:t>Garis tinta 2 px dan bayangan solid tanpa blur membuat kartu dan tombol terlihat bisa ditekan.</a:t>
            </a:r>
            <a:endParaRPr lang="en-US" sz="1400" dirty="0"/>
          </a:p>
        </p:txBody>
      </p:sp>
      <p:sp>
        <p:nvSpPr>
          <p:cNvPr id="10" name="Ikon latar (latar)"/>
          <p:cNvSpPr/>
          <p:nvPr/>
        </p:nvSpPr>
        <p:spPr>
          <a:xfrm>
            <a:off x="4297680" y="2514600"/>
            <a:ext cx="530352" cy="530352"/>
          </a:xfrm>
          <a:prstGeom prst="ellipse">
            <a:avLst/>
          </a:prstGeom>
          <a:solidFill>
            <a:schemeClr val="accent4"/>
          </a:solidFill>
          <a:ln w="6350">
            <a:solidFill>
              <a:schemeClr val="accent4"/>
            </a:solidFill>
            <a:prstDash val="solid"/>
          </a:ln>
        </p:spPr>
      </p:sp>
      <p:pic>
        <p:nvPicPr>
          <p:cNvPr id="11" name="Ikon latar" descr="Ikon latar"/>
          <p:cNvPicPr>
            <a:picLocks noChangeAspect="1"/>
          </p:cNvPicPr>
          <p:nvPr/>
        </p:nvPicPr>
        <p:blipFill>
          <a:blip r:embed="rId2"/>
          <a:stretch>
            <a:fillRect/>
          </a:stretch>
        </p:blipFill>
        <p:spPr>
          <a:xfrm>
            <a:off x="4430268" y="2647188"/>
            <a:ext cx="265176" cy="265176"/>
          </a:xfrm>
          <a:prstGeom prst="rect">
            <a:avLst/>
          </a:prstGeom>
        </p:spPr>
      </p:pic>
      <p:sp>
        <p:nvSpPr>
          <p:cNvPr id="12" name="Judul Ikon latar"/>
          <p:cNvSpPr txBox="1"/>
          <p:nvPr/>
        </p:nvSpPr>
        <p:spPr>
          <a:xfrm>
            <a:off x="5010912" y="2468880"/>
            <a:ext cx="3657600" cy="274320"/>
          </a:xfrm>
          <a:prstGeom prst="rect">
            <a:avLst/>
          </a:prstGeom>
          <a:noFill/>
        </p:spPr>
        <p:txBody>
          <a:bodyPr wrap="square" lIns="0" tIns="0" rIns="0" bIns="0" rtlCol="0" anchor="t"/>
          <a:lstStyle/>
          <a:p>
            <a:pPr marL="0" indent="0">
              <a:buNone/>
            </a:pPr>
            <a:r>
              <a:rPr lang="en-US" sz="1600" b="1" dirty="0">
                <a:solidFill>
                  <a:schemeClr val="tx2"/>
                </a:solidFill>
              </a:rPr>
              <a:t>Warna flat, satu aksen</a:t>
            </a:r>
            <a:endParaRPr lang="en-US" sz="1600" dirty="0"/>
          </a:p>
        </p:txBody>
      </p:sp>
      <p:sp>
        <p:nvSpPr>
          <p:cNvPr id="13" name="Isi Ikon latar"/>
          <p:cNvSpPr txBox="1"/>
          <p:nvPr/>
        </p:nvSpPr>
        <p:spPr>
          <a:xfrm>
            <a:off x="5010912" y="2761488"/>
            <a:ext cx="3657600" cy="758952"/>
          </a:xfrm>
          <a:prstGeom prst="rect">
            <a:avLst/>
          </a:prstGeom>
          <a:noFill/>
        </p:spPr>
        <p:txBody>
          <a:bodyPr wrap="square" lIns="0" tIns="0" rIns="0" bIns="0" rtlCol="0" anchor="t"/>
          <a:lstStyle/>
          <a:p>
            <a:pPr marL="0" indent="0">
              <a:buNone/>
            </a:pPr>
            <a:r>
              <a:rPr lang="en-US" sz="1400" dirty="0">
                <a:solidFill>
                  <a:schemeClr val="tx1"/>
                </a:solidFill>
              </a:rPr>
              <a:t>Warna tema tetap dinamis. Kuning dipakai untuk aksi sekunder, latar krem atau gelap pekat.</a:t>
            </a:r>
            <a:endParaRPr lang="en-US" sz="1400" dirty="0"/>
          </a:p>
        </p:txBody>
      </p:sp>
      <p:sp>
        <p:nvSpPr>
          <p:cNvPr id="14" name="Ikon aset (latar)"/>
          <p:cNvSpPr/>
          <p:nvPr/>
        </p:nvSpPr>
        <p:spPr>
          <a:xfrm>
            <a:off x="4297680" y="3703320"/>
            <a:ext cx="530352" cy="530352"/>
          </a:xfrm>
          <a:prstGeom prst="ellipse">
            <a:avLst/>
          </a:prstGeom>
          <a:solidFill>
            <a:schemeClr val="accent6"/>
          </a:solidFill>
          <a:ln w="6350">
            <a:solidFill>
              <a:schemeClr val="accent6"/>
            </a:solidFill>
            <a:prstDash val="solid"/>
          </a:ln>
        </p:spPr>
      </p:sp>
      <p:pic>
        <p:nvPicPr>
          <p:cNvPr id="15" name="Ikon aset" descr="Ikon aset"/>
          <p:cNvPicPr>
            <a:picLocks noChangeAspect="1"/>
          </p:cNvPicPr>
          <p:nvPr/>
        </p:nvPicPr>
        <p:blipFill>
          <a:blip r:embed="rId3"/>
          <a:stretch>
            <a:fillRect/>
          </a:stretch>
        </p:blipFill>
        <p:spPr>
          <a:xfrm>
            <a:off x="4430268" y="3835908"/>
            <a:ext cx="265176" cy="265176"/>
          </a:xfrm>
          <a:prstGeom prst="rect">
            <a:avLst/>
          </a:prstGeom>
        </p:spPr>
      </p:pic>
      <p:sp>
        <p:nvSpPr>
          <p:cNvPr id="16" name="Judul Ikon aset"/>
          <p:cNvSpPr txBox="1"/>
          <p:nvPr/>
        </p:nvSpPr>
        <p:spPr>
          <a:xfrm>
            <a:off x="5010912" y="3657600"/>
            <a:ext cx="3657600" cy="274320"/>
          </a:xfrm>
          <a:prstGeom prst="rect">
            <a:avLst/>
          </a:prstGeom>
          <a:noFill/>
        </p:spPr>
        <p:txBody>
          <a:bodyPr wrap="square" lIns="0" tIns="0" rIns="0" bIns="0" rtlCol="0" anchor="t"/>
          <a:lstStyle/>
          <a:p>
            <a:pPr marL="0" indent="0">
              <a:buNone/>
            </a:pPr>
            <a:r>
              <a:rPr lang="en-US" sz="1600" b="1" dirty="0">
                <a:solidFill>
                  <a:schemeClr val="tx2"/>
                </a:solidFill>
              </a:rPr>
              <a:t>Gaya terpusat di helper</a:t>
            </a:r>
            <a:endParaRPr lang="en-US" sz="1600" dirty="0"/>
          </a:p>
        </p:txBody>
      </p:sp>
      <p:sp>
        <p:nvSpPr>
          <p:cNvPr id="17" name="Isi Ikon aset"/>
          <p:cNvSpPr txBox="1"/>
          <p:nvPr/>
        </p:nvSpPr>
        <p:spPr>
          <a:xfrm>
            <a:off x="5010912" y="3950208"/>
            <a:ext cx="3657600" cy="530352"/>
          </a:xfrm>
          <a:prstGeom prst="rect">
            <a:avLst/>
          </a:prstGeom>
          <a:noFill/>
        </p:spPr>
        <p:txBody>
          <a:bodyPr wrap="square" lIns="0" tIns="0" rIns="0" bIns="0" rtlCol="0" anchor="t"/>
          <a:lstStyle/>
          <a:p>
            <a:pPr marL="0" indent="0">
              <a:buNone/>
            </a:pPr>
            <a:r>
              <a:rPr lang="en-US" sz="1400" dirty="0">
                <a:solidFill>
                  <a:schemeClr val="tx1"/>
                </a:solidFill>
              </a:rPr>
              <a:t>tinta(), teksDi(), dekorasiNeo(), dan TombolNeo mengatur gaya di satu tempat.</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Penanganan Error</a:t>
            </a:r>
            <a:endParaRPr lang="en-US" sz="3400" dirty="0"/>
          </a:p>
        </p:txBody>
      </p:sp>
      <p:sp>
        <p:nvSpPr>
          <p:cNvPr id="3" name="Kartu Penanganan global"/>
          <p:cNvSpPr/>
          <p:nvPr/>
        </p:nvSpPr>
        <p:spPr>
          <a:xfrm>
            <a:off x="548640" y="1280160"/>
            <a:ext cx="2560320" cy="1554480"/>
          </a:xfrm>
          <a:prstGeom prst="roundRect">
            <a:avLst>
              <a:gd name="adj" fmla="val 7059"/>
            </a:avLst>
          </a:prstGeom>
          <a:solidFill>
            <a:schemeClr val="bg2"/>
          </a:solidFill>
          <a:ln w="9525">
            <a:solidFill>
              <a:schemeClr val="bg2"/>
            </a:solidFill>
            <a:prstDash val="solid"/>
          </a:ln>
        </p:spPr>
      </p:sp>
      <p:sp>
        <p:nvSpPr>
          <p:cNvPr id="4" name="Ikon Penanganan global (latar)"/>
          <p:cNvSpPr/>
          <p:nvPr/>
        </p:nvSpPr>
        <p:spPr>
          <a:xfrm>
            <a:off x="685800" y="1417320"/>
            <a:ext cx="420624" cy="420624"/>
          </a:xfrm>
          <a:prstGeom prst="ellipse">
            <a:avLst/>
          </a:prstGeom>
          <a:solidFill>
            <a:schemeClr val="accent1"/>
          </a:solidFill>
          <a:ln w="6350">
            <a:solidFill>
              <a:schemeClr val="accent1"/>
            </a:solidFill>
            <a:prstDash val="solid"/>
          </a:ln>
        </p:spPr>
      </p:sp>
      <p:pic>
        <p:nvPicPr>
          <p:cNvPr id="5" name="Ikon Penanganan global" descr="Ikon Penanganan global"/>
          <p:cNvPicPr>
            <a:picLocks noChangeAspect="1"/>
          </p:cNvPicPr>
          <p:nvPr/>
        </p:nvPicPr>
        <p:blipFill>
          <a:blip r:embed="rId1"/>
          <a:stretch>
            <a:fillRect/>
          </a:stretch>
        </p:blipFill>
        <p:spPr>
          <a:xfrm>
            <a:off x="790956" y="1522476"/>
            <a:ext cx="210312" cy="210312"/>
          </a:xfrm>
          <a:prstGeom prst="rect">
            <a:avLst/>
          </a:prstGeom>
        </p:spPr>
      </p:pic>
      <p:sp>
        <p:nvSpPr>
          <p:cNvPr id="6" name="Judul Penanganan global"/>
          <p:cNvSpPr txBox="1"/>
          <p:nvPr/>
        </p:nvSpPr>
        <p:spPr>
          <a:xfrm>
            <a:off x="1207008" y="1417320"/>
            <a:ext cx="1828800" cy="420624"/>
          </a:xfrm>
          <a:prstGeom prst="rect">
            <a:avLst/>
          </a:prstGeom>
          <a:noFill/>
        </p:spPr>
        <p:txBody>
          <a:bodyPr wrap="square" lIns="0" tIns="0" rIns="0" bIns="0" rtlCol="0" anchor="ctr"/>
          <a:lstStyle/>
          <a:p>
            <a:pPr marL="0" indent="0">
              <a:buNone/>
            </a:pPr>
            <a:r>
              <a:rPr lang="en-US" sz="1400" b="1" dirty="0">
                <a:solidFill>
                  <a:schemeClr val="tx2"/>
                </a:solidFill>
              </a:rPr>
              <a:t>Penanganan global</a:t>
            </a:r>
            <a:endParaRPr lang="en-US" sz="1400" dirty="0"/>
          </a:p>
        </p:txBody>
      </p:sp>
      <p:sp>
        <p:nvSpPr>
          <p:cNvPr id="7" name="Isi Penanganan global"/>
          <p:cNvSpPr txBox="1"/>
          <p:nvPr/>
        </p:nvSpPr>
        <p:spPr>
          <a:xfrm>
            <a:off x="685800" y="1938528"/>
            <a:ext cx="2286000" cy="822960"/>
          </a:xfrm>
          <a:prstGeom prst="rect">
            <a:avLst/>
          </a:prstGeom>
          <a:noFill/>
        </p:spPr>
        <p:txBody>
          <a:bodyPr wrap="square" lIns="0" tIns="0" rIns="0" bIns="0" rtlCol="0" anchor="t"/>
          <a:lstStyle/>
          <a:p>
            <a:pPr marL="0" indent="0">
              <a:buNone/>
            </a:pPr>
            <a:r>
              <a:rPr lang="en-US" sz="1300" dirty="0">
                <a:solidFill>
                  <a:schemeClr val="tx1"/>
                </a:solidFill>
              </a:rPr>
              <a:t>FlutterError, PlatformDispatcher, dan ErrorWidget menangkap galat tak terduga.</a:t>
            </a:r>
            <a:endParaRPr lang="en-US" sz="1300" dirty="0"/>
          </a:p>
        </p:txBody>
      </p:sp>
      <p:sp>
        <p:nvSpPr>
          <p:cNvPr id="8" name="Kartu Try-catch di Cubit"/>
          <p:cNvSpPr/>
          <p:nvPr/>
        </p:nvSpPr>
        <p:spPr>
          <a:xfrm>
            <a:off x="3291840" y="1280160"/>
            <a:ext cx="2560320" cy="1554480"/>
          </a:xfrm>
          <a:prstGeom prst="roundRect">
            <a:avLst>
              <a:gd name="adj" fmla="val 7059"/>
            </a:avLst>
          </a:prstGeom>
          <a:solidFill>
            <a:schemeClr val="bg2"/>
          </a:solidFill>
          <a:ln w="9525">
            <a:solidFill>
              <a:schemeClr val="bg2"/>
            </a:solidFill>
            <a:prstDash val="solid"/>
          </a:ln>
        </p:spPr>
      </p:sp>
      <p:sp>
        <p:nvSpPr>
          <p:cNvPr id="9" name="Ikon Try-catch di Cubit (latar)"/>
          <p:cNvSpPr/>
          <p:nvPr/>
        </p:nvSpPr>
        <p:spPr>
          <a:xfrm>
            <a:off x="3429000" y="1417320"/>
            <a:ext cx="420624" cy="420624"/>
          </a:xfrm>
          <a:prstGeom prst="ellipse">
            <a:avLst/>
          </a:prstGeom>
          <a:solidFill>
            <a:schemeClr val="accent3"/>
          </a:solidFill>
          <a:ln w="6350">
            <a:solidFill>
              <a:schemeClr val="accent3"/>
            </a:solidFill>
            <a:prstDash val="solid"/>
          </a:ln>
        </p:spPr>
      </p:sp>
      <p:pic>
        <p:nvPicPr>
          <p:cNvPr id="10" name="Ikon Try-catch di Cubit" descr="Ikon Try-catch di Cubit"/>
          <p:cNvPicPr>
            <a:picLocks noChangeAspect="1"/>
          </p:cNvPicPr>
          <p:nvPr/>
        </p:nvPicPr>
        <p:blipFill>
          <a:blip r:embed="rId2"/>
          <a:stretch>
            <a:fillRect/>
          </a:stretch>
        </p:blipFill>
        <p:spPr>
          <a:xfrm>
            <a:off x="3534156" y="1522476"/>
            <a:ext cx="210312" cy="210312"/>
          </a:xfrm>
          <a:prstGeom prst="rect">
            <a:avLst/>
          </a:prstGeom>
        </p:spPr>
      </p:pic>
      <p:sp>
        <p:nvSpPr>
          <p:cNvPr id="11" name="Judul Try-catch di Cubit"/>
          <p:cNvSpPr txBox="1"/>
          <p:nvPr/>
        </p:nvSpPr>
        <p:spPr>
          <a:xfrm>
            <a:off x="3950208" y="1417320"/>
            <a:ext cx="1828800" cy="420624"/>
          </a:xfrm>
          <a:prstGeom prst="rect">
            <a:avLst/>
          </a:prstGeom>
          <a:noFill/>
        </p:spPr>
        <p:txBody>
          <a:bodyPr wrap="square" lIns="0" tIns="0" rIns="0" bIns="0" rtlCol="0" anchor="ctr"/>
          <a:lstStyle/>
          <a:p>
            <a:pPr marL="0" indent="0">
              <a:buNone/>
            </a:pPr>
            <a:r>
              <a:rPr lang="en-US" sz="1400" b="1" dirty="0">
                <a:solidFill>
                  <a:schemeClr val="tx2"/>
                </a:solidFill>
              </a:rPr>
              <a:t>Try-catch di Cubit</a:t>
            </a:r>
            <a:endParaRPr lang="en-US" sz="1400" dirty="0"/>
          </a:p>
        </p:txBody>
      </p:sp>
      <p:sp>
        <p:nvSpPr>
          <p:cNvPr id="12" name="Isi Try-catch di Cubit"/>
          <p:cNvSpPr txBox="1"/>
          <p:nvPr/>
        </p:nvSpPr>
        <p:spPr>
          <a:xfrm>
            <a:off x="3429000" y="1938528"/>
            <a:ext cx="2286000" cy="822960"/>
          </a:xfrm>
          <a:prstGeom prst="rect">
            <a:avLst/>
          </a:prstGeom>
          <a:noFill/>
        </p:spPr>
        <p:txBody>
          <a:bodyPr wrap="square" lIns="0" tIns="0" rIns="0" bIns="0" rtlCol="0" anchor="t"/>
          <a:lstStyle/>
          <a:p>
            <a:pPr marL="0" indent="0">
              <a:buNone/>
            </a:pPr>
            <a:r>
              <a:rPr lang="en-US" sz="1300" dirty="0">
                <a:solidFill>
                  <a:schemeClr val="tx1"/>
                </a:solidFill>
              </a:rPr>
              <a:t>Setiap method antrian memakai try-catch dan memeriksa isClosed.</a:t>
            </a:r>
            <a:endParaRPr lang="en-US" sz="1300" dirty="0"/>
          </a:p>
        </p:txBody>
      </p:sp>
      <p:sp>
        <p:nvSpPr>
          <p:cNvPr id="13" name="Kartu Validasi aksi"/>
          <p:cNvSpPr/>
          <p:nvPr/>
        </p:nvSpPr>
        <p:spPr>
          <a:xfrm>
            <a:off x="6035040" y="1280160"/>
            <a:ext cx="2560320" cy="1554480"/>
          </a:xfrm>
          <a:prstGeom prst="roundRect">
            <a:avLst>
              <a:gd name="adj" fmla="val 7059"/>
            </a:avLst>
          </a:prstGeom>
          <a:solidFill>
            <a:schemeClr val="bg2"/>
          </a:solidFill>
          <a:ln w="9525">
            <a:solidFill>
              <a:schemeClr val="bg2"/>
            </a:solidFill>
            <a:prstDash val="solid"/>
          </a:ln>
        </p:spPr>
      </p:sp>
      <p:sp>
        <p:nvSpPr>
          <p:cNvPr id="14" name="Ikon Validasi aksi (latar)"/>
          <p:cNvSpPr/>
          <p:nvPr/>
        </p:nvSpPr>
        <p:spPr>
          <a:xfrm>
            <a:off x="6172200" y="1417320"/>
            <a:ext cx="420624" cy="420624"/>
          </a:xfrm>
          <a:prstGeom prst="ellipse">
            <a:avLst/>
          </a:prstGeom>
          <a:solidFill>
            <a:schemeClr val="accent5"/>
          </a:solidFill>
          <a:ln w="6350">
            <a:solidFill>
              <a:schemeClr val="accent5"/>
            </a:solidFill>
            <a:prstDash val="solid"/>
          </a:ln>
        </p:spPr>
      </p:sp>
      <p:pic>
        <p:nvPicPr>
          <p:cNvPr id="15" name="Ikon Validasi aksi" descr="Ikon Validasi aksi"/>
          <p:cNvPicPr>
            <a:picLocks noChangeAspect="1"/>
          </p:cNvPicPr>
          <p:nvPr/>
        </p:nvPicPr>
        <p:blipFill>
          <a:blip r:embed="rId3"/>
          <a:stretch>
            <a:fillRect/>
          </a:stretch>
        </p:blipFill>
        <p:spPr>
          <a:xfrm>
            <a:off x="6277356" y="1522476"/>
            <a:ext cx="210312" cy="210312"/>
          </a:xfrm>
          <a:prstGeom prst="rect">
            <a:avLst/>
          </a:prstGeom>
        </p:spPr>
      </p:pic>
      <p:sp>
        <p:nvSpPr>
          <p:cNvPr id="16" name="Judul Validasi aksi"/>
          <p:cNvSpPr txBox="1"/>
          <p:nvPr/>
        </p:nvSpPr>
        <p:spPr>
          <a:xfrm>
            <a:off x="6693408" y="1417320"/>
            <a:ext cx="1828800" cy="420624"/>
          </a:xfrm>
          <a:prstGeom prst="rect">
            <a:avLst/>
          </a:prstGeom>
          <a:noFill/>
        </p:spPr>
        <p:txBody>
          <a:bodyPr wrap="square" lIns="0" tIns="0" rIns="0" bIns="0" rtlCol="0" anchor="ctr"/>
          <a:lstStyle/>
          <a:p>
            <a:pPr marL="0" indent="0">
              <a:buNone/>
            </a:pPr>
            <a:r>
              <a:rPr lang="en-US" sz="1400" b="1" dirty="0">
                <a:solidFill>
                  <a:schemeClr val="tx2"/>
                </a:solidFill>
              </a:rPr>
              <a:t>Validasi aksi</a:t>
            </a:r>
            <a:endParaRPr lang="en-US" sz="1400" dirty="0"/>
          </a:p>
        </p:txBody>
      </p:sp>
      <p:sp>
        <p:nvSpPr>
          <p:cNvPr id="17" name="Isi Validasi aksi"/>
          <p:cNvSpPr txBox="1"/>
          <p:nvPr/>
        </p:nvSpPr>
        <p:spPr>
          <a:xfrm>
            <a:off x="6172200" y="1938528"/>
            <a:ext cx="2286000" cy="822960"/>
          </a:xfrm>
          <a:prstGeom prst="rect">
            <a:avLst/>
          </a:prstGeom>
          <a:noFill/>
        </p:spPr>
        <p:txBody>
          <a:bodyPr wrap="square" lIns="0" tIns="0" rIns="0" bIns="0" rtlCol="0" anchor="t"/>
          <a:lstStyle/>
          <a:p>
            <a:pPr marL="0" indent="0">
              <a:buNone/>
            </a:pPr>
            <a:r>
              <a:rPr lang="en-US" sz="1300" dirty="0">
                <a:solidFill>
                  <a:schemeClr val="tx1"/>
                </a:solidFill>
              </a:rPr>
              <a:t>Batas nomor 999, antrian kosong, dan batal saat kosong ditolak dengan pesan.</a:t>
            </a:r>
            <a:endParaRPr lang="en-US" sz="1300" dirty="0"/>
          </a:p>
        </p:txBody>
      </p:sp>
      <p:sp>
        <p:nvSpPr>
          <p:cNvPr id="18" name="Kartu Rute aman"/>
          <p:cNvSpPr/>
          <p:nvPr/>
        </p:nvSpPr>
        <p:spPr>
          <a:xfrm>
            <a:off x="548640" y="2971800"/>
            <a:ext cx="2560320" cy="1554480"/>
          </a:xfrm>
          <a:prstGeom prst="roundRect">
            <a:avLst>
              <a:gd name="adj" fmla="val 7059"/>
            </a:avLst>
          </a:prstGeom>
          <a:solidFill>
            <a:schemeClr val="bg2"/>
          </a:solidFill>
          <a:ln w="9525">
            <a:solidFill>
              <a:schemeClr val="bg2"/>
            </a:solidFill>
            <a:prstDash val="solid"/>
          </a:ln>
        </p:spPr>
      </p:sp>
      <p:sp>
        <p:nvSpPr>
          <p:cNvPr id="19" name="Ikon Rute aman (latar)"/>
          <p:cNvSpPr/>
          <p:nvPr/>
        </p:nvSpPr>
        <p:spPr>
          <a:xfrm>
            <a:off x="685800" y="3108960"/>
            <a:ext cx="420624" cy="420624"/>
          </a:xfrm>
          <a:prstGeom prst="ellipse">
            <a:avLst/>
          </a:prstGeom>
          <a:solidFill>
            <a:schemeClr val="accent4"/>
          </a:solidFill>
          <a:ln w="6350">
            <a:solidFill>
              <a:schemeClr val="accent4"/>
            </a:solidFill>
            <a:prstDash val="solid"/>
          </a:ln>
        </p:spPr>
      </p:sp>
      <p:pic>
        <p:nvPicPr>
          <p:cNvPr id="20" name="Ikon Rute aman" descr="Ikon Rute aman"/>
          <p:cNvPicPr>
            <a:picLocks noChangeAspect="1"/>
          </p:cNvPicPr>
          <p:nvPr/>
        </p:nvPicPr>
        <p:blipFill>
          <a:blip r:embed="rId4"/>
          <a:stretch>
            <a:fillRect/>
          </a:stretch>
        </p:blipFill>
        <p:spPr>
          <a:xfrm>
            <a:off x="790956" y="3214116"/>
            <a:ext cx="210312" cy="210312"/>
          </a:xfrm>
          <a:prstGeom prst="rect">
            <a:avLst/>
          </a:prstGeom>
        </p:spPr>
      </p:pic>
      <p:sp>
        <p:nvSpPr>
          <p:cNvPr id="21" name="Judul Rute aman"/>
          <p:cNvSpPr txBox="1"/>
          <p:nvPr/>
        </p:nvSpPr>
        <p:spPr>
          <a:xfrm>
            <a:off x="1207008" y="3108960"/>
            <a:ext cx="1828800" cy="420624"/>
          </a:xfrm>
          <a:prstGeom prst="rect">
            <a:avLst/>
          </a:prstGeom>
          <a:noFill/>
        </p:spPr>
        <p:txBody>
          <a:bodyPr wrap="square" lIns="0" tIns="0" rIns="0" bIns="0" rtlCol="0" anchor="ctr"/>
          <a:lstStyle/>
          <a:p>
            <a:pPr marL="0" indent="0">
              <a:buNone/>
            </a:pPr>
            <a:r>
              <a:rPr lang="en-US" sz="1400" b="1" dirty="0">
                <a:solidFill>
                  <a:schemeClr val="tx2"/>
                </a:solidFill>
              </a:rPr>
              <a:t>Rute aman</a:t>
            </a:r>
            <a:endParaRPr lang="en-US" sz="1400" dirty="0"/>
          </a:p>
        </p:txBody>
      </p:sp>
      <p:sp>
        <p:nvSpPr>
          <p:cNvPr id="22" name="Isi Rute aman"/>
          <p:cNvSpPr txBox="1"/>
          <p:nvPr/>
        </p:nvSpPr>
        <p:spPr>
          <a:xfrm>
            <a:off x="685800" y="3630168"/>
            <a:ext cx="2286000" cy="822960"/>
          </a:xfrm>
          <a:prstGeom prst="rect">
            <a:avLst/>
          </a:prstGeom>
          <a:noFill/>
        </p:spPr>
        <p:txBody>
          <a:bodyPr wrap="square" lIns="0" tIns="0" rIns="0" bIns="0" rtlCol="0" anchor="t"/>
          <a:lstStyle/>
          <a:p>
            <a:pPr marL="0" indent="0">
              <a:buNone/>
            </a:pPr>
            <a:r>
              <a:rPr lang="en-US" sz="1300" dirty="0">
                <a:solidFill>
                  <a:schemeClr val="tx1"/>
                </a:solidFill>
              </a:rPr>
              <a:t>Rute tidak dikenal diarahkan ke Beranda, tanpa layar kosong.</a:t>
            </a:r>
            <a:endParaRPr lang="en-US" sz="1300" dirty="0"/>
          </a:p>
        </p:txBody>
      </p:sp>
      <p:sp>
        <p:nvSpPr>
          <p:cNvPr id="23" name="Kartu Konfirmasi reset"/>
          <p:cNvSpPr/>
          <p:nvPr/>
        </p:nvSpPr>
        <p:spPr>
          <a:xfrm>
            <a:off x="3291840" y="2971800"/>
            <a:ext cx="2560320" cy="1554480"/>
          </a:xfrm>
          <a:prstGeom prst="roundRect">
            <a:avLst>
              <a:gd name="adj" fmla="val 7059"/>
            </a:avLst>
          </a:prstGeom>
          <a:solidFill>
            <a:schemeClr val="bg2"/>
          </a:solidFill>
          <a:ln w="9525">
            <a:solidFill>
              <a:schemeClr val="bg2"/>
            </a:solidFill>
            <a:prstDash val="solid"/>
          </a:ln>
        </p:spPr>
      </p:sp>
      <p:sp>
        <p:nvSpPr>
          <p:cNvPr id="24" name="Ikon Konfirmasi reset (latar)"/>
          <p:cNvSpPr/>
          <p:nvPr/>
        </p:nvSpPr>
        <p:spPr>
          <a:xfrm>
            <a:off x="3429000" y="3108960"/>
            <a:ext cx="420624" cy="420624"/>
          </a:xfrm>
          <a:prstGeom prst="ellipse">
            <a:avLst/>
          </a:prstGeom>
          <a:solidFill>
            <a:schemeClr val="accent2"/>
          </a:solidFill>
          <a:ln w="6350">
            <a:solidFill>
              <a:schemeClr val="accent2"/>
            </a:solidFill>
            <a:prstDash val="solid"/>
          </a:ln>
        </p:spPr>
      </p:sp>
      <p:pic>
        <p:nvPicPr>
          <p:cNvPr id="25" name="Ikon Konfirmasi reset" descr="Ikon Konfirmasi reset"/>
          <p:cNvPicPr>
            <a:picLocks noChangeAspect="1"/>
          </p:cNvPicPr>
          <p:nvPr/>
        </p:nvPicPr>
        <p:blipFill>
          <a:blip r:embed="rId5"/>
          <a:stretch>
            <a:fillRect/>
          </a:stretch>
        </p:blipFill>
        <p:spPr>
          <a:xfrm>
            <a:off x="3534156" y="3214116"/>
            <a:ext cx="210312" cy="210312"/>
          </a:xfrm>
          <a:prstGeom prst="rect">
            <a:avLst/>
          </a:prstGeom>
        </p:spPr>
      </p:pic>
      <p:sp>
        <p:nvSpPr>
          <p:cNvPr id="26" name="Judul Konfirmasi reset"/>
          <p:cNvSpPr txBox="1"/>
          <p:nvPr/>
        </p:nvSpPr>
        <p:spPr>
          <a:xfrm>
            <a:off x="3950208" y="3108960"/>
            <a:ext cx="1828800" cy="420624"/>
          </a:xfrm>
          <a:prstGeom prst="rect">
            <a:avLst/>
          </a:prstGeom>
          <a:noFill/>
        </p:spPr>
        <p:txBody>
          <a:bodyPr wrap="square" lIns="0" tIns="0" rIns="0" bIns="0" rtlCol="0" anchor="ctr"/>
          <a:lstStyle/>
          <a:p>
            <a:pPr marL="0" indent="0">
              <a:buNone/>
            </a:pPr>
            <a:r>
              <a:rPr lang="en-US" sz="1400" b="1" dirty="0">
                <a:solidFill>
                  <a:schemeClr val="tx2"/>
                </a:solidFill>
              </a:rPr>
              <a:t>Konfirmasi reset</a:t>
            </a:r>
            <a:endParaRPr lang="en-US" sz="1400" dirty="0"/>
          </a:p>
        </p:txBody>
      </p:sp>
      <p:sp>
        <p:nvSpPr>
          <p:cNvPr id="27" name="Isi Konfirmasi reset"/>
          <p:cNvSpPr txBox="1"/>
          <p:nvPr/>
        </p:nvSpPr>
        <p:spPr>
          <a:xfrm>
            <a:off x="3429000" y="3630168"/>
            <a:ext cx="2286000" cy="822960"/>
          </a:xfrm>
          <a:prstGeom prst="rect">
            <a:avLst/>
          </a:prstGeom>
          <a:noFill/>
        </p:spPr>
        <p:txBody>
          <a:bodyPr wrap="square" lIns="0" tIns="0" rIns="0" bIns="0" rtlCol="0" anchor="t"/>
          <a:lstStyle/>
          <a:p>
            <a:pPr marL="0" indent="0">
              <a:buNone/>
            </a:pPr>
            <a:r>
              <a:rPr lang="en-US" sz="1300" dirty="0">
                <a:solidFill>
                  <a:schemeClr val="tx1"/>
                </a:solidFill>
              </a:rPr>
              <a:t>Dialog muncul sebelum data antrian dihapus.</a:t>
            </a:r>
            <a:endParaRPr lang="en-US" sz="1300" dirty="0"/>
          </a:p>
        </p:txBody>
      </p:sp>
      <p:sp>
        <p:nvSpPr>
          <p:cNvPr id="28" name="Kartu Tampilan aman"/>
          <p:cNvSpPr/>
          <p:nvPr/>
        </p:nvSpPr>
        <p:spPr>
          <a:xfrm>
            <a:off x="6035040" y="2971800"/>
            <a:ext cx="2560320" cy="1554480"/>
          </a:xfrm>
          <a:prstGeom prst="roundRect">
            <a:avLst>
              <a:gd name="adj" fmla="val 7059"/>
            </a:avLst>
          </a:prstGeom>
          <a:solidFill>
            <a:schemeClr val="bg2"/>
          </a:solidFill>
          <a:ln w="9525">
            <a:solidFill>
              <a:schemeClr val="bg2"/>
            </a:solidFill>
            <a:prstDash val="solid"/>
          </a:ln>
        </p:spPr>
      </p:sp>
      <p:sp>
        <p:nvSpPr>
          <p:cNvPr id="29" name="Ikon Tampilan aman (latar)"/>
          <p:cNvSpPr/>
          <p:nvPr/>
        </p:nvSpPr>
        <p:spPr>
          <a:xfrm>
            <a:off x="6172200" y="3108960"/>
            <a:ext cx="420624" cy="420624"/>
          </a:xfrm>
          <a:prstGeom prst="ellipse">
            <a:avLst/>
          </a:prstGeom>
          <a:solidFill>
            <a:schemeClr val="accent6"/>
          </a:solidFill>
          <a:ln w="6350">
            <a:solidFill>
              <a:schemeClr val="accent6"/>
            </a:solidFill>
            <a:prstDash val="solid"/>
          </a:ln>
        </p:spPr>
      </p:sp>
      <p:pic>
        <p:nvPicPr>
          <p:cNvPr id="30" name="Ikon Tampilan aman" descr="Ikon Tampilan aman"/>
          <p:cNvPicPr>
            <a:picLocks noChangeAspect="1"/>
          </p:cNvPicPr>
          <p:nvPr/>
        </p:nvPicPr>
        <p:blipFill>
          <a:blip r:embed="rId6"/>
          <a:stretch>
            <a:fillRect/>
          </a:stretch>
        </p:blipFill>
        <p:spPr>
          <a:xfrm>
            <a:off x="6277356" y="3214116"/>
            <a:ext cx="210312" cy="210312"/>
          </a:xfrm>
          <a:prstGeom prst="rect">
            <a:avLst/>
          </a:prstGeom>
        </p:spPr>
      </p:pic>
      <p:sp>
        <p:nvSpPr>
          <p:cNvPr id="31" name="Judul Tampilan aman"/>
          <p:cNvSpPr txBox="1"/>
          <p:nvPr/>
        </p:nvSpPr>
        <p:spPr>
          <a:xfrm>
            <a:off x="6693408" y="3108960"/>
            <a:ext cx="1828800" cy="420624"/>
          </a:xfrm>
          <a:prstGeom prst="rect">
            <a:avLst/>
          </a:prstGeom>
          <a:noFill/>
        </p:spPr>
        <p:txBody>
          <a:bodyPr wrap="square" lIns="0" tIns="0" rIns="0" bIns="0" rtlCol="0" anchor="ctr"/>
          <a:lstStyle/>
          <a:p>
            <a:pPr marL="0" indent="0">
              <a:buNone/>
            </a:pPr>
            <a:r>
              <a:rPr lang="en-US" sz="1400" b="1" dirty="0">
                <a:solidFill>
                  <a:schemeClr val="tx2"/>
                </a:solidFill>
              </a:rPr>
              <a:t>Tampilan aman</a:t>
            </a:r>
            <a:endParaRPr lang="en-US" sz="1400" dirty="0"/>
          </a:p>
        </p:txBody>
      </p:sp>
      <p:sp>
        <p:nvSpPr>
          <p:cNvPr id="32" name="Isi Tampilan aman"/>
          <p:cNvSpPr txBox="1"/>
          <p:nvPr/>
        </p:nvSpPr>
        <p:spPr>
          <a:xfrm>
            <a:off x="6172200" y="3630168"/>
            <a:ext cx="2286000" cy="822960"/>
          </a:xfrm>
          <a:prstGeom prst="rect">
            <a:avLst/>
          </a:prstGeom>
          <a:noFill/>
        </p:spPr>
        <p:txBody>
          <a:bodyPr wrap="square" lIns="0" tIns="0" rIns="0" bIns="0" rtlCol="0" anchor="t"/>
          <a:lstStyle/>
          <a:p>
            <a:pPr marL="0" indent="0">
              <a:buNone/>
            </a:pPr>
            <a:r>
              <a:rPr lang="en-US" sz="1300" dirty="0">
                <a:solidFill>
                  <a:schemeClr val="tx1"/>
                </a:solidFill>
              </a:rPr>
              <a:t>FittedBox, ellipsis, dan Wrap mencegah teks meluber di layar kecil.</a:t>
            </a:r>
            <a:endParaRPr lang="en-US" sz="1300" dirty="0"/>
          </a:p>
        </p:txBody>
      </p:sp>
      <p:sp>
        <p:nvSpPr>
          <p:cNvPr id="33"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8046720" cy="731520"/>
          </a:xfrm>
          <a:prstGeom prst="rect">
            <a:avLst/>
          </a:prstGeom>
          <a:noFill/>
        </p:spPr>
        <p:txBody>
          <a:bodyPr wrap="square" lIns="0" tIns="0" rIns="0" bIns="0" rtlCol="0" anchor="ctr"/>
          <a:lstStyle/>
          <a:p>
            <a:pPr marL="0" indent="0" algn="l">
              <a:buNone/>
            </a:pPr>
            <a:r>
              <a:rPr lang="en-US" sz="3400" b="1" dirty="0">
                <a:solidFill>
                  <a:schemeClr val="tx2"/>
                </a:solidFill>
              </a:rPr>
              <a:t>Cara Menjalankan</a:t>
            </a:r>
            <a:endParaRPr lang="en-US" sz="3400" dirty="0"/>
          </a:p>
        </p:txBody>
      </p:sp>
      <p:sp>
        <p:nvSpPr>
          <p:cNvPr id="3" name="Nomor langkah 1"/>
          <p:cNvSpPr/>
          <p:nvPr/>
        </p:nvSpPr>
        <p:spPr>
          <a:xfrm>
            <a:off x="548640" y="1316736"/>
            <a:ext cx="420624" cy="420624"/>
          </a:xfrm>
          <a:prstGeom prst="ellipse">
            <a:avLst/>
          </a:prstGeom>
          <a:solidFill>
            <a:schemeClr val="accent1"/>
          </a:solidFill>
          <a:ln w="6350">
            <a:solidFill>
              <a:schemeClr val="accent1"/>
            </a:solidFill>
            <a:prstDash val="solid"/>
          </a:ln>
        </p:spPr>
      </p:sp>
      <p:sp>
        <p:nvSpPr>
          <p:cNvPr id="4" name="Angka langkah 1"/>
          <p:cNvSpPr txBox="1"/>
          <p:nvPr/>
        </p:nvSpPr>
        <p:spPr>
          <a:xfrm>
            <a:off x="548640" y="1316736"/>
            <a:ext cx="420624" cy="420624"/>
          </a:xfrm>
          <a:prstGeom prst="rect">
            <a:avLst/>
          </a:prstGeom>
          <a:noFill/>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Langkah 1"/>
          <p:cNvSpPr txBox="1"/>
          <p:nvPr/>
        </p:nvSpPr>
        <p:spPr>
          <a:xfrm>
            <a:off x="1188720" y="1316736"/>
            <a:ext cx="3200400" cy="420624"/>
          </a:xfrm>
          <a:prstGeom prst="rect">
            <a:avLst/>
          </a:prstGeom>
          <a:noFill/>
        </p:spPr>
        <p:txBody>
          <a:bodyPr wrap="square" lIns="0" tIns="0" rIns="0" bIns="0" rtlCol="0" anchor="ctr"/>
          <a:lstStyle/>
          <a:p>
            <a:pPr marL="0" indent="0">
              <a:buNone/>
            </a:pPr>
            <a:r>
              <a:rPr lang="en-US" sz="1600" b="1" dirty="0">
                <a:solidFill>
                  <a:schemeClr val="tx2"/>
                </a:solidFill>
              </a:rPr>
              <a:t>Buat proyek baru</a:t>
            </a:r>
            <a:endParaRPr lang="en-US" sz="1600" dirty="0"/>
          </a:p>
        </p:txBody>
      </p:sp>
      <p:sp>
        <p:nvSpPr>
          <p:cNvPr id="6" name="Latar perintah 1"/>
          <p:cNvSpPr/>
          <p:nvPr/>
        </p:nvSpPr>
        <p:spPr>
          <a:xfrm>
            <a:off x="4572000" y="1280160"/>
            <a:ext cx="4023360" cy="493776"/>
          </a:xfrm>
          <a:prstGeom prst="roundRect">
            <a:avLst>
              <a:gd name="adj" fmla="val 18519"/>
            </a:avLst>
          </a:prstGeom>
          <a:solidFill>
            <a:schemeClr val="tx2"/>
          </a:solidFill>
          <a:ln w="6350">
            <a:solidFill>
              <a:schemeClr val="tx2"/>
            </a:solidFill>
            <a:prstDash val="solid"/>
          </a:ln>
        </p:spPr>
      </p:sp>
      <p:sp>
        <p:nvSpPr>
          <p:cNvPr id="7" name="Perintah 1"/>
          <p:cNvSpPr txBox="1"/>
          <p:nvPr/>
        </p:nvSpPr>
        <p:spPr>
          <a:xfrm>
            <a:off x="4754880" y="1280160"/>
            <a:ext cx="3657600" cy="493776"/>
          </a:xfrm>
          <a:prstGeom prst="rect">
            <a:avLst/>
          </a:prstGeom>
          <a:noFill/>
        </p:spPr>
        <p:txBody>
          <a:bodyPr wrap="square" lIns="0" tIns="0" rIns="0" bIns="0" rtlCol="0" anchor="ctr"/>
          <a:lstStyle/>
          <a:p>
            <a:pPr marL="0" indent="0">
              <a:buNone/>
            </a:pPr>
            <a:r>
              <a:rPr lang="en-US" sz="12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flutter create sabarin</a:t>
            </a:r>
            <a:endParaRPr lang="en-US" sz="1200" dirty="0"/>
          </a:p>
        </p:txBody>
      </p:sp>
      <p:sp>
        <p:nvSpPr>
          <p:cNvPr id="8" name="Nomor langkah 2"/>
          <p:cNvSpPr/>
          <p:nvPr/>
        </p:nvSpPr>
        <p:spPr>
          <a:xfrm>
            <a:off x="548640" y="2139696"/>
            <a:ext cx="420624" cy="420624"/>
          </a:xfrm>
          <a:prstGeom prst="ellipse">
            <a:avLst/>
          </a:prstGeom>
          <a:solidFill>
            <a:schemeClr val="accent1"/>
          </a:solidFill>
          <a:ln w="6350">
            <a:solidFill>
              <a:schemeClr val="accent1"/>
            </a:solidFill>
            <a:prstDash val="solid"/>
          </a:ln>
        </p:spPr>
      </p:sp>
      <p:sp>
        <p:nvSpPr>
          <p:cNvPr id="9" name="Angka langkah 2"/>
          <p:cNvSpPr txBox="1"/>
          <p:nvPr/>
        </p:nvSpPr>
        <p:spPr>
          <a:xfrm>
            <a:off x="548640" y="2139696"/>
            <a:ext cx="420624" cy="420624"/>
          </a:xfrm>
          <a:prstGeom prst="rect">
            <a:avLst/>
          </a:prstGeom>
          <a:noFill/>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Langkah 2"/>
          <p:cNvSpPr txBox="1"/>
          <p:nvPr/>
        </p:nvSpPr>
        <p:spPr>
          <a:xfrm>
            <a:off x="1188720" y="2139696"/>
            <a:ext cx="3200400" cy="420624"/>
          </a:xfrm>
          <a:prstGeom prst="rect">
            <a:avLst/>
          </a:prstGeom>
          <a:noFill/>
        </p:spPr>
        <p:txBody>
          <a:bodyPr wrap="square" lIns="0" tIns="0" rIns="0" bIns="0" rtlCol="0" anchor="ctr"/>
          <a:lstStyle/>
          <a:p>
            <a:pPr marL="0" indent="0">
              <a:buNone/>
            </a:pPr>
            <a:r>
              <a:rPr lang="en-US" sz="1600" b="1" dirty="0">
                <a:solidFill>
                  <a:schemeClr val="tx2"/>
                </a:solidFill>
              </a:rPr>
              <a:t>Tambah paket flutter_bloc</a:t>
            </a:r>
            <a:endParaRPr lang="en-US" sz="1600" dirty="0"/>
          </a:p>
        </p:txBody>
      </p:sp>
      <p:sp>
        <p:nvSpPr>
          <p:cNvPr id="11" name="Latar perintah 2"/>
          <p:cNvSpPr/>
          <p:nvPr/>
        </p:nvSpPr>
        <p:spPr>
          <a:xfrm>
            <a:off x="4572000" y="2103120"/>
            <a:ext cx="4023360" cy="493776"/>
          </a:xfrm>
          <a:prstGeom prst="roundRect">
            <a:avLst>
              <a:gd name="adj" fmla="val 18519"/>
            </a:avLst>
          </a:prstGeom>
          <a:solidFill>
            <a:schemeClr val="tx2"/>
          </a:solidFill>
          <a:ln w="6350">
            <a:solidFill>
              <a:schemeClr val="tx2"/>
            </a:solidFill>
            <a:prstDash val="solid"/>
          </a:ln>
        </p:spPr>
      </p:sp>
      <p:sp>
        <p:nvSpPr>
          <p:cNvPr id="12" name="Perintah 2"/>
          <p:cNvSpPr txBox="1"/>
          <p:nvPr/>
        </p:nvSpPr>
        <p:spPr>
          <a:xfrm>
            <a:off x="4754880" y="2103120"/>
            <a:ext cx="3657600" cy="493776"/>
          </a:xfrm>
          <a:prstGeom prst="rect">
            <a:avLst/>
          </a:prstGeom>
          <a:noFill/>
        </p:spPr>
        <p:txBody>
          <a:bodyPr wrap="square" lIns="0" tIns="0" rIns="0" bIns="0" rtlCol="0" anchor="ctr"/>
          <a:lstStyle/>
          <a:p>
            <a:pPr marL="0" indent="0">
              <a:buNone/>
            </a:pPr>
            <a:r>
              <a:rPr lang="en-US" sz="12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flutter pub add flutter_bloc</a:t>
            </a:r>
            <a:endParaRPr lang="en-US" sz="1200" dirty="0"/>
          </a:p>
        </p:txBody>
      </p:sp>
      <p:sp>
        <p:nvSpPr>
          <p:cNvPr id="13" name="Nomor langkah 3"/>
          <p:cNvSpPr/>
          <p:nvPr/>
        </p:nvSpPr>
        <p:spPr>
          <a:xfrm>
            <a:off x="548640" y="2962656"/>
            <a:ext cx="420624" cy="420624"/>
          </a:xfrm>
          <a:prstGeom prst="ellipse">
            <a:avLst/>
          </a:prstGeom>
          <a:solidFill>
            <a:schemeClr val="accent1"/>
          </a:solidFill>
          <a:ln w="6350">
            <a:solidFill>
              <a:schemeClr val="accent1"/>
            </a:solidFill>
            <a:prstDash val="solid"/>
          </a:ln>
        </p:spPr>
      </p:sp>
      <p:sp>
        <p:nvSpPr>
          <p:cNvPr id="14" name="Angka langkah 3"/>
          <p:cNvSpPr txBox="1"/>
          <p:nvPr/>
        </p:nvSpPr>
        <p:spPr>
          <a:xfrm>
            <a:off x="548640" y="2962656"/>
            <a:ext cx="420624" cy="420624"/>
          </a:xfrm>
          <a:prstGeom prst="rect">
            <a:avLst/>
          </a:prstGeom>
          <a:noFill/>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Langkah 3"/>
          <p:cNvSpPr txBox="1"/>
          <p:nvPr/>
        </p:nvSpPr>
        <p:spPr>
          <a:xfrm>
            <a:off x="1188720" y="2962656"/>
            <a:ext cx="3200400" cy="420624"/>
          </a:xfrm>
          <a:prstGeom prst="rect">
            <a:avLst/>
          </a:prstGeom>
          <a:noFill/>
        </p:spPr>
        <p:txBody>
          <a:bodyPr wrap="square" lIns="0" tIns="0" rIns="0" bIns="0" rtlCol="0" anchor="ctr"/>
          <a:lstStyle/>
          <a:p>
            <a:pPr marL="0" indent="0">
              <a:buNone/>
            </a:pPr>
            <a:r>
              <a:rPr lang="en-US" sz="1600" b="1" dirty="0">
                <a:solidFill>
                  <a:schemeClr val="tx2"/>
                </a:solidFill>
              </a:rPr>
              <a:t>Salin folder lib</a:t>
            </a:r>
            <a:endParaRPr lang="en-US" sz="1600" dirty="0"/>
          </a:p>
        </p:txBody>
      </p:sp>
      <p:sp>
        <p:nvSpPr>
          <p:cNvPr id="16" name="Latar perintah 3"/>
          <p:cNvSpPr/>
          <p:nvPr/>
        </p:nvSpPr>
        <p:spPr>
          <a:xfrm>
            <a:off x="4572000" y="2926080"/>
            <a:ext cx="4023360" cy="493776"/>
          </a:xfrm>
          <a:prstGeom prst="roundRect">
            <a:avLst>
              <a:gd name="adj" fmla="val 18519"/>
            </a:avLst>
          </a:prstGeom>
          <a:solidFill>
            <a:schemeClr val="tx2"/>
          </a:solidFill>
          <a:ln w="6350">
            <a:solidFill>
              <a:schemeClr val="tx2"/>
            </a:solidFill>
            <a:prstDash val="solid"/>
          </a:ln>
        </p:spPr>
      </p:sp>
      <p:sp>
        <p:nvSpPr>
          <p:cNvPr id="17" name="Perintah 3"/>
          <p:cNvSpPr txBox="1"/>
          <p:nvPr/>
        </p:nvSpPr>
        <p:spPr>
          <a:xfrm>
            <a:off x="4754880" y="2926080"/>
            <a:ext cx="3657600" cy="493776"/>
          </a:xfrm>
          <a:prstGeom prst="rect">
            <a:avLst/>
          </a:prstGeom>
          <a:noFill/>
        </p:spPr>
        <p:txBody>
          <a:bodyPr wrap="square" lIns="0" tIns="0" rIns="0" bIns="0" rtlCol="0" anchor="ctr"/>
          <a:lstStyle/>
          <a:p>
            <a:pPr marL="0" indent="0">
              <a:buNone/>
            </a:pPr>
            <a:r>
              <a:rPr lang="en-US" sz="12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(tempel isi folder lib/)</a:t>
            </a:r>
            <a:endParaRPr lang="en-US" sz="1200" dirty="0"/>
          </a:p>
        </p:txBody>
      </p:sp>
      <p:sp>
        <p:nvSpPr>
          <p:cNvPr id="18" name="Nomor langkah 4"/>
          <p:cNvSpPr/>
          <p:nvPr/>
        </p:nvSpPr>
        <p:spPr>
          <a:xfrm>
            <a:off x="548640" y="3785616"/>
            <a:ext cx="420624" cy="420624"/>
          </a:xfrm>
          <a:prstGeom prst="ellipse">
            <a:avLst/>
          </a:prstGeom>
          <a:solidFill>
            <a:schemeClr val="accent1"/>
          </a:solidFill>
          <a:ln w="6350">
            <a:solidFill>
              <a:schemeClr val="accent1"/>
            </a:solidFill>
            <a:prstDash val="solid"/>
          </a:ln>
        </p:spPr>
      </p:sp>
      <p:sp>
        <p:nvSpPr>
          <p:cNvPr id="19" name="Angka langkah 4"/>
          <p:cNvSpPr txBox="1"/>
          <p:nvPr/>
        </p:nvSpPr>
        <p:spPr>
          <a:xfrm>
            <a:off x="548640" y="3785616"/>
            <a:ext cx="420624" cy="420624"/>
          </a:xfrm>
          <a:prstGeom prst="rect">
            <a:avLst/>
          </a:prstGeom>
          <a:noFill/>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0" name="Langkah 4"/>
          <p:cNvSpPr txBox="1"/>
          <p:nvPr/>
        </p:nvSpPr>
        <p:spPr>
          <a:xfrm>
            <a:off x="1188720" y="3785616"/>
            <a:ext cx="3200400" cy="420624"/>
          </a:xfrm>
          <a:prstGeom prst="rect">
            <a:avLst/>
          </a:prstGeom>
          <a:noFill/>
        </p:spPr>
        <p:txBody>
          <a:bodyPr wrap="square" lIns="0" tIns="0" rIns="0" bIns="0" rtlCol="0" anchor="ctr"/>
          <a:lstStyle/>
          <a:p>
            <a:pPr marL="0" indent="0">
              <a:buNone/>
            </a:pPr>
            <a:r>
              <a:rPr lang="en-US" sz="1600" b="1" dirty="0">
                <a:solidFill>
                  <a:schemeClr val="tx2"/>
                </a:solidFill>
              </a:rPr>
              <a:t>Jalankan aplikasi</a:t>
            </a:r>
            <a:endParaRPr lang="en-US" sz="1600" dirty="0"/>
          </a:p>
        </p:txBody>
      </p:sp>
      <p:sp>
        <p:nvSpPr>
          <p:cNvPr id="21" name="Latar perintah 4"/>
          <p:cNvSpPr/>
          <p:nvPr/>
        </p:nvSpPr>
        <p:spPr>
          <a:xfrm>
            <a:off x="4572000" y="3749040"/>
            <a:ext cx="4023360" cy="493776"/>
          </a:xfrm>
          <a:prstGeom prst="roundRect">
            <a:avLst>
              <a:gd name="adj" fmla="val 18519"/>
            </a:avLst>
          </a:prstGeom>
          <a:solidFill>
            <a:schemeClr val="tx2"/>
          </a:solidFill>
          <a:ln w="6350">
            <a:solidFill>
              <a:schemeClr val="tx2"/>
            </a:solidFill>
            <a:prstDash val="solid"/>
          </a:ln>
        </p:spPr>
      </p:sp>
      <p:sp>
        <p:nvSpPr>
          <p:cNvPr id="22" name="Perintah 4"/>
          <p:cNvSpPr txBox="1"/>
          <p:nvPr/>
        </p:nvSpPr>
        <p:spPr>
          <a:xfrm>
            <a:off x="4754880" y="3749040"/>
            <a:ext cx="3657600" cy="493776"/>
          </a:xfrm>
          <a:prstGeom prst="rect">
            <a:avLst/>
          </a:prstGeom>
          <a:noFill/>
        </p:spPr>
        <p:txBody>
          <a:bodyPr wrap="square" lIns="0" tIns="0" rIns="0" bIns="0" rtlCol="0" anchor="ctr"/>
          <a:lstStyle/>
          <a:p>
            <a:pPr marL="0" indent="0">
              <a:buNone/>
            </a:pPr>
            <a:r>
              <a:rPr lang="en-US" sz="1200" dirty="0">
                <a:solidFill>
                  <a:schemeClr val="bg2"/>
                </a:solidFill>
                <a:latin typeface="Courier New" panose="02070309020205020404" pitchFamily="34" charset="0"/>
                <a:ea typeface="Courier New" panose="02070309020205020404" pitchFamily="34" charset="-122"/>
                <a:cs typeface="Courier New" panose="02070309020205020404" pitchFamily="34" charset="-120"/>
              </a:rPr>
              <a:t>flutter run -d chrome</a:t>
            </a:r>
            <a:endParaRPr lang="en-US" sz="1200" dirty="0"/>
          </a:p>
        </p:txBody>
      </p:sp>
      <p:sp>
        <p:nvSpPr>
          <p:cNvPr id="23" name="Catatan pubspec"/>
          <p:cNvSpPr txBox="1"/>
          <p:nvPr/>
        </p:nvSpPr>
        <p:spPr>
          <a:xfrm>
            <a:off x="548640" y="4434840"/>
            <a:ext cx="8046720" cy="274320"/>
          </a:xfrm>
          <a:prstGeom prst="rect">
            <a:avLst/>
          </a:prstGeom>
          <a:noFill/>
        </p:spPr>
        <p:txBody>
          <a:bodyPr wrap="square" lIns="0" tIns="0" rIns="0" bIns="0" rtlCol="0" anchor="t"/>
          <a:lstStyle/>
          <a:p>
            <a:pPr marL="0" indent="0">
              <a:buNone/>
            </a:pPr>
            <a:r>
              <a:rPr lang="en-US" sz="1200" i="1" dirty="0">
                <a:solidFill>
                  <a:srgbClr val="5E7F7B"/>
                </a:solidFill>
              </a:rPr>
              <a:t>Pastikan pubspec.yaml memuat flutter_bloc di bagian dependencies, lalu jalankan flutter pub get.</a:t>
            </a:r>
            <a:endParaRPr lang="en-US" sz="1200" dirty="0"/>
          </a:p>
        </p:txBody>
      </p:sp>
      <p:sp>
        <p:nvSpPr>
          <p:cNvPr id="25" name="Slide Number Placeholder 0"/>
          <p:cNvSpPr>
            <a:spLocks noGrp="1"/>
          </p:cNvSpPr>
          <p:nvPr>
            <p:ph type="sldNum" sz="quarter" idx="4294967295"/>
          </p:nvPr>
        </p:nvSpPr>
        <p:spPr>
          <a:xfrm>
            <a:off x="8138160" y="4754880"/>
            <a:ext cx="457200" cy="228600"/>
          </a:xfrm>
          <a:prstGeom prst="rect">
            <a:avLst/>
          </a:prstGeom>
        </p:spPr>
        <p:txBody>
          <a:bodyPr/>
          <a:lstStyle>
            <a:lvl1pPr>
              <a:defRPr sz="1000">
                <a:solidFill>
                  <a:srgbClr val="5E7F7B"/>
                </a:solidFill>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7863840" cy="731520"/>
          </a:xfrm>
          <a:prstGeom prst="rect">
            <a:avLst/>
          </a:prstGeom>
          <a:noFill/>
        </p:spPr>
        <p:txBody>
          <a:bodyPr wrap="square" lIns="0" tIns="0" rIns="0" bIns="0" rtlCol="0" anchor="ctr"/>
          <a:lstStyle/>
          <a:p>
            <a:pPr marL="0" indent="0" algn="l">
              <a:buNone/>
            </a:pPr>
            <a:r>
              <a:rPr lang="en-US" sz="3800" b="1" dirty="0">
                <a:solidFill>
                  <a:schemeClr val="bg1"/>
                </a:solidFill>
              </a:rPr>
              <a:t>Kesimpulan</a:t>
            </a:r>
            <a:endParaRPr lang="en-US" sz="3800" dirty="0"/>
          </a:p>
        </p:txBody>
      </p:sp>
      <p:sp>
        <p:nvSpPr>
          <p:cNvPr id="3" name="Ikon kesimpulan 1 (latar)"/>
          <p:cNvSpPr/>
          <p:nvPr/>
        </p:nvSpPr>
        <p:spPr>
          <a:xfrm>
            <a:off x="640080" y="1417320"/>
            <a:ext cx="548640" cy="548640"/>
          </a:xfrm>
          <a:prstGeom prst="ellipse">
            <a:avLst/>
          </a:prstGeom>
          <a:solidFill>
            <a:schemeClr val="accent1"/>
          </a:solidFill>
          <a:ln w="6350">
            <a:solidFill>
              <a:schemeClr val="accent1"/>
            </a:solidFill>
            <a:prstDash val="solid"/>
          </a:ln>
        </p:spPr>
      </p:sp>
      <p:pic>
        <p:nvPicPr>
          <p:cNvPr id="4" name="Ikon kesimpulan 1" descr="Ikon kesimpulan 1"/>
          <p:cNvPicPr>
            <a:picLocks noChangeAspect="1"/>
          </p:cNvPicPr>
          <p:nvPr/>
        </p:nvPicPr>
        <p:blipFill>
          <a:blip r:embed="rId1"/>
          <a:stretch>
            <a:fillRect/>
          </a:stretch>
        </p:blipFill>
        <p:spPr>
          <a:xfrm>
            <a:off x="777240" y="1554480"/>
            <a:ext cx="274320" cy="274320"/>
          </a:xfrm>
          <a:prstGeom prst="rect">
            <a:avLst/>
          </a:prstGeom>
        </p:spPr>
      </p:pic>
      <p:sp>
        <p:nvSpPr>
          <p:cNvPr id="5" name="Poin 1"/>
          <p:cNvSpPr txBox="1"/>
          <p:nvPr/>
        </p:nvSpPr>
        <p:spPr>
          <a:xfrm>
            <a:off x="1417320" y="1371600"/>
            <a:ext cx="6949440" cy="640080"/>
          </a:xfrm>
          <a:prstGeom prst="rect">
            <a:avLst/>
          </a:prstGeom>
          <a:noFill/>
        </p:spPr>
        <p:txBody>
          <a:bodyPr wrap="square" lIns="0" tIns="0" rIns="0" bIns="0" rtlCol="0" anchor="ctr"/>
          <a:lstStyle/>
          <a:p>
            <a:pPr marL="0" indent="0">
              <a:buNone/>
            </a:pPr>
            <a:r>
              <a:rPr lang="en-US" sz="1600" dirty="0">
                <a:solidFill>
                  <a:schemeClr val="bg1"/>
                </a:solidFill>
              </a:rPr>
              <a:t>Cubit memisahkan logika antrian dan tema dari tampilan, sehingga kode lebih rapi dan mudah diuji.</a:t>
            </a:r>
            <a:endParaRPr lang="en-US" sz="1600" dirty="0"/>
          </a:p>
        </p:txBody>
      </p:sp>
      <p:sp>
        <p:nvSpPr>
          <p:cNvPr id="6" name="Ikon kesimpulan 2 (latar)"/>
          <p:cNvSpPr/>
          <p:nvPr/>
        </p:nvSpPr>
        <p:spPr>
          <a:xfrm>
            <a:off x="640080" y="2286000"/>
            <a:ext cx="548640" cy="548640"/>
          </a:xfrm>
          <a:prstGeom prst="ellipse">
            <a:avLst/>
          </a:prstGeom>
          <a:solidFill>
            <a:schemeClr val="accent3"/>
          </a:solidFill>
          <a:ln w="6350">
            <a:solidFill>
              <a:schemeClr val="accent3"/>
            </a:solidFill>
            <a:prstDash val="solid"/>
          </a:ln>
        </p:spPr>
      </p:sp>
      <p:pic>
        <p:nvPicPr>
          <p:cNvPr id="7" name="Ikon kesimpulan 2" descr="Ikon kesimpulan 2"/>
          <p:cNvPicPr>
            <a:picLocks noChangeAspect="1"/>
          </p:cNvPicPr>
          <p:nvPr/>
        </p:nvPicPr>
        <p:blipFill>
          <a:blip r:embed="rId2"/>
          <a:stretch>
            <a:fillRect/>
          </a:stretch>
        </p:blipFill>
        <p:spPr>
          <a:xfrm>
            <a:off x="777240" y="2423160"/>
            <a:ext cx="274320" cy="274320"/>
          </a:xfrm>
          <a:prstGeom prst="rect">
            <a:avLst/>
          </a:prstGeom>
        </p:spPr>
      </p:pic>
      <p:sp>
        <p:nvSpPr>
          <p:cNvPr id="8" name="Poin 2"/>
          <p:cNvSpPr txBox="1"/>
          <p:nvPr/>
        </p:nvSpPr>
        <p:spPr>
          <a:xfrm>
            <a:off x="1417320" y="2240280"/>
            <a:ext cx="6949440" cy="640080"/>
          </a:xfrm>
          <a:prstGeom prst="rect">
            <a:avLst/>
          </a:prstGeom>
          <a:noFill/>
        </p:spPr>
        <p:txBody>
          <a:bodyPr wrap="square" lIns="0" tIns="0" rIns="0" bIns="0" rtlCol="0" anchor="ctr"/>
          <a:lstStyle/>
          <a:p>
            <a:pPr marL="0" indent="0">
              <a:buNone/>
            </a:pPr>
            <a:r>
              <a:rPr lang="en-US" sz="1600" dirty="0">
                <a:solidFill>
                  <a:schemeClr val="bg1"/>
                </a:solidFill>
              </a:rPr>
              <a:t>Enam halaman bergaya Soft Neo-Brutalism, mode gelap, dan 8 warna dinamis membuat aplikasi lengkap, nyaman dipakai, dan mudah disesuaikan.</a:t>
            </a:r>
            <a:endParaRPr lang="en-US" sz="1600" dirty="0"/>
          </a:p>
        </p:txBody>
      </p:sp>
      <p:sp>
        <p:nvSpPr>
          <p:cNvPr id="9" name="Ikon kesimpulan 3 (latar)"/>
          <p:cNvSpPr/>
          <p:nvPr/>
        </p:nvSpPr>
        <p:spPr>
          <a:xfrm>
            <a:off x="640080" y="3154680"/>
            <a:ext cx="548640" cy="548640"/>
          </a:xfrm>
          <a:prstGeom prst="ellipse">
            <a:avLst/>
          </a:prstGeom>
          <a:solidFill>
            <a:schemeClr val="accent6"/>
          </a:solidFill>
          <a:ln w="6350">
            <a:solidFill>
              <a:schemeClr val="accent6"/>
            </a:solidFill>
            <a:prstDash val="solid"/>
          </a:ln>
        </p:spPr>
      </p:sp>
      <p:pic>
        <p:nvPicPr>
          <p:cNvPr id="10" name="Ikon kesimpulan 3" descr="Ikon kesimpulan 3"/>
          <p:cNvPicPr>
            <a:picLocks noChangeAspect="1"/>
          </p:cNvPicPr>
          <p:nvPr/>
        </p:nvPicPr>
        <p:blipFill>
          <a:blip r:embed="rId3"/>
          <a:stretch>
            <a:fillRect/>
          </a:stretch>
        </p:blipFill>
        <p:spPr>
          <a:xfrm>
            <a:off x="777240" y="3291840"/>
            <a:ext cx="274320" cy="274320"/>
          </a:xfrm>
          <a:prstGeom prst="rect">
            <a:avLst/>
          </a:prstGeom>
        </p:spPr>
      </p:pic>
      <p:sp>
        <p:nvSpPr>
          <p:cNvPr id="11" name="Poin 3"/>
          <p:cNvSpPr txBox="1"/>
          <p:nvPr/>
        </p:nvSpPr>
        <p:spPr>
          <a:xfrm>
            <a:off x="1417320" y="3108960"/>
            <a:ext cx="6949440" cy="640080"/>
          </a:xfrm>
          <a:prstGeom prst="rect">
            <a:avLst/>
          </a:prstGeom>
          <a:noFill/>
        </p:spPr>
        <p:txBody>
          <a:bodyPr wrap="square" lIns="0" tIns="0" rIns="0" bIns="0" rtlCol="0" anchor="ctr"/>
          <a:lstStyle/>
          <a:p>
            <a:pPr marL="0" indent="0">
              <a:buNone/>
            </a:pPr>
            <a:r>
              <a:rPr lang="en-US" sz="1600" dirty="0">
                <a:solidFill>
                  <a:schemeClr val="bg1"/>
                </a:solidFill>
              </a:rPr>
              <a:t>Penanganan error berlapis menjaga aplikasi tetap berjalan saat ada aksi atau data yang tidak wajar.</a:t>
            </a:r>
            <a:endParaRPr lang="en-US" sz="1600" dirty="0"/>
          </a:p>
        </p:txBody>
      </p:sp>
      <p:sp>
        <p:nvSpPr>
          <p:cNvPr id="12" name="Ucapan terima kasih"/>
          <p:cNvSpPr txBox="1"/>
          <p:nvPr/>
        </p:nvSpPr>
        <p:spPr>
          <a:xfrm>
            <a:off x="640080" y="4069080"/>
            <a:ext cx="4572000" cy="548640"/>
          </a:xfrm>
          <a:prstGeom prst="rect">
            <a:avLst/>
          </a:prstGeom>
          <a:noFill/>
        </p:spPr>
        <p:txBody>
          <a:bodyPr wrap="square" lIns="0" tIns="0" rIns="0" bIns="0" rtlCol="0" anchor="t"/>
          <a:lstStyle/>
          <a:p>
            <a:pPr marL="0" indent="0">
              <a:buNone/>
            </a:pPr>
            <a:r>
              <a:rPr lang="en-US" sz="32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Terima kasih</a:t>
            </a:r>
            <a:endParaRPr lang="en-US" sz="3200" dirty="0"/>
          </a:p>
        </p:txBody>
      </p:sp>
      <p:sp>
        <p:nvSpPr>
          <p:cNvPr id="13" name="Slogan"/>
          <p:cNvSpPr txBox="1"/>
          <p:nvPr/>
        </p:nvSpPr>
        <p:spPr>
          <a:xfrm>
            <a:off x="640080" y="4572000"/>
            <a:ext cx="4572000" cy="274320"/>
          </a:xfrm>
          <a:prstGeom prst="rect">
            <a:avLst/>
          </a:prstGeom>
          <a:noFill/>
        </p:spPr>
        <p:txBody>
          <a:bodyPr wrap="square" lIns="0" tIns="0" rIns="0" bIns="0" rtlCol="0" anchor="t"/>
          <a:lstStyle/>
          <a:p>
            <a:pPr marL="0" indent="0">
              <a:buNone/>
            </a:pPr>
            <a:r>
              <a:rPr lang="en-US" sz="1400" dirty="0">
                <a:solidFill>
                  <a:schemeClr val="bg2"/>
                </a:solidFill>
              </a:rPr>
              <a:t>Sabarin: antri tenang, layani cepat.</a:t>
            </a:r>
            <a:endParaRPr lang="en-US" sz="1400" dirty="0"/>
          </a:p>
        </p:txBody>
      </p:sp>
      <p:pic>
        <p:nvPicPr>
          <p:cNvPr id="14" name="Logo penutup" descr="Logo Sabarin"/>
          <p:cNvPicPr>
            <a:picLocks noChangeAspect="1"/>
          </p:cNvPicPr>
          <p:nvPr/>
        </p:nvPicPr>
        <p:blipFill>
          <a:blip r:embed="rId4"/>
          <a:stretch>
            <a:fillRect/>
          </a:stretch>
        </p:blipFill>
        <p:spPr>
          <a:xfrm>
            <a:off x="7589520" y="3886200"/>
            <a:ext cx="914400" cy="914400"/>
          </a:xfrm>
          <a:prstGeom prst="rect">
            <a:avLst/>
          </a:prstGeom>
        </p:spPr>
      </p:pic>
    </p:spTree>
  </p:cSld>
  <p:clrMapOvr>
    <a:masterClrMapping/>
  </p:clrMapOvr>
</p:sld>
</file>

<file path=ppt/theme/theme1.xml><?xml version="1.0" encoding="utf-8"?>
<a:theme xmlns:a="http://schemas.openxmlformats.org/drawingml/2006/main" name="Sabarin">
  <a:themeElements>
    <a:clrScheme name="Sabarin">
      <a:dk1>
        <a:srgbClr val="12312F"/>
      </a:dk1>
      <a:lt1>
        <a:srgbClr val="FFFFFF"/>
      </a:lt1>
      <a:dk2>
        <a:srgbClr val="0B4F4A"/>
      </a:dk2>
      <a:lt2>
        <a:srgbClr val="E9F6F4"/>
      </a:lt2>
      <a:accent1>
        <a:srgbClr val="0A8A82"/>
      </a:accent1>
      <a:accent2>
        <a:srgbClr val="F2A93B"/>
      </a:accent2>
      <a:accent3>
        <a:srgbClr val="2F7F9E"/>
      </a:accent3>
      <a:accent4>
        <a:srgbClr val="7E57C2"/>
      </a:accent4>
      <a:accent5>
        <a:srgbClr val="E53935"/>
      </a:accent5>
      <a:accent6>
        <a:srgbClr val="2E9E5B"/>
      </a:accent6>
      <a:hlink>
        <a:srgbClr val="0A8A82"/>
      </a:hlink>
      <a:folHlink>
        <a:srgbClr val="7E57C2"/>
      </a:folHlink>
    </a:clrScheme>
    <a:fontScheme name="Sabar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barin">
  <a:themeElements>
    <a:clrScheme name="Sabarin">
      <a:dk1>
        <a:srgbClr val="12312F"/>
      </a:dk1>
      <a:lt1>
        <a:srgbClr val="FFFFFF"/>
      </a:lt1>
      <a:dk2>
        <a:srgbClr val="0B4F4A"/>
      </a:dk2>
      <a:lt2>
        <a:srgbClr val="E9F6F4"/>
      </a:lt2>
      <a:accent1>
        <a:srgbClr val="0A8A82"/>
      </a:accent1>
      <a:accent2>
        <a:srgbClr val="F2A93B"/>
      </a:accent2>
      <a:accent3>
        <a:srgbClr val="2F7F9E"/>
      </a:accent3>
      <a:accent4>
        <a:srgbClr val="7E57C2"/>
      </a:accent4>
      <a:accent5>
        <a:srgbClr val="E53935"/>
      </a:accent5>
      <a:accent6>
        <a:srgbClr val="2E9E5B"/>
      </a:accent6>
      <a:hlink>
        <a:srgbClr val="0A8A82"/>
      </a:hlink>
      <a:folHlink>
        <a:srgbClr val="7E57C2"/>
      </a:folHlink>
    </a:clrScheme>
    <a:fontScheme name="Sabar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7787</Words>
  <Application>WPS Presentation</Application>
  <PresentationFormat>On-screen Show (16:9)</PresentationFormat>
  <Paragraphs>552</Paragraphs>
  <Slides>19</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SimSun</vt:lpstr>
      <vt:lpstr>Wingdings</vt:lpstr>
      <vt:lpstr>Cambria</vt:lpstr>
      <vt:lpstr>Cambria</vt:lpstr>
      <vt:lpstr>Cambria</vt:lpstr>
      <vt:lpstr>Courier New</vt:lpstr>
      <vt:lpstr>Courier New</vt:lpstr>
      <vt:lpstr>Courier New</vt:lpstr>
      <vt:lpstr>Calibri</vt:lpstr>
      <vt:lpstr>Microsoft YaHei</vt:lpstr>
      <vt:lpstr>Arial Unicode MS</vt:lpstr>
      <vt:lpstr>Sabarin</vt:lpstr>
      <vt:lpstr>Sabarin</vt:lpstr>
      <vt:lpstr>Latar Belakang Masalah</vt:lpstr>
      <vt:lpstr>Kriteria Soal dan Solusi</vt:lpstr>
      <vt:lpstr>Struktur Folder Proyek</vt:lpstr>
      <vt:lpstr>Alur Kerja State Cubit</vt:lpstr>
      <vt:lpstr>Struktur Widget Tree</vt:lpstr>
      <vt:lpstr>Cubit untuk Tema</vt:lpstr>
      <vt:lpstr>Cubit untuk Antrian</vt:lpstr>
      <vt:lpstr>Mode Gelap dan Dynamic Theme</vt:lpstr>
      <vt:lpstr>Material App Drawer</vt:lpstr>
      <vt:lpstr>Halaman Beranda</vt:lpstr>
      <vt:lpstr>Halaman Hitung Antrian</vt:lpstr>
      <vt:lpstr>Empat Halaman Tambahan</vt:lpstr>
      <vt:lpstr>Data Riwayat dan Statistik</vt:lpstr>
      <vt:lpstr>Logo dan Desain Latar</vt:lpstr>
      <vt:lpstr>Desain Soft Neo-Brutalism</vt:lpstr>
      <vt:lpstr>Penanganan Error</vt:lpstr>
      <vt:lpstr>Cara Menjalankan</vt:lpstr>
      <vt:lpstr>Kesimpulan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Sabarin - Aplikasi Hitung Antrian Pembeli</dc:title>
  <dc:creator>Mahasiswa</dc:creator>
  <dc:subject>PptxGenJS Presentation</dc:subject>
  <cp:lastModifiedBy>Rusdiansyah</cp:lastModifiedBy>
  <cp:revision>2</cp:revision>
  <dcterms:created xsi:type="dcterms:W3CDTF">2026-10-26T10:14:00Z</dcterms:created>
  <dcterms:modified xsi:type="dcterms:W3CDTF">2026-10-28T00:25:57Z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8F42B484F3654107855F26E90EDF547C_12</vt:lpwstr>
  </property>
  <property fmtid="{D5CDD505-2E9C-101B-9397-08002B2CF9AE}" pid="3" name="KSOProductBuildVer">
    <vt:lpwstr>2057-12.2.0.23206</vt:lpwstr>
  </property>
</Properties>
</file>